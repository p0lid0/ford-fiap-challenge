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828800" y="-1828800"/>
            <a:ext cx="7315200" cy="7315200"/>
          </a:xfrm>
          <a:prstGeom prst="ellipse">
            <a:avLst/>
          </a:prstGeom>
          <a:solidFill>
            <a:srgbClr val="152844">
              <a:alpha val="70000"/>
            </a:srgbClr>
          </a:solidFill>
          <a:ln w="12700">
            <a:solidFill>
              <a:srgbClr val="152844"/>
            </a:solidFill>
            <a:prstDash val="solid"/>
          </a:ln>
        </p:spPr>
      </p:sp>
      <p:sp>
        <p:nvSpPr>
          <p:cNvPr id="3" name="Shape 1"/>
          <p:cNvSpPr/>
          <p:nvPr/>
        </p:nvSpPr>
        <p:spPr>
          <a:xfrm>
            <a:off x="8229600" y="2743200"/>
            <a:ext cx="5486400" cy="5486400"/>
          </a:xfrm>
          <a:prstGeom prst="ellipse">
            <a:avLst/>
          </a:prstGeom>
          <a:solidFill>
            <a:srgbClr val="1A3556">
              <a:alpha val="50000"/>
            </a:srgbClr>
          </a:solidFill>
          <a:ln w="12700">
            <a:solidFill>
              <a:srgbClr val="1A3556"/>
            </a:solidFill>
            <a:prstDash val="solid"/>
          </a:ln>
        </p:spPr>
      </p:sp>
      <p:sp>
        <p:nvSpPr>
          <p:cNvPr id="4" name="Shape 2"/>
          <p:cNvSpPr/>
          <p:nvPr/>
        </p:nvSpPr>
        <p:spPr>
          <a:xfrm>
            <a:off x="640080" y="640080"/>
            <a:ext cx="1097280" cy="1097280"/>
          </a:xfrm>
          <a:prstGeom prst="roundRect">
            <a:avLst>
              <a:gd name="adj" fmla="val 12500"/>
            </a:avLst>
          </a:prstGeom>
          <a:solidFill>
            <a:srgbClr val="E63946"/>
          </a:solidFill>
          <a:ln w="12700">
            <a:solidFill>
              <a:srgbClr val="E63946"/>
            </a:solidFill>
            <a:prstDash val="solid"/>
          </a:ln>
        </p:spPr>
      </p:sp>
      <p:sp>
        <p:nvSpPr>
          <p:cNvPr id="5" name="Text 3"/>
          <p:cNvSpPr/>
          <p:nvPr/>
        </p:nvSpPr>
        <p:spPr>
          <a:xfrm>
            <a:off x="640080" y="640080"/>
            <a:ext cx="1097280" cy="109728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FA</a:t>
            </a:r>
            <a:endParaRPr lang="en-US" sz="3800" dirty="0"/>
          </a:p>
        </p:txBody>
      </p:sp>
      <p:sp>
        <p:nvSpPr>
          <p:cNvPr id="6" name="Text 4"/>
          <p:cNvSpPr/>
          <p:nvPr/>
        </p:nvSpPr>
        <p:spPr>
          <a:xfrm>
            <a:off x="1920240" y="777240"/>
            <a:ext cx="5486400" cy="548640"/>
          </a:xfrm>
          <a:prstGeom prst="rect">
            <a:avLst/>
          </a:prstGeom>
          <a:noFill/>
          <a:ln/>
        </p:spPr>
        <p:txBody>
          <a:bodyPr wrap="square" rtlCol="0" anchor="ctr"/>
          <a:lstStyle/>
          <a:p>
            <a:pPr indent="0" marL="0">
              <a:buNone/>
            </a:pPr>
            <a:r>
              <a:rPr lang="en-US" sz="2800" b="1" spc="800" kern="0" dirty="0">
                <a:solidFill>
                  <a:srgbClr val="FFFFFF"/>
                </a:solidFill>
                <a:latin typeface="Calibri" pitchFamily="34" charset="0"/>
                <a:ea typeface="Calibri" pitchFamily="34" charset="-122"/>
                <a:cs typeface="Calibri" pitchFamily="34" charset="-120"/>
              </a:rPr>
              <a:t>FARO  AI</a:t>
            </a:r>
            <a:endParaRPr lang="en-US" sz="2800" dirty="0"/>
          </a:p>
        </p:txBody>
      </p:sp>
      <p:sp>
        <p:nvSpPr>
          <p:cNvPr id="7" name="Text 5"/>
          <p:cNvSpPr/>
          <p:nvPr/>
        </p:nvSpPr>
        <p:spPr>
          <a:xfrm>
            <a:off x="1920240" y="1280160"/>
            <a:ext cx="5486400" cy="365760"/>
          </a:xfrm>
          <a:prstGeom prst="rect">
            <a:avLst/>
          </a:prstGeom>
          <a:noFill/>
          <a:ln/>
        </p:spPr>
        <p:txBody>
          <a:bodyPr wrap="square"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Inteligência automotiva</a:t>
            </a:r>
            <a:endParaRPr lang="en-US" sz="1200" dirty="0"/>
          </a:p>
        </p:txBody>
      </p:sp>
      <p:sp>
        <p:nvSpPr>
          <p:cNvPr id="8" name="Text 6"/>
          <p:cNvSpPr/>
          <p:nvPr/>
        </p:nvSpPr>
        <p:spPr>
          <a:xfrm>
            <a:off x="640080" y="2468880"/>
            <a:ext cx="10972800" cy="82296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Inteligência preditiva para retenção VIN Share</a:t>
            </a:r>
            <a:endParaRPr lang="en-US" sz="3600" dirty="0"/>
          </a:p>
        </p:txBody>
      </p:sp>
      <p:sp>
        <p:nvSpPr>
          <p:cNvPr id="9" name="Text 7"/>
          <p:cNvSpPr/>
          <p:nvPr/>
        </p:nvSpPr>
        <p:spPr>
          <a:xfrm>
            <a:off x="640080" y="3337560"/>
            <a:ext cx="10972800" cy="36576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Ford × FIAP Challenge 2026 — Sprint Única</a:t>
            </a:r>
            <a:endParaRPr lang="en-US" sz="1600" dirty="0"/>
          </a:p>
        </p:txBody>
      </p:sp>
      <p:sp>
        <p:nvSpPr>
          <p:cNvPr id="10" name="Shape 8"/>
          <p:cNvSpPr/>
          <p:nvPr/>
        </p:nvSpPr>
        <p:spPr>
          <a:xfrm>
            <a:off x="640080" y="4297680"/>
            <a:ext cx="10972800" cy="1554480"/>
          </a:xfrm>
          <a:prstGeom prst="roundRect">
            <a:avLst>
              <a:gd name="adj" fmla="val 5882"/>
            </a:avLst>
          </a:prstGeom>
          <a:solidFill>
            <a:srgbClr val="152844"/>
          </a:solidFill>
          <a:ln w="6350">
            <a:solidFill>
              <a:srgbClr val="20354A"/>
            </a:solidFill>
            <a:prstDash val="solid"/>
          </a:ln>
        </p:spPr>
      </p:sp>
      <p:sp>
        <p:nvSpPr>
          <p:cNvPr id="11" name="Text 9"/>
          <p:cNvSpPr/>
          <p:nvPr/>
        </p:nvSpPr>
        <p:spPr>
          <a:xfrm>
            <a:off x="868680" y="4434840"/>
            <a:ext cx="10515600" cy="274320"/>
          </a:xfrm>
          <a:prstGeom prst="rect">
            <a:avLst/>
          </a:prstGeom>
          <a:noFill/>
          <a:ln/>
        </p:spPr>
        <p:txBody>
          <a:bodyPr wrap="square" rtlCol="0" anchor="ctr"/>
          <a:lstStyle/>
          <a:p>
            <a:pPr indent="0" marL="0">
              <a:buNone/>
            </a:pPr>
            <a:r>
              <a:rPr lang="en-US" sz="900" b="1" spc="600" kern="0" dirty="0">
                <a:solidFill>
                  <a:srgbClr val="CADCFC"/>
                </a:solidFill>
                <a:latin typeface="Calibri" pitchFamily="34" charset="0"/>
                <a:ea typeface="Calibri" pitchFamily="34" charset="-122"/>
                <a:cs typeface="Calibri" pitchFamily="34" charset="-120"/>
              </a:rPr>
              <a:t>EQUIPE — FIAP</a:t>
            </a:r>
            <a:endParaRPr lang="en-US" sz="900" dirty="0"/>
          </a:p>
        </p:txBody>
      </p:sp>
      <p:sp>
        <p:nvSpPr>
          <p:cNvPr id="12" name="Text 10"/>
          <p:cNvSpPr/>
          <p:nvPr/>
        </p:nvSpPr>
        <p:spPr>
          <a:xfrm>
            <a:off x="868680" y="4754880"/>
            <a:ext cx="192024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Guilherme</a:t>
            </a:r>
            <a:endParaRPr lang="en-US" sz="1800" dirty="0"/>
          </a:p>
        </p:txBody>
      </p:sp>
      <p:sp>
        <p:nvSpPr>
          <p:cNvPr id="13" name="Text 11"/>
          <p:cNvSpPr/>
          <p:nvPr/>
        </p:nvSpPr>
        <p:spPr>
          <a:xfrm>
            <a:off x="868680" y="5257800"/>
            <a:ext cx="1920240" cy="36576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RM 554962</a:t>
            </a:r>
            <a:endParaRPr lang="en-US" sz="1100" dirty="0"/>
          </a:p>
        </p:txBody>
      </p:sp>
      <p:sp>
        <p:nvSpPr>
          <p:cNvPr id="14" name="Text 12"/>
          <p:cNvSpPr/>
          <p:nvPr/>
        </p:nvSpPr>
        <p:spPr>
          <a:xfrm>
            <a:off x="2971800" y="4754880"/>
            <a:ext cx="192024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Pedro</a:t>
            </a:r>
            <a:endParaRPr lang="en-US" sz="1800" dirty="0"/>
          </a:p>
        </p:txBody>
      </p:sp>
      <p:sp>
        <p:nvSpPr>
          <p:cNvPr id="15" name="Text 13"/>
          <p:cNvSpPr/>
          <p:nvPr/>
        </p:nvSpPr>
        <p:spPr>
          <a:xfrm>
            <a:off x="2971800" y="5257800"/>
            <a:ext cx="1920240" cy="36576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RM 555556</a:t>
            </a:r>
            <a:endParaRPr lang="en-US" sz="1100" dirty="0"/>
          </a:p>
        </p:txBody>
      </p:sp>
      <p:sp>
        <p:nvSpPr>
          <p:cNvPr id="16" name="Text 14"/>
          <p:cNvSpPr/>
          <p:nvPr/>
        </p:nvSpPr>
        <p:spPr>
          <a:xfrm>
            <a:off x="5074920" y="4754880"/>
            <a:ext cx="192024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Fabrício</a:t>
            </a:r>
            <a:endParaRPr lang="en-US" sz="1800" dirty="0"/>
          </a:p>
        </p:txBody>
      </p:sp>
      <p:sp>
        <p:nvSpPr>
          <p:cNvPr id="17" name="Text 15"/>
          <p:cNvSpPr/>
          <p:nvPr/>
        </p:nvSpPr>
        <p:spPr>
          <a:xfrm>
            <a:off x="5074920" y="5257800"/>
            <a:ext cx="1920240" cy="36576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RM 558216</a:t>
            </a:r>
            <a:endParaRPr lang="en-US" sz="1100" dirty="0"/>
          </a:p>
        </p:txBody>
      </p:sp>
      <p:sp>
        <p:nvSpPr>
          <p:cNvPr id="18" name="Text 16"/>
          <p:cNvSpPr/>
          <p:nvPr/>
        </p:nvSpPr>
        <p:spPr>
          <a:xfrm>
            <a:off x="7178040" y="4754880"/>
            <a:ext cx="192024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Vitor</a:t>
            </a:r>
            <a:endParaRPr lang="en-US" sz="1800" dirty="0"/>
          </a:p>
        </p:txBody>
      </p:sp>
      <p:sp>
        <p:nvSpPr>
          <p:cNvPr id="19" name="Text 17"/>
          <p:cNvSpPr/>
          <p:nvPr/>
        </p:nvSpPr>
        <p:spPr>
          <a:xfrm>
            <a:off x="7178040" y="5257800"/>
            <a:ext cx="1920240" cy="36576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RM 554893</a:t>
            </a:r>
            <a:endParaRPr lang="en-US" sz="1100" dirty="0"/>
          </a:p>
        </p:txBody>
      </p:sp>
      <p:sp>
        <p:nvSpPr>
          <p:cNvPr id="20" name="Text 18"/>
          <p:cNvSpPr/>
          <p:nvPr/>
        </p:nvSpPr>
        <p:spPr>
          <a:xfrm>
            <a:off x="9281160" y="4754880"/>
            <a:ext cx="192024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Matheus</a:t>
            </a:r>
            <a:endParaRPr lang="en-US" sz="1800" dirty="0"/>
          </a:p>
        </p:txBody>
      </p:sp>
      <p:sp>
        <p:nvSpPr>
          <p:cNvPr id="21" name="Text 19"/>
          <p:cNvSpPr/>
          <p:nvPr/>
        </p:nvSpPr>
        <p:spPr>
          <a:xfrm>
            <a:off x="9281160" y="5257800"/>
            <a:ext cx="1920240" cy="36576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RM 555447</a:t>
            </a:r>
            <a:endParaRPr lang="en-US" sz="1100" dirty="0"/>
          </a:p>
        </p:txBody>
      </p:sp>
      <p:sp>
        <p:nvSpPr>
          <p:cNvPr id="22" name="Text 20"/>
          <p:cNvSpPr/>
          <p:nvPr/>
        </p:nvSpPr>
        <p:spPr>
          <a:xfrm>
            <a:off x="640080" y="6126480"/>
            <a:ext cx="10972800" cy="274320"/>
          </a:xfrm>
          <a:prstGeom prst="rect">
            <a:avLst/>
          </a:prstGeom>
          <a:noFill/>
          <a:ln/>
        </p:spPr>
        <p:txBody>
          <a:bodyPr wrap="square" rtlCol="0" anchor="ctr"/>
          <a:lstStyle/>
          <a:p>
            <a:pPr indent="0" marL="0">
              <a:buNone/>
            </a:pPr>
            <a:r>
              <a:rPr lang="en-US" sz="1000" i="1" dirty="0">
                <a:solidFill>
                  <a:srgbClr val="8A9BAB"/>
                </a:solidFill>
                <a:latin typeface="Calibri" pitchFamily="34" charset="0"/>
                <a:ea typeface="Calibri" pitchFamily="34" charset="-122"/>
                <a:cs typeface="Calibri" pitchFamily="34" charset="-120"/>
              </a:rPr>
              <a:t>Scrum Master: Prof. Yan Coelho · Entrega: 24/05/2026</a:t>
            </a:r>
            <a:endParaRPr lang="en-US" sz="1000" dirty="0"/>
          </a:p>
        </p:txBody>
      </p:sp>
      <p:sp>
        <p:nvSpPr>
          <p:cNvPr id="23" name="Text 21"/>
          <p:cNvSpPr/>
          <p:nvPr/>
        </p:nvSpPr>
        <p:spPr>
          <a:xfrm>
            <a:off x="640080" y="6400800"/>
            <a:ext cx="10972800" cy="274320"/>
          </a:xfrm>
          <a:prstGeom prst="rect">
            <a:avLst/>
          </a:prstGeom>
          <a:noFill/>
          <a:ln/>
        </p:spPr>
        <p:txBody>
          <a:bodyPr wrap="square" rtlCol="0" anchor="ctr"/>
          <a:lstStyle/>
          <a:p>
            <a:pPr indent="0" marL="0">
              <a:buNone/>
            </a:pPr>
            <a:r>
              <a:rPr lang="en-US" sz="900" b="1" dirty="0">
                <a:solidFill>
                  <a:srgbClr val="E63946"/>
                </a:solidFill>
                <a:latin typeface="Calibri" pitchFamily="34" charset="0"/>
                <a:ea typeface="Calibri" pitchFamily="34" charset="-122"/>
                <a:cs typeface="Calibri" pitchFamily="34" charset="-120"/>
              </a:rPr>
              <a:t>Link do vídeo de pitch: [inserir link do Teams]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rtlCol="0" anchor="ctr"/>
          <a:lstStyle/>
          <a:p>
            <a:pPr indent="0" marL="0">
              <a:buNone/>
            </a:pPr>
            <a:r>
              <a:rPr lang="en-US" sz="1000" b="1" spc="600" kern="0" dirty="0">
                <a:solidFill>
                  <a:srgbClr val="003478"/>
                </a:solidFill>
                <a:latin typeface="Calibri" pitchFamily="34" charset="0"/>
                <a:ea typeface="Calibri" pitchFamily="34" charset="-122"/>
                <a:cs typeface="Calibri" pitchFamily="34" charset="-120"/>
              </a:rPr>
              <a:t>CONTEXTO · DESAFIOS FORD</a:t>
            </a:r>
            <a:endParaRPr lang="en-US" sz="1000" dirty="0"/>
          </a:p>
        </p:txBody>
      </p:sp>
      <p:sp>
        <p:nvSpPr>
          <p:cNvPr id="3" name="Text 1"/>
          <p:cNvSpPr/>
          <p:nvPr/>
        </p:nvSpPr>
        <p:spPr>
          <a:xfrm>
            <a:off x="457200" y="685800"/>
            <a:ext cx="10972800" cy="914400"/>
          </a:xfrm>
          <a:prstGeom prst="rect">
            <a:avLst/>
          </a:prstGeom>
          <a:noFill/>
          <a:ln/>
        </p:spPr>
        <p:txBody>
          <a:bodyPr wrap="square" rtlCol="0" anchor="t"/>
          <a:lstStyle/>
          <a:p>
            <a:pPr indent="0" marL="0">
              <a:buNone/>
            </a:pPr>
            <a:r>
              <a:rPr lang="en-US" sz="3200" b="1" dirty="0">
                <a:solidFill>
                  <a:srgbClr val="0A1628"/>
                </a:solidFill>
                <a:latin typeface="Calibri" pitchFamily="34" charset="0"/>
                <a:ea typeface="Calibri" pitchFamily="34" charset="-122"/>
                <a:cs typeface="Calibri" pitchFamily="34" charset="-120"/>
              </a:rPr>
              <a:t>O problema que a Ford trouxe</a:t>
            </a:r>
            <a:endParaRPr lang="en-US" sz="3200" dirty="0"/>
          </a:p>
        </p:txBody>
      </p:sp>
      <p:sp>
        <p:nvSpPr>
          <p:cNvPr id="4" name="Shape 2"/>
          <p:cNvSpPr/>
          <p:nvPr/>
        </p:nvSpPr>
        <p:spPr>
          <a:xfrm>
            <a:off x="11155680" y="320040"/>
            <a:ext cx="594360" cy="411480"/>
          </a:xfrm>
          <a:prstGeom prst="roundRect">
            <a:avLst>
              <a:gd name="adj" fmla="val 17778"/>
            </a:avLst>
          </a:prstGeom>
          <a:solidFill>
            <a:srgbClr val="003478"/>
          </a:solidFill>
          <a:ln w="12700">
            <a:solidFill>
              <a:srgbClr val="003478"/>
            </a:solidFill>
            <a:prstDash val="solid"/>
          </a:ln>
        </p:spPr>
      </p:sp>
      <p:sp>
        <p:nvSpPr>
          <p:cNvPr id="5" name="Text 3"/>
          <p:cNvSpPr/>
          <p:nvPr/>
        </p:nvSpPr>
        <p:spPr>
          <a:xfrm>
            <a:off x="11155680" y="320040"/>
            <a:ext cx="59436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a:t>
            </a:r>
            <a:endParaRPr lang="en-US" sz="1400" dirty="0"/>
          </a:p>
        </p:txBody>
      </p:sp>
      <p:sp>
        <p:nvSpPr>
          <p:cNvPr id="6" name="Text 4"/>
          <p:cNvSpPr/>
          <p:nvPr/>
        </p:nvSpPr>
        <p:spPr>
          <a:xfrm>
            <a:off x="457200" y="6446520"/>
            <a:ext cx="11247120" cy="27432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Faro AI · 2 / 14</a:t>
            </a:r>
            <a:endParaRPr lang="en-US" sz="900" dirty="0"/>
          </a:p>
        </p:txBody>
      </p:sp>
      <p:sp>
        <p:nvSpPr>
          <p:cNvPr id="7" name="Text 5"/>
          <p:cNvSpPr/>
          <p:nvPr/>
        </p:nvSpPr>
        <p:spPr>
          <a:xfrm>
            <a:off x="457200" y="1691640"/>
            <a:ext cx="11247120" cy="914400"/>
          </a:xfrm>
          <a:prstGeom prst="rect">
            <a:avLst/>
          </a:prstGeom>
          <a:noFill/>
          <a:ln/>
        </p:spPr>
        <p:txBody>
          <a:bodyPr wrap="square" rtlCol="0" anchor="t"/>
          <a:lstStyle/>
          <a:p>
            <a:pPr indent="0" marL="0">
              <a:buNone/>
            </a:pPr>
            <a:r>
              <a:rPr lang="en-US" sz="1400" dirty="0">
                <a:solidFill>
                  <a:srgbClr val="2A3A4A"/>
                </a:solidFill>
                <a:latin typeface="Calibri" pitchFamily="34" charset="0"/>
                <a:ea typeface="Calibri" pitchFamily="34" charset="-122"/>
                <a:cs typeface="Calibri" pitchFamily="34" charset="-120"/>
              </a:rPr>
              <a:t>A Ford BR vende centenas de milhares de carros por ano — mas apenas uma fração volta à rede oficial pra manutenção. Quanto mais oficinas independentes captam esses clientes, menor o VIN Share da Ford.</a:t>
            </a:r>
            <a:endParaRPr lang="en-US" sz="1400" dirty="0"/>
          </a:p>
        </p:txBody>
      </p:sp>
      <p:sp>
        <p:nvSpPr>
          <p:cNvPr id="8" name="Shape 6"/>
          <p:cNvSpPr/>
          <p:nvPr/>
        </p:nvSpPr>
        <p:spPr>
          <a:xfrm>
            <a:off x="457200" y="2743200"/>
            <a:ext cx="5486400" cy="3108960"/>
          </a:xfrm>
          <a:prstGeom prst="roundRect">
            <a:avLst>
              <a:gd name="adj" fmla="val 2941"/>
            </a:avLst>
          </a:prstGeom>
          <a:solidFill>
            <a:srgbClr val="F4F7FB"/>
          </a:solidFill>
          <a:ln w="6350">
            <a:solidFill>
              <a:srgbClr val="E2E8F0"/>
            </a:solidFill>
            <a:prstDash val="solid"/>
          </a:ln>
        </p:spPr>
      </p:sp>
      <p:sp>
        <p:nvSpPr>
          <p:cNvPr id="9" name="Shape 7"/>
          <p:cNvSpPr/>
          <p:nvPr/>
        </p:nvSpPr>
        <p:spPr>
          <a:xfrm>
            <a:off x="457200" y="2743200"/>
            <a:ext cx="109728" cy="3108960"/>
          </a:xfrm>
          <a:prstGeom prst="rect">
            <a:avLst/>
          </a:prstGeom>
          <a:solidFill>
            <a:srgbClr val="E63946"/>
          </a:solidFill>
          <a:ln w="12700">
            <a:solidFill>
              <a:srgbClr val="E63946"/>
            </a:solidFill>
            <a:prstDash val="solid"/>
          </a:ln>
        </p:spPr>
      </p:sp>
      <p:sp>
        <p:nvSpPr>
          <p:cNvPr id="10" name="Text 8"/>
          <p:cNvSpPr/>
          <p:nvPr/>
        </p:nvSpPr>
        <p:spPr>
          <a:xfrm>
            <a:off x="685800" y="2880360"/>
            <a:ext cx="5166360" cy="274320"/>
          </a:xfrm>
          <a:prstGeom prst="rect">
            <a:avLst/>
          </a:prstGeom>
          <a:noFill/>
          <a:ln/>
        </p:spPr>
        <p:txBody>
          <a:bodyPr wrap="square" rtlCol="0" anchor="ctr"/>
          <a:lstStyle/>
          <a:p>
            <a:pPr indent="0" marL="0">
              <a:buNone/>
            </a:pPr>
            <a:r>
              <a:rPr lang="en-US" sz="900" b="1" spc="400" kern="0" dirty="0">
                <a:solidFill>
                  <a:srgbClr val="4A5A6B"/>
                </a:solidFill>
                <a:latin typeface="Calibri" pitchFamily="34" charset="0"/>
                <a:ea typeface="Calibri" pitchFamily="34" charset="-122"/>
                <a:cs typeface="Calibri" pitchFamily="34" charset="-120"/>
              </a:rPr>
              <a:t>DESAFIO 1</a:t>
            </a:r>
            <a:endParaRPr lang="en-US" sz="900" dirty="0"/>
          </a:p>
        </p:txBody>
      </p:sp>
      <p:sp>
        <p:nvSpPr>
          <p:cNvPr id="11" name="Text 9"/>
          <p:cNvSpPr/>
          <p:nvPr/>
        </p:nvSpPr>
        <p:spPr>
          <a:xfrm>
            <a:off x="685800" y="3154680"/>
            <a:ext cx="5166360" cy="2468880"/>
          </a:xfrm>
          <a:prstGeom prst="rect">
            <a:avLst/>
          </a:prstGeom>
          <a:noFill/>
          <a:ln/>
        </p:spPr>
        <p:txBody>
          <a:bodyPr wrap="square" rtlCol="0" anchor="t"/>
          <a:lstStyle/>
          <a:p>
            <a:pPr indent="0" marL="0">
              <a:buNone/>
            </a:pPr>
            <a:r>
              <a:rPr lang="en-US" sz="1100" dirty="0">
                <a:solidFill>
                  <a:srgbClr val="0A1628"/>
                </a:solidFill>
                <a:latin typeface="Calibri" pitchFamily="34" charset="0"/>
                <a:ea typeface="Calibri" pitchFamily="34" charset="-122"/>
                <a:cs typeface="Calibri" pitchFamily="34" charset="-120"/>
              </a:rPr>
              <a:t>Inteligência Competitiva</a:t>
            </a:r>
            <a:endParaRPr lang="en-US" sz="1100" dirty="0"/>
          </a:p>
        </p:txBody>
      </p:sp>
      <p:sp>
        <p:nvSpPr>
          <p:cNvPr id="12" name="Text 10"/>
          <p:cNvSpPr/>
          <p:nvPr/>
        </p:nvSpPr>
        <p:spPr>
          <a:xfrm>
            <a:off x="685800" y="5486400"/>
            <a:ext cx="5166360" cy="228600"/>
          </a:xfrm>
          <a:prstGeom prst="rect">
            <a:avLst/>
          </a:prstGeom>
          <a:noFill/>
          <a:ln/>
        </p:spPr>
        <p:txBody>
          <a:bodyPr wrap="square" rtlCol="0" anchor="ctr"/>
          <a:lstStyle/>
          <a:p>
            <a:pPr indent="0" marL="0">
              <a:buNone/>
            </a:pPr>
            <a:r>
              <a:rPr lang="en-US" sz="900" i="1" dirty="0">
                <a:solidFill>
                  <a:srgbClr val="4A5A6B"/>
                </a:solidFill>
                <a:latin typeface="Calibri" pitchFamily="34" charset="0"/>
                <a:ea typeface="Calibri" pitchFamily="34" charset="-122"/>
                <a:cs typeface="Calibri" pitchFamily="34" charset="-120"/>
              </a:rPr>
              <a:t>Permitir comparação técnica padronizada entre veículos próprios e concorrentes.</a:t>
            </a:r>
            <a:endParaRPr lang="en-US" sz="900" dirty="0"/>
          </a:p>
        </p:txBody>
      </p:sp>
      <p:sp>
        <p:nvSpPr>
          <p:cNvPr id="13" name="Text 11"/>
          <p:cNvSpPr/>
          <p:nvPr/>
        </p:nvSpPr>
        <p:spPr>
          <a:xfrm>
            <a:off x="685800" y="3749040"/>
            <a:ext cx="5029200" cy="2011680"/>
          </a:xfrm>
          <a:prstGeom prst="rect">
            <a:avLst/>
          </a:prstGeom>
          <a:noFill/>
          <a:ln/>
        </p:spPr>
        <p:txBody>
          <a:bodyPr wrap="square" rtlCol="0" anchor="t"/>
          <a:lstStyle/>
          <a:p>
            <a:pPr indent="0" marL="0">
              <a:buNone/>
            </a:pPr>
            <a:r>
              <a:rPr lang="en-US" b="1" dirty="0">
                <a:solidFill>
                  <a:srgbClr val="E63946"/>
                </a:solidFill>
              </a:rPr>
              <a:t>• </a:t>
            </a:r>
            <a:pPr indent="0" marL="0">
              <a:buNone/>
            </a:pPr>
            <a:r>
              <a:rPr lang="en-US" sz="1200" dirty="0">
                <a:solidFill>
                  <a:srgbClr val="2A3A4A"/>
                </a:solidFill>
              </a:rPr>
              <a:t>Catálogo de fichas técnicas com schema fixo
</a:t>
            </a:r>
            <a:pPr indent="0" marL="0">
              <a:buNone/>
            </a:pPr>
            <a:r>
              <a:rPr lang="en-US" sz="1200" b="1" dirty="0">
                <a:solidFill>
                  <a:srgbClr val="E63946"/>
                </a:solidFill>
              </a:rPr>
              <a:t>• </a:t>
            </a:r>
            <a:pPr indent="0" marL="0">
              <a:buNone/>
            </a:pPr>
            <a:r>
              <a:rPr lang="en-US" sz="1200" dirty="0">
                <a:solidFill>
                  <a:srgbClr val="2A3A4A"/>
                </a:solidFill>
              </a:rPr>
              <a:t>Comparação 2-5 veículos lado a lado
</a:t>
            </a:r>
            <a:pPr indent="0" marL="0">
              <a:buNone/>
            </a:pPr>
            <a:r>
              <a:rPr lang="en-US" sz="1200" b="1" dirty="0">
                <a:solidFill>
                  <a:srgbClr val="E63946"/>
                </a:solidFill>
              </a:rPr>
              <a:t>• </a:t>
            </a:r>
            <a:pPr indent="0" marL="0">
              <a:buNone/>
            </a:pPr>
            <a:r>
              <a:rPr lang="en-US" sz="1200" dirty="0">
                <a:solidFill>
                  <a:srgbClr val="2A3A4A"/>
                </a:solidFill>
              </a:rPr>
              <a:t>Validação: Ford Ranger Raptor (slide oficial)
</a:t>
            </a:r>
            <a:pPr indent="0" marL="0">
              <a:buNone/>
            </a:pPr>
            <a:r>
              <a:rPr lang="en-US" sz="1200" b="1" dirty="0">
                <a:solidFill>
                  <a:srgbClr val="E63946"/>
                </a:solidFill>
              </a:rPr>
              <a:t>• </a:t>
            </a:r>
            <a:pPr indent="0" marL="0">
              <a:buNone/>
            </a:pPr>
            <a:r>
              <a:rPr lang="en-US" sz="1200" dirty="0">
                <a:solidFill>
                  <a:srgbClr val="2A3A4A"/>
                </a:solidFill>
              </a:rPr>
              <a:t>Análise IA com dados de mercado</a:t>
            </a:r>
            <a:endParaRPr lang="en-US" sz="1200" dirty="0"/>
          </a:p>
        </p:txBody>
      </p:sp>
      <p:sp>
        <p:nvSpPr>
          <p:cNvPr id="14" name="Shape 12"/>
          <p:cNvSpPr/>
          <p:nvPr/>
        </p:nvSpPr>
        <p:spPr>
          <a:xfrm>
            <a:off x="6217920" y="2743200"/>
            <a:ext cx="5486400" cy="3108960"/>
          </a:xfrm>
          <a:prstGeom prst="roundRect">
            <a:avLst>
              <a:gd name="adj" fmla="val 2941"/>
            </a:avLst>
          </a:prstGeom>
          <a:solidFill>
            <a:srgbClr val="F4F7FB"/>
          </a:solidFill>
          <a:ln w="6350">
            <a:solidFill>
              <a:srgbClr val="E2E8F0"/>
            </a:solidFill>
            <a:prstDash val="solid"/>
          </a:ln>
        </p:spPr>
      </p:sp>
      <p:sp>
        <p:nvSpPr>
          <p:cNvPr id="15" name="Shape 13"/>
          <p:cNvSpPr/>
          <p:nvPr/>
        </p:nvSpPr>
        <p:spPr>
          <a:xfrm>
            <a:off x="6217920" y="2743200"/>
            <a:ext cx="109728" cy="3108960"/>
          </a:xfrm>
          <a:prstGeom prst="rect">
            <a:avLst/>
          </a:prstGeom>
          <a:solidFill>
            <a:srgbClr val="003478"/>
          </a:solidFill>
          <a:ln w="12700">
            <a:solidFill>
              <a:srgbClr val="003478"/>
            </a:solidFill>
            <a:prstDash val="solid"/>
          </a:ln>
        </p:spPr>
      </p:sp>
      <p:sp>
        <p:nvSpPr>
          <p:cNvPr id="16" name="Text 14"/>
          <p:cNvSpPr/>
          <p:nvPr/>
        </p:nvSpPr>
        <p:spPr>
          <a:xfrm>
            <a:off x="6446520" y="2880360"/>
            <a:ext cx="5166360" cy="274320"/>
          </a:xfrm>
          <a:prstGeom prst="rect">
            <a:avLst/>
          </a:prstGeom>
          <a:noFill/>
          <a:ln/>
        </p:spPr>
        <p:txBody>
          <a:bodyPr wrap="square" rtlCol="0" anchor="ctr"/>
          <a:lstStyle/>
          <a:p>
            <a:pPr indent="0" marL="0">
              <a:buNone/>
            </a:pPr>
            <a:r>
              <a:rPr lang="en-US" sz="900" b="1" spc="400" kern="0" dirty="0">
                <a:solidFill>
                  <a:srgbClr val="4A5A6B"/>
                </a:solidFill>
                <a:latin typeface="Calibri" pitchFamily="34" charset="0"/>
                <a:ea typeface="Calibri" pitchFamily="34" charset="-122"/>
                <a:cs typeface="Calibri" pitchFamily="34" charset="-120"/>
              </a:rPr>
              <a:t>DESAFIO 2</a:t>
            </a:r>
            <a:endParaRPr lang="en-US" sz="900" dirty="0"/>
          </a:p>
        </p:txBody>
      </p:sp>
      <p:sp>
        <p:nvSpPr>
          <p:cNvPr id="17" name="Text 15"/>
          <p:cNvSpPr/>
          <p:nvPr/>
        </p:nvSpPr>
        <p:spPr>
          <a:xfrm>
            <a:off x="6446520" y="3154680"/>
            <a:ext cx="5166360" cy="2468880"/>
          </a:xfrm>
          <a:prstGeom prst="rect">
            <a:avLst/>
          </a:prstGeom>
          <a:noFill/>
          <a:ln/>
        </p:spPr>
        <p:txBody>
          <a:bodyPr wrap="square" rtlCol="0" anchor="t"/>
          <a:lstStyle/>
          <a:p>
            <a:pPr indent="0" marL="0">
              <a:buNone/>
            </a:pPr>
            <a:r>
              <a:rPr lang="en-US" sz="1100" dirty="0">
                <a:solidFill>
                  <a:srgbClr val="0A1628"/>
                </a:solidFill>
                <a:latin typeface="Calibri" pitchFamily="34" charset="0"/>
                <a:ea typeface="Calibri" pitchFamily="34" charset="-122"/>
                <a:cs typeface="Calibri" pitchFamily="34" charset="-120"/>
              </a:rPr>
              <a:t>Retenção VIN Share</a:t>
            </a:r>
            <a:endParaRPr lang="en-US" sz="1100" dirty="0"/>
          </a:p>
        </p:txBody>
      </p:sp>
      <p:sp>
        <p:nvSpPr>
          <p:cNvPr id="18" name="Text 16"/>
          <p:cNvSpPr/>
          <p:nvPr/>
        </p:nvSpPr>
        <p:spPr>
          <a:xfrm>
            <a:off x="6446520" y="5486400"/>
            <a:ext cx="5166360" cy="228600"/>
          </a:xfrm>
          <a:prstGeom prst="rect">
            <a:avLst/>
          </a:prstGeom>
          <a:noFill/>
          <a:ln/>
        </p:spPr>
        <p:txBody>
          <a:bodyPr wrap="square" rtlCol="0" anchor="ctr"/>
          <a:lstStyle/>
          <a:p>
            <a:pPr indent="0" marL="0">
              <a:buNone/>
            </a:pPr>
            <a:r>
              <a:rPr lang="en-US" sz="900" i="1" dirty="0">
                <a:solidFill>
                  <a:srgbClr val="4A5A6B"/>
                </a:solidFill>
                <a:latin typeface="Calibri" pitchFamily="34" charset="0"/>
                <a:ea typeface="Calibri" pitchFamily="34" charset="-122"/>
                <a:cs typeface="Calibri" pitchFamily="34" charset="-120"/>
              </a:rPr>
              <a:t>Prever, no ato da compra, quem vai abandonar a rede — e agir antes.</a:t>
            </a:r>
            <a:endParaRPr lang="en-US" sz="900" dirty="0"/>
          </a:p>
        </p:txBody>
      </p:sp>
      <p:sp>
        <p:nvSpPr>
          <p:cNvPr id="19" name="Text 17"/>
          <p:cNvSpPr/>
          <p:nvPr/>
        </p:nvSpPr>
        <p:spPr>
          <a:xfrm>
            <a:off x="6446520" y="3749040"/>
            <a:ext cx="5029200" cy="2011680"/>
          </a:xfrm>
          <a:prstGeom prst="rect">
            <a:avLst/>
          </a:prstGeom>
          <a:noFill/>
          <a:ln/>
        </p:spPr>
        <p:txBody>
          <a:bodyPr wrap="square" rtlCol="0" anchor="t"/>
          <a:lstStyle/>
          <a:p>
            <a:pPr indent="0" marL="0">
              <a:buNone/>
            </a:pPr>
            <a:r>
              <a:rPr lang="en-US" b="1" dirty="0">
                <a:solidFill>
                  <a:srgbClr val="003478"/>
                </a:solidFill>
              </a:rPr>
              <a:t>• </a:t>
            </a:r>
            <a:pPr indent="0" marL="0">
              <a:buNone/>
            </a:pPr>
            <a:r>
              <a:rPr lang="en-US" sz="1200" dirty="0">
                <a:solidFill>
                  <a:srgbClr val="2A3A4A"/>
                </a:solidFill>
              </a:rPr>
              <a:t>Segmentação comportamental (não-supervisionada)
</a:t>
            </a:r>
            <a:pPr indent="0" marL="0">
              <a:buNone/>
            </a:pPr>
            <a:r>
              <a:rPr lang="en-US" sz="1200" b="1" dirty="0">
                <a:solidFill>
                  <a:srgbClr val="003478"/>
                </a:solidFill>
              </a:rPr>
              <a:t>• </a:t>
            </a:r>
            <a:pPr indent="0" marL="0">
              <a:buNone/>
            </a:pPr>
            <a:r>
              <a:rPr lang="en-US" sz="1200" dirty="0">
                <a:solidFill>
                  <a:srgbClr val="2A3A4A"/>
                </a:solidFill>
              </a:rPr>
              <a:t>Classificação preditiva sem data leakage
</a:t>
            </a:r>
            <a:pPr indent="0" marL="0">
              <a:buNone/>
            </a:pPr>
            <a:r>
              <a:rPr lang="en-US" sz="1200" b="1" dirty="0">
                <a:solidFill>
                  <a:srgbClr val="003478"/>
                </a:solidFill>
              </a:rPr>
              <a:t>• </a:t>
            </a:r>
            <a:pPr indent="0" marL="0">
              <a:buNone/>
            </a:pPr>
            <a:r>
              <a:rPr lang="en-US" sz="1200" dirty="0">
                <a:solidFill>
                  <a:srgbClr val="2A3A4A"/>
                </a:solidFill>
              </a:rPr>
              <a:t>Leads priorizados + estratégia por perfil
</a:t>
            </a:r>
            <a:pPr indent="0" marL="0">
              <a:buNone/>
            </a:pPr>
            <a:r>
              <a:rPr lang="en-US" sz="1200" b="1" dirty="0">
                <a:solidFill>
                  <a:srgbClr val="003478"/>
                </a:solidFill>
              </a:rPr>
              <a:t>• </a:t>
            </a:r>
            <a:pPr indent="0" marL="0">
              <a:buNone/>
            </a:pPr>
            <a:r>
              <a:rPr lang="en-US" sz="1200" dirty="0">
                <a:solidFill>
                  <a:srgbClr val="2A3A4A"/>
                </a:solidFill>
              </a:rPr>
              <a:t>Visão 360 + ação operacional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rtlCol="0" anchor="ctr"/>
          <a:lstStyle/>
          <a:p>
            <a:pPr indent="0" marL="0">
              <a:buNone/>
            </a:pPr>
            <a:r>
              <a:rPr lang="en-US" sz="1000" b="1" spc="600" kern="0" dirty="0">
                <a:solidFill>
                  <a:srgbClr val="CADCFC"/>
                </a:solidFill>
                <a:latin typeface="Calibri" pitchFamily="34" charset="0"/>
                <a:ea typeface="Calibri" pitchFamily="34" charset="-122"/>
                <a:cs typeface="Calibri" pitchFamily="34" charset="-120"/>
              </a:rPr>
              <a:t>MERCADO · NÚMEROS</a:t>
            </a:r>
            <a:endParaRPr lang="en-US" sz="1000" dirty="0"/>
          </a:p>
        </p:txBody>
      </p:sp>
      <p:sp>
        <p:nvSpPr>
          <p:cNvPr id="3" name="Text 1"/>
          <p:cNvSpPr/>
          <p:nvPr/>
        </p:nvSpPr>
        <p:spPr>
          <a:xfrm>
            <a:off x="457200" y="685800"/>
            <a:ext cx="10972800" cy="91440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O problema não é só da Ford — é da indústria toda</a:t>
            </a:r>
            <a:endParaRPr lang="en-US" sz="3200" dirty="0"/>
          </a:p>
        </p:txBody>
      </p:sp>
      <p:sp>
        <p:nvSpPr>
          <p:cNvPr id="4" name="Shape 2"/>
          <p:cNvSpPr/>
          <p:nvPr/>
        </p:nvSpPr>
        <p:spPr>
          <a:xfrm>
            <a:off x="11155680" y="320040"/>
            <a:ext cx="594360" cy="411480"/>
          </a:xfrm>
          <a:prstGeom prst="roundRect">
            <a:avLst>
              <a:gd name="adj" fmla="val 17778"/>
            </a:avLst>
          </a:prstGeom>
          <a:solidFill>
            <a:srgbClr val="E63946"/>
          </a:solidFill>
          <a:ln w="12700">
            <a:solidFill>
              <a:srgbClr val="E63946"/>
            </a:solidFill>
            <a:prstDash val="solid"/>
          </a:ln>
        </p:spPr>
      </p:sp>
      <p:sp>
        <p:nvSpPr>
          <p:cNvPr id="5" name="Text 3"/>
          <p:cNvSpPr/>
          <p:nvPr/>
        </p:nvSpPr>
        <p:spPr>
          <a:xfrm>
            <a:off x="11155680" y="320040"/>
            <a:ext cx="59436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a:t>
            </a:r>
            <a:endParaRPr lang="en-US" sz="1400" dirty="0"/>
          </a:p>
        </p:txBody>
      </p:sp>
      <p:sp>
        <p:nvSpPr>
          <p:cNvPr id="6" name="Text 4"/>
          <p:cNvSpPr/>
          <p:nvPr/>
        </p:nvSpPr>
        <p:spPr>
          <a:xfrm>
            <a:off x="457200" y="6446520"/>
            <a:ext cx="11247120" cy="274320"/>
          </a:xfrm>
          <a:prstGeom prst="rect">
            <a:avLst/>
          </a:prstGeom>
          <a:noFill/>
          <a:ln/>
        </p:spPr>
        <p:txBody>
          <a:bodyPr wrap="square" rtlCol="0" anchor="ctr"/>
          <a:lstStyle/>
          <a:p>
            <a:pPr indent="0" marL="0">
              <a:buNone/>
            </a:pPr>
            <a:r>
              <a:rPr lang="en-US" sz="900" dirty="0">
                <a:solidFill>
                  <a:srgbClr val="8A9BAB"/>
                </a:solidFill>
                <a:latin typeface="Calibri" pitchFamily="34" charset="0"/>
                <a:ea typeface="Calibri" pitchFamily="34" charset="-122"/>
                <a:cs typeface="Calibri" pitchFamily="34" charset="-120"/>
              </a:rPr>
              <a:t>Faro AI · 3 / 14</a:t>
            </a:r>
            <a:endParaRPr lang="en-US" sz="900" dirty="0"/>
          </a:p>
        </p:txBody>
      </p:sp>
      <p:sp>
        <p:nvSpPr>
          <p:cNvPr id="7" name="Text 5"/>
          <p:cNvSpPr/>
          <p:nvPr/>
        </p:nvSpPr>
        <p:spPr>
          <a:xfrm>
            <a:off x="457200" y="1828800"/>
            <a:ext cx="5486400" cy="914400"/>
          </a:xfrm>
          <a:prstGeom prst="rect">
            <a:avLst/>
          </a:prstGeom>
          <a:noFill/>
          <a:ln/>
        </p:spPr>
        <p:txBody>
          <a:bodyPr wrap="square" rtlCol="0" anchor="t"/>
          <a:lstStyle/>
          <a:p>
            <a:pPr algn="l" indent="0" marL="0">
              <a:buNone/>
            </a:pPr>
            <a:r>
              <a:rPr lang="en-US" sz="5600" b="1" dirty="0">
                <a:solidFill>
                  <a:srgbClr val="E63946"/>
                </a:solidFill>
                <a:latin typeface="Calibri" pitchFamily="34" charset="0"/>
                <a:ea typeface="Calibri" pitchFamily="34" charset="-122"/>
                <a:cs typeface="Calibri" pitchFamily="34" charset="-120"/>
              </a:rPr>
              <a:t>R$ 80 bi</a:t>
            </a:r>
            <a:endParaRPr lang="en-US" sz="5600" dirty="0"/>
          </a:p>
        </p:txBody>
      </p:sp>
      <p:sp>
        <p:nvSpPr>
          <p:cNvPr id="8" name="Text 6"/>
          <p:cNvSpPr/>
          <p:nvPr/>
        </p:nvSpPr>
        <p:spPr>
          <a:xfrm>
            <a:off x="457200" y="2697480"/>
            <a:ext cx="5486400" cy="365760"/>
          </a:xfrm>
          <a:prstGeom prst="rect">
            <a:avLst/>
          </a:prstGeom>
          <a:noFill/>
          <a:ln/>
        </p:spPr>
        <p:txBody>
          <a:bodyPr wrap="square" rtlCol="0" anchor="ctr"/>
          <a:lstStyle/>
          <a:p>
            <a:pPr indent="0" marL="0">
              <a:buNone/>
            </a:pPr>
            <a:r>
              <a:rPr lang="en-US" sz="1100" b="1" spc="400" kern="0" dirty="0">
                <a:solidFill>
                  <a:srgbClr val="CADCFC"/>
                </a:solidFill>
                <a:latin typeface="Calibri" pitchFamily="34" charset="0"/>
                <a:ea typeface="Calibri" pitchFamily="34" charset="-122"/>
                <a:cs typeface="Calibri" pitchFamily="34" charset="-120"/>
              </a:rPr>
              <a:t>PÓS-VENDA AUTOMOTIVO BR/ANO</a:t>
            </a:r>
            <a:endParaRPr lang="en-US" sz="1100" dirty="0"/>
          </a:p>
        </p:txBody>
      </p:sp>
      <p:sp>
        <p:nvSpPr>
          <p:cNvPr id="9" name="Text 7"/>
          <p:cNvSpPr/>
          <p:nvPr/>
        </p:nvSpPr>
        <p:spPr>
          <a:xfrm>
            <a:off x="6400800" y="1828800"/>
            <a:ext cx="5486400" cy="914400"/>
          </a:xfrm>
          <a:prstGeom prst="rect">
            <a:avLst/>
          </a:prstGeom>
          <a:noFill/>
          <a:ln/>
        </p:spPr>
        <p:txBody>
          <a:bodyPr wrap="square" rtlCol="0" anchor="t"/>
          <a:lstStyle/>
          <a:p>
            <a:pPr algn="l" indent="0" marL="0">
              <a:buNone/>
            </a:pPr>
            <a:r>
              <a:rPr lang="en-US" sz="5600" b="1" dirty="0">
                <a:solidFill>
                  <a:srgbClr val="CADCFC"/>
                </a:solidFill>
                <a:latin typeface="Calibri" pitchFamily="34" charset="0"/>
                <a:ea typeface="Calibri" pitchFamily="34" charset="-122"/>
                <a:cs typeface="Calibri" pitchFamily="34" charset="-120"/>
              </a:rPr>
              <a:t>&lt; 30%</a:t>
            </a:r>
            <a:endParaRPr lang="en-US" sz="5600" dirty="0"/>
          </a:p>
        </p:txBody>
      </p:sp>
      <p:sp>
        <p:nvSpPr>
          <p:cNvPr id="10" name="Text 8"/>
          <p:cNvSpPr/>
          <p:nvPr/>
        </p:nvSpPr>
        <p:spPr>
          <a:xfrm>
            <a:off x="6400800" y="2697480"/>
            <a:ext cx="5486400" cy="365760"/>
          </a:xfrm>
          <a:prstGeom prst="rect">
            <a:avLst/>
          </a:prstGeom>
          <a:noFill/>
          <a:ln/>
        </p:spPr>
        <p:txBody>
          <a:bodyPr wrap="square" rtlCol="0" anchor="ctr"/>
          <a:lstStyle/>
          <a:p>
            <a:pPr indent="0" marL="0">
              <a:buNone/>
            </a:pPr>
            <a:r>
              <a:rPr lang="en-US" sz="1100" b="1" spc="400" kern="0" dirty="0">
                <a:solidFill>
                  <a:srgbClr val="CADCFC"/>
                </a:solidFill>
                <a:latin typeface="Calibri" pitchFamily="34" charset="0"/>
                <a:ea typeface="Calibri" pitchFamily="34" charset="-122"/>
                <a:cs typeface="Calibri" pitchFamily="34" charset="-120"/>
              </a:rPr>
              <a:t>FATIA DAS REDES OFICIAIS</a:t>
            </a:r>
            <a:endParaRPr lang="en-US" sz="1100" dirty="0"/>
          </a:p>
        </p:txBody>
      </p:sp>
      <p:sp>
        <p:nvSpPr>
          <p:cNvPr id="11" name="Text 9"/>
          <p:cNvSpPr/>
          <p:nvPr/>
        </p:nvSpPr>
        <p:spPr>
          <a:xfrm>
            <a:off x="457200" y="3566160"/>
            <a:ext cx="5486400" cy="914400"/>
          </a:xfrm>
          <a:prstGeom prst="rect">
            <a:avLst/>
          </a:prstGeom>
          <a:noFill/>
          <a:ln/>
        </p:spPr>
        <p:txBody>
          <a:bodyPr wrap="square" rtlCol="0" anchor="t"/>
          <a:lstStyle/>
          <a:p>
            <a:pPr algn="l" indent="0" marL="0">
              <a:buNone/>
            </a:pPr>
            <a:r>
              <a:rPr lang="en-US" sz="5600" b="1" dirty="0">
                <a:solidFill>
                  <a:srgbClr val="CADCFC"/>
                </a:solidFill>
                <a:latin typeface="Calibri" pitchFamily="34" charset="0"/>
                <a:ea typeface="Calibri" pitchFamily="34" charset="-122"/>
                <a:cs typeface="Calibri" pitchFamily="34" charset="-120"/>
              </a:rPr>
              <a:t>3×</a:t>
            </a:r>
            <a:endParaRPr lang="en-US" sz="5600" dirty="0"/>
          </a:p>
        </p:txBody>
      </p:sp>
      <p:sp>
        <p:nvSpPr>
          <p:cNvPr id="12" name="Text 10"/>
          <p:cNvSpPr/>
          <p:nvPr/>
        </p:nvSpPr>
        <p:spPr>
          <a:xfrm>
            <a:off x="457200" y="4434840"/>
            <a:ext cx="5486400" cy="365760"/>
          </a:xfrm>
          <a:prstGeom prst="rect">
            <a:avLst/>
          </a:prstGeom>
          <a:noFill/>
          <a:ln/>
        </p:spPr>
        <p:txBody>
          <a:bodyPr wrap="square" rtlCol="0" anchor="ctr"/>
          <a:lstStyle/>
          <a:p>
            <a:pPr indent="0" marL="0">
              <a:buNone/>
            </a:pPr>
            <a:r>
              <a:rPr lang="en-US" sz="1100" b="1" spc="400" kern="0" dirty="0">
                <a:solidFill>
                  <a:srgbClr val="CADCFC"/>
                </a:solidFill>
                <a:latin typeface="Calibri" pitchFamily="34" charset="0"/>
                <a:ea typeface="Calibri" pitchFamily="34" charset="-122"/>
                <a:cs typeface="Calibri" pitchFamily="34" charset="-120"/>
              </a:rPr>
              <a:t>LTV DO CLIENTE FIEL VS ESPORÁDICO</a:t>
            </a:r>
            <a:endParaRPr lang="en-US" sz="1100" dirty="0"/>
          </a:p>
        </p:txBody>
      </p:sp>
      <p:sp>
        <p:nvSpPr>
          <p:cNvPr id="13" name="Text 11"/>
          <p:cNvSpPr/>
          <p:nvPr/>
        </p:nvSpPr>
        <p:spPr>
          <a:xfrm>
            <a:off x="6400800" y="3566160"/>
            <a:ext cx="5486400" cy="914400"/>
          </a:xfrm>
          <a:prstGeom prst="rect">
            <a:avLst/>
          </a:prstGeom>
          <a:noFill/>
          <a:ln/>
        </p:spPr>
        <p:txBody>
          <a:bodyPr wrap="square" rtlCol="0" anchor="t"/>
          <a:lstStyle/>
          <a:p>
            <a:pPr algn="l" indent="0" marL="0">
              <a:buNone/>
            </a:pPr>
            <a:r>
              <a:rPr lang="en-US" sz="5600" b="1" dirty="0">
                <a:solidFill>
                  <a:srgbClr val="E63946"/>
                </a:solidFill>
                <a:latin typeface="Calibri" pitchFamily="34" charset="0"/>
                <a:ea typeface="Calibri" pitchFamily="34" charset="-122"/>
                <a:cs typeface="Calibri" pitchFamily="34" charset="-120"/>
              </a:rPr>
              <a:t>+1 pp</a:t>
            </a:r>
            <a:endParaRPr lang="en-US" sz="5600" dirty="0"/>
          </a:p>
        </p:txBody>
      </p:sp>
      <p:sp>
        <p:nvSpPr>
          <p:cNvPr id="14" name="Text 12"/>
          <p:cNvSpPr/>
          <p:nvPr/>
        </p:nvSpPr>
        <p:spPr>
          <a:xfrm>
            <a:off x="6400800" y="4434840"/>
            <a:ext cx="5486400" cy="365760"/>
          </a:xfrm>
          <a:prstGeom prst="rect">
            <a:avLst/>
          </a:prstGeom>
          <a:noFill/>
          <a:ln/>
        </p:spPr>
        <p:txBody>
          <a:bodyPr wrap="square" rtlCol="0" anchor="ctr"/>
          <a:lstStyle/>
          <a:p>
            <a:pPr indent="0" marL="0">
              <a:buNone/>
            </a:pPr>
            <a:r>
              <a:rPr lang="en-US" sz="1100" b="1" spc="400" kern="0" dirty="0">
                <a:solidFill>
                  <a:srgbClr val="CADCFC"/>
                </a:solidFill>
                <a:latin typeface="Calibri" pitchFamily="34" charset="0"/>
                <a:ea typeface="Calibri" pitchFamily="34" charset="-122"/>
                <a:cs typeface="Calibri" pitchFamily="34" charset="-120"/>
              </a:rPr>
              <a:t>DE VIN SHARE = DEZENAS DE MILHÕES</a:t>
            </a:r>
            <a:endParaRPr lang="en-US" sz="1100" dirty="0"/>
          </a:p>
        </p:txBody>
      </p:sp>
      <p:sp>
        <p:nvSpPr>
          <p:cNvPr id="15" name="Shape 13"/>
          <p:cNvSpPr/>
          <p:nvPr/>
        </p:nvSpPr>
        <p:spPr>
          <a:xfrm>
            <a:off x="457200" y="5212080"/>
            <a:ext cx="11247120" cy="1005840"/>
          </a:xfrm>
          <a:prstGeom prst="roundRect">
            <a:avLst>
              <a:gd name="adj" fmla="val 9091"/>
            </a:avLst>
          </a:prstGeom>
          <a:solidFill>
            <a:srgbClr val="152844"/>
          </a:solidFill>
          <a:ln w="12700">
            <a:solidFill>
              <a:srgbClr val="20354A"/>
            </a:solidFill>
            <a:prstDash val="solid"/>
          </a:ln>
        </p:spPr>
      </p:sp>
      <p:sp>
        <p:nvSpPr>
          <p:cNvPr id="16" name="Text 14"/>
          <p:cNvSpPr/>
          <p:nvPr/>
        </p:nvSpPr>
        <p:spPr>
          <a:xfrm>
            <a:off x="731520" y="5349240"/>
            <a:ext cx="10698480" cy="777240"/>
          </a:xfrm>
          <a:prstGeom prst="rect">
            <a:avLst/>
          </a:prstGeom>
          <a:noFill/>
          <a:ln/>
        </p:spPr>
        <p:txBody>
          <a:bodyPr wrap="square" rtlCol="0" anchor="ctr"/>
          <a:lstStyle/>
          <a:p>
            <a:pPr indent="0" marL="0">
              <a:buNone/>
            </a:pPr>
            <a:r>
              <a:rPr lang="en-US" sz="1300" b="1" dirty="0">
                <a:solidFill>
                  <a:srgbClr val="CADCFC"/>
                </a:solidFill>
              </a:rPr>
              <a:t>No dataset real Ford BR (175.554 VINs): </a:t>
            </a:r>
            <a:pPr indent="0" marL="0">
              <a:buNone/>
            </a:pPr>
            <a:r>
              <a:rPr lang="en-US" sz="1300" dirty="0">
                <a:solidFill>
                  <a:srgbClr val="FFFFFF"/>
                </a:solidFill>
              </a:rPr>
              <a:t>11,3% abandonam após a 1ª revisão · 55,4% perdem o timing da revisão · </a:t>
            </a:r>
            <a:pPr indent="0" marL="0">
              <a:buNone/>
            </a:pPr>
            <a:r>
              <a:rPr lang="en-US" sz="1300" b="1" dirty="0">
                <a:solidFill>
                  <a:srgbClr val="E63946"/>
                </a:solidFill>
              </a:rPr>
              <a:t>só 18,5% são fiéis.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rtlCol="0" anchor="ctr"/>
          <a:lstStyle/>
          <a:p>
            <a:pPr indent="0" marL="0">
              <a:buNone/>
            </a:pPr>
            <a:r>
              <a:rPr lang="en-US" sz="1000" b="1" spc="600" kern="0" dirty="0">
                <a:solidFill>
                  <a:srgbClr val="003478"/>
                </a:solidFill>
                <a:latin typeface="Calibri" pitchFamily="34" charset="0"/>
                <a:ea typeface="Calibri" pitchFamily="34" charset="-122"/>
                <a:cs typeface="Calibri" pitchFamily="34" charset="-120"/>
              </a:rPr>
              <a:t>SOLUÇÃO · FARO AI</a:t>
            </a:r>
            <a:endParaRPr lang="en-US" sz="1000" dirty="0"/>
          </a:p>
        </p:txBody>
      </p:sp>
      <p:sp>
        <p:nvSpPr>
          <p:cNvPr id="3" name="Text 1"/>
          <p:cNvSpPr/>
          <p:nvPr/>
        </p:nvSpPr>
        <p:spPr>
          <a:xfrm>
            <a:off x="457200" y="685800"/>
            <a:ext cx="10972800" cy="914400"/>
          </a:xfrm>
          <a:prstGeom prst="rect">
            <a:avLst/>
          </a:prstGeom>
          <a:noFill/>
          <a:ln/>
        </p:spPr>
        <p:txBody>
          <a:bodyPr wrap="square" rtlCol="0" anchor="t"/>
          <a:lstStyle/>
          <a:p>
            <a:pPr indent="0" marL="0">
              <a:buNone/>
            </a:pPr>
            <a:r>
              <a:rPr lang="en-US" sz="3200" b="1" dirty="0">
                <a:solidFill>
                  <a:srgbClr val="0A1628"/>
                </a:solidFill>
                <a:latin typeface="Calibri" pitchFamily="34" charset="0"/>
                <a:ea typeface="Calibri" pitchFamily="34" charset="-122"/>
                <a:cs typeface="Calibri" pitchFamily="34" charset="-120"/>
              </a:rPr>
              <a:t>Uma plataforma. Dois desafios. Três blocos.</a:t>
            </a:r>
            <a:endParaRPr lang="en-US" sz="3200" dirty="0"/>
          </a:p>
        </p:txBody>
      </p:sp>
      <p:sp>
        <p:nvSpPr>
          <p:cNvPr id="4" name="Shape 2"/>
          <p:cNvSpPr/>
          <p:nvPr/>
        </p:nvSpPr>
        <p:spPr>
          <a:xfrm>
            <a:off x="11155680" y="320040"/>
            <a:ext cx="594360" cy="411480"/>
          </a:xfrm>
          <a:prstGeom prst="roundRect">
            <a:avLst>
              <a:gd name="adj" fmla="val 17778"/>
            </a:avLst>
          </a:prstGeom>
          <a:solidFill>
            <a:srgbClr val="003478"/>
          </a:solidFill>
          <a:ln w="12700">
            <a:solidFill>
              <a:srgbClr val="003478"/>
            </a:solidFill>
            <a:prstDash val="solid"/>
          </a:ln>
        </p:spPr>
      </p:sp>
      <p:sp>
        <p:nvSpPr>
          <p:cNvPr id="5" name="Text 3"/>
          <p:cNvSpPr/>
          <p:nvPr/>
        </p:nvSpPr>
        <p:spPr>
          <a:xfrm>
            <a:off x="11155680" y="320040"/>
            <a:ext cx="59436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a:t>
            </a:r>
            <a:endParaRPr lang="en-US" sz="1400" dirty="0"/>
          </a:p>
        </p:txBody>
      </p:sp>
      <p:sp>
        <p:nvSpPr>
          <p:cNvPr id="6" name="Text 4"/>
          <p:cNvSpPr/>
          <p:nvPr/>
        </p:nvSpPr>
        <p:spPr>
          <a:xfrm>
            <a:off x="457200" y="6446520"/>
            <a:ext cx="11247120" cy="27432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Faro AI · 4 / 14</a:t>
            </a:r>
            <a:endParaRPr lang="en-US" sz="900" dirty="0"/>
          </a:p>
        </p:txBody>
      </p:sp>
      <p:sp>
        <p:nvSpPr>
          <p:cNvPr id="7" name="Shape 5"/>
          <p:cNvSpPr/>
          <p:nvPr/>
        </p:nvSpPr>
        <p:spPr>
          <a:xfrm>
            <a:off x="457200" y="2011680"/>
            <a:ext cx="3657600" cy="4023360"/>
          </a:xfrm>
          <a:prstGeom prst="roundRect">
            <a:avLst>
              <a:gd name="adj" fmla="val 2500"/>
            </a:avLst>
          </a:prstGeom>
          <a:solidFill>
            <a:srgbClr val="F4F7FB"/>
          </a:solidFill>
          <a:ln w="12700">
            <a:solidFill>
              <a:srgbClr val="E2E8F0"/>
            </a:solidFill>
            <a:prstDash val="solid"/>
          </a:ln>
        </p:spPr>
      </p:sp>
      <p:sp>
        <p:nvSpPr>
          <p:cNvPr id="8" name="Shape 6"/>
          <p:cNvSpPr/>
          <p:nvPr/>
        </p:nvSpPr>
        <p:spPr>
          <a:xfrm>
            <a:off x="731520" y="2286000"/>
            <a:ext cx="914400" cy="914400"/>
          </a:xfrm>
          <a:prstGeom prst="roundRect">
            <a:avLst>
              <a:gd name="adj" fmla="val 50000"/>
            </a:avLst>
          </a:prstGeom>
          <a:solidFill>
            <a:srgbClr val="E63946"/>
          </a:solidFill>
          <a:ln w="12700">
            <a:solidFill>
              <a:srgbClr val="E63946"/>
            </a:solidFill>
            <a:prstDash val="solid"/>
          </a:ln>
        </p:spPr>
      </p:sp>
      <p:sp>
        <p:nvSpPr>
          <p:cNvPr id="9" name="Text 7"/>
          <p:cNvSpPr/>
          <p:nvPr/>
        </p:nvSpPr>
        <p:spPr>
          <a:xfrm>
            <a:off x="731520" y="2286000"/>
            <a:ext cx="914400" cy="9144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10" name="Text 8"/>
          <p:cNvSpPr/>
          <p:nvPr/>
        </p:nvSpPr>
        <p:spPr>
          <a:xfrm>
            <a:off x="731520" y="3383280"/>
            <a:ext cx="3108960" cy="45720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Catálogo Canônico</a:t>
            </a:r>
            <a:endParaRPr lang="en-US" sz="1800" dirty="0"/>
          </a:p>
        </p:txBody>
      </p:sp>
      <p:sp>
        <p:nvSpPr>
          <p:cNvPr id="11" name="Text 9"/>
          <p:cNvSpPr/>
          <p:nvPr/>
        </p:nvSpPr>
        <p:spPr>
          <a:xfrm>
            <a:off x="731520" y="3931920"/>
            <a:ext cx="3108960" cy="1828800"/>
          </a:xfrm>
          <a:prstGeom prst="rect">
            <a:avLst/>
          </a:prstGeom>
          <a:noFill/>
          <a:ln/>
        </p:spPr>
        <p:txBody>
          <a:bodyPr wrap="square" rtlCol="0" anchor="t"/>
          <a:lstStyle/>
          <a:p>
            <a:pPr indent="0" marL="0">
              <a:buNone/>
            </a:pPr>
            <a:r>
              <a:rPr lang="en-US" sz="1200" dirty="0">
                <a:solidFill>
                  <a:srgbClr val="2A3A4A"/>
                </a:solidFill>
                <a:latin typeface="Calibri" pitchFamily="34" charset="0"/>
                <a:ea typeface="Calibri" pitchFamily="34" charset="-122"/>
                <a:cs typeface="Calibri" pitchFamily="34" charset="-120"/>
              </a:rPr>
              <a:t>262 atributos × 14 seções no template oficial Ford. Comparação 1:1 com qualquer concorrente.</a:t>
            </a:r>
            <a:endParaRPr lang="en-US" sz="1200" dirty="0"/>
          </a:p>
        </p:txBody>
      </p:sp>
      <p:sp>
        <p:nvSpPr>
          <p:cNvPr id="12" name="Shape 10"/>
          <p:cNvSpPr/>
          <p:nvPr/>
        </p:nvSpPr>
        <p:spPr>
          <a:xfrm>
            <a:off x="4389120" y="2011680"/>
            <a:ext cx="3657600" cy="4023360"/>
          </a:xfrm>
          <a:prstGeom prst="roundRect">
            <a:avLst>
              <a:gd name="adj" fmla="val 2500"/>
            </a:avLst>
          </a:prstGeom>
          <a:solidFill>
            <a:srgbClr val="F4F7FB"/>
          </a:solidFill>
          <a:ln w="12700">
            <a:solidFill>
              <a:srgbClr val="E2E8F0"/>
            </a:solidFill>
            <a:prstDash val="solid"/>
          </a:ln>
        </p:spPr>
      </p:sp>
      <p:sp>
        <p:nvSpPr>
          <p:cNvPr id="13" name="Shape 11"/>
          <p:cNvSpPr/>
          <p:nvPr/>
        </p:nvSpPr>
        <p:spPr>
          <a:xfrm>
            <a:off x="4663440" y="2286000"/>
            <a:ext cx="914400" cy="914400"/>
          </a:xfrm>
          <a:prstGeom prst="roundRect">
            <a:avLst>
              <a:gd name="adj" fmla="val 50000"/>
            </a:avLst>
          </a:prstGeom>
          <a:solidFill>
            <a:srgbClr val="003478"/>
          </a:solidFill>
          <a:ln w="12700">
            <a:solidFill>
              <a:srgbClr val="003478"/>
            </a:solidFill>
            <a:prstDash val="solid"/>
          </a:ln>
        </p:spPr>
      </p:sp>
      <p:sp>
        <p:nvSpPr>
          <p:cNvPr id="14" name="Text 12"/>
          <p:cNvSpPr/>
          <p:nvPr/>
        </p:nvSpPr>
        <p:spPr>
          <a:xfrm>
            <a:off x="4663440" y="2286000"/>
            <a:ext cx="914400" cy="9144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5" name="Text 13"/>
          <p:cNvSpPr/>
          <p:nvPr/>
        </p:nvSpPr>
        <p:spPr>
          <a:xfrm>
            <a:off x="4663440" y="3383280"/>
            <a:ext cx="3108960" cy="45720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Retenção Preditiva</a:t>
            </a:r>
            <a:endParaRPr lang="en-US" sz="1800" dirty="0"/>
          </a:p>
        </p:txBody>
      </p:sp>
      <p:sp>
        <p:nvSpPr>
          <p:cNvPr id="16" name="Text 14"/>
          <p:cNvSpPr/>
          <p:nvPr/>
        </p:nvSpPr>
        <p:spPr>
          <a:xfrm>
            <a:off x="4663440" y="3931920"/>
            <a:ext cx="3108960" cy="1828800"/>
          </a:xfrm>
          <a:prstGeom prst="rect">
            <a:avLst/>
          </a:prstGeom>
          <a:noFill/>
          <a:ln/>
        </p:spPr>
        <p:txBody>
          <a:bodyPr wrap="square" rtlCol="0" anchor="t"/>
          <a:lstStyle/>
          <a:p>
            <a:pPr indent="0" marL="0">
              <a:buNone/>
            </a:pPr>
            <a:r>
              <a:rPr lang="en-US" sz="1200" dirty="0">
                <a:solidFill>
                  <a:srgbClr val="2A3A4A"/>
                </a:solidFill>
                <a:latin typeface="Calibri" pitchFamily="34" charset="0"/>
                <a:ea typeface="Calibri" pitchFamily="34" charset="-122"/>
                <a:cs typeface="Calibri" pitchFamily="34" charset="-120"/>
              </a:rPr>
              <a:t>175k VINs reais classificados em 4 perfis. 135k leads detectados via risco composto.</a:t>
            </a:r>
            <a:endParaRPr lang="en-US" sz="1200" dirty="0"/>
          </a:p>
        </p:txBody>
      </p:sp>
      <p:sp>
        <p:nvSpPr>
          <p:cNvPr id="17" name="Shape 15"/>
          <p:cNvSpPr/>
          <p:nvPr/>
        </p:nvSpPr>
        <p:spPr>
          <a:xfrm>
            <a:off x="8321040" y="2011680"/>
            <a:ext cx="3657600" cy="4023360"/>
          </a:xfrm>
          <a:prstGeom prst="roundRect">
            <a:avLst>
              <a:gd name="adj" fmla="val 2500"/>
            </a:avLst>
          </a:prstGeom>
          <a:solidFill>
            <a:srgbClr val="F4F7FB"/>
          </a:solidFill>
          <a:ln w="12700">
            <a:solidFill>
              <a:srgbClr val="E2E8F0"/>
            </a:solidFill>
            <a:prstDash val="solid"/>
          </a:ln>
        </p:spPr>
      </p:sp>
      <p:sp>
        <p:nvSpPr>
          <p:cNvPr id="18" name="Shape 16"/>
          <p:cNvSpPr/>
          <p:nvPr/>
        </p:nvSpPr>
        <p:spPr>
          <a:xfrm>
            <a:off x="8595360" y="2286000"/>
            <a:ext cx="914400" cy="914400"/>
          </a:xfrm>
          <a:prstGeom prst="roundRect">
            <a:avLst>
              <a:gd name="adj" fmla="val 50000"/>
            </a:avLst>
          </a:prstGeom>
          <a:solidFill>
            <a:srgbClr val="00A896"/>
          </a:solidFill>
          <a:ln w="12700">
            <a:solidFill>
              <a:srgbClr val="00A896"/>
            </a:solidFill>
            <a:prstDash val="solid"/>
          </a:ln>
        </p:spPr>
      </p:sp>
      <p:sp>
        <p:nvSpPr>
          <p:cNvPr id="19" name="Text 17"/>
          <p:cNvSpPr/>
          <p:nvPr/>
        </p:nvSpPr>
        <p:spPr>
          <a:xfrm>
            <a:off x="8595360" y="2286000"/>
            <a:ext cx="914400" cy="91440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20" name="Text 18"/>
          <p:cNvSpPr/>
          <p:nvPr/>
        </p:nvSpPr>
        <p:spPr>
          <a:xfrm>
            <a:off x="8595360" y="3383280"/>
            <a:ext cx="3108960" cy="457200"/>
          </a:xfrm>
          <a:prstGeom prst="rect">
            <a:avLst/>
          </a:prstGeom>
          <a:noFill/>
          <a:ln/>
        </p:spPr>
        <p:txBody>
          <a:bodyPr wrap="square"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Ação Real</a:t>
            </a:r>
            <a:endParaRPr lang="en-US" sz="1800" dirty="0"/>
          </a:p>
        </p:txBody>
      </p:sp>
      <p:sp>
        <p:nvSpPr>
          <p:cNvPr id="21" name="Text 19"/>
          <p:cNvSpPr/>
          <p:nvPr/>
        </p:nvSpPr>
        <p:spPr>
          <a:xfrm>
            <a:off x="8595360" y="3931920"/>
            <a:ext cx="3108960" cy="1828800"/>
          </a:xfrm>
          <a:prstGeom prst="rect">
            <a:avLst/>
          </a:prstGeom>
          <a:noFill/>
          <a:ln/>
        </p:spPr>
        <p:txBody>
          <a:bodyPr wrap="square" rtlCol="0" anchor="t"/>
          <a:lstStyle/>
          <a:p>
            <a:pPr indent="0" marL="0">
              <a:buNone/>
            </a:pPr>
            <a:r>
              <a:rPr lang="en-US" sz="1200" dirty="0">
                <a:solidFill>
                  <a:srgbClr val="2A3A4A"/>
                </a:solidFill>
                <a:latin typeface="Calibri" pitchFamily="34" charset="0"/>
                <a:ea typeface="Calibri" pitchFamily="34" charset="-122"/>
                <a:cs typeface="Calibri" pitchFamily="34" charset="-120"/>
              </a:rPr>
              <a:t>E-mail via Resend com template por perfil. Ação e envio ficam registrados.</a:t>
            </a:r>
            <a:endParaRPr lang="en-US" sz="1200" dirty="0"/>
          </a:p>
        </p:txBody>
      </p:sp>
      <p:sp>
        <p:nvSpPr>
          <p:cNvPr id="22" name="Text 20"/>
          <p:cNvSpPr/>
          <p:nvPr/>
        </p:nvSpPr>
        <p:spPr>
          <a:xfrm>
            <a:off x="457200" y="6126480"/>
            <a:ext cx="11247120" cy="274320"/>
          </a:xfrm>
          <a:prstGeom prst="rect">
            <a:avLst/>
          </a:prstGeom>
          <a:noFill/>
          <a:ln/>
        </p:spPr>
        <p:txBody>
          <a:bodyPr wrap="square" rtlCol="0" anchor="ctr"/>
          <a:lstStyle/>
          <a:p>
            <a:pPr algn="ctr" indent="0" marL="0">
              <a:buNone/>
            </a:pPr>
            <a:r>
              <a:rPr lang="en-US" sz="1200" b="1" i="1" dirty="0">
                <a:solidFill>
                  <a:srgbClr val="E63946"/>
                </a:solidFill>
                <a:latin typeface="Calibri" pitchFamily="34" charset="0"/>
                <a:ea typeface="Calibri" pitchFamily="34" charset="-122"/>
                <a:cs typeface="Calibri" pitchFamily="34" charset="-120"/>
              </a:rPr>
              <a:t>AI que tem faro pro cliente certo.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rtlCol="0" anchor="ctr"/>
          <a:lstStyle/>
          <a:p>
            <a:pPr indent="0" marL="0">
              <a:buNone/>
            </a:pPr>
            <a:r>
              <a:rPr lang="en-US" sz="1000" b="1" spc="600" kern="0" dirty="0">
                <a:solidFill>
                  <a:srgbClr val="003478"/>
                </a:solidFill>
                <a:latin typeface="Calibri" pitchFamily="34" charset="0"/>
                <a:ea typeface="Calibri" pitchFamily="34" charset="-122"/>
                <a:cs typeface="Calibri" pitchFamily="34" charset="-120"/>
              </a:rPr>
              <a:t>DESAFIO 1 · BLOCO 01</a:t>
            </a:r>
            <a:endParaRPr lang="en-US" sz="1000" dirty="0"/>
          </a:p>
        </p:txBody>
      </p:sp>
      <p:sp>
        <p:nvSpPr>
          <p:cNvPr id="3" name="Text 1"/>
          <p:cNvSpPr/>
          <p:nvPr/>
        </p:nvSpPr>
        <p:spPr>
          <a:xfrm>
            <a:off x="457200" y="685800"/>
            <a:ext cx="10972800" cy="914400"/>
          </a:xfrm>
          <a:prstGeom prst="rect">
            <a:avLst/>
          </a:prstGeom>
          <a:noFill/>
          <a:ln/>
        </p:spPr>
        <p:txBody>
          <a:bodyPr wrap="square" rtlCol="0" anchor="t"/>
          <a:lstStyle/>
          <a:p>
            <a:pPr indent="0" marL="0">
              <a:buNone/>
            </a:pPr>
            <a:r>
              <a:rPr lang="en-US" sz="3200" b="1" dirty="0">
                <a:solidFill>
                  <a:srgbClr val="0A1628"/>
                </a:solidFill>
                <a:latin typeface="Calibri" pitchFamily="34" charset="0"/>
                <a:ea typeface="Calibri" pitchFamily="34" charset="-122"/>
                <a:cs typeface="Calibri" pitchFamily="34" charset="-120"/>
              </a:rPr>
              <a:t>Schema canônico Ford D1 — 262 atributos</a:t>
            </a:r>
            <a:endParaRPr lang="en-US" sz="3200" dirty="0"/>
          </a:p>
        </p:txBody>
      </p:sp>
      <p:sp>
        <p:nvSpPr>
          <p:cNvPr id="4" name="Shape 2"/>
          <p:cNvSpPr/>
          <p:nvPr/>
        </p:nvSpPr>
        <p:spPr>
          <a:xfrm>
            <a:off x="11155680" y="320040"/>
            <a:ext cx="594360" cy="411480"/>
          </a:xfrm>
          <a:prstGeom prst="roundRect">
            <a:avLst>
              <a:gd name="adj" fmla="val 17778"/>
            </a:avLst>
          </a:prstGeom>
          <a:solidFill>
            <a:srgbClr val="003478"/>
          </a:solidFill>
          <a:ln w="12700">
            <a:solidFill>
              <a:srgbClr val="003478"/>
            </a:solidFill>
            <a:prstDash val="solid"/>
          </a:ln>
        </p:spPr>
      </p:sp>
      <p:sp>
        <p:nvSpPr>
          <p:cNvPr id="5" name="Text 3"/>
          <p:cNvSpPr/>
          <p:nvPr/>
        </p:nvSpPr>
        <p:spPr>
          <a:xfrm>
            <a:off x="11155680" y="320040"/>
            <a:ext cx="59436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a:t>
            </a:r>
            <a:endParaRPr lang="en-US" sz="1400" dirty="0"/>
          </a:p>
        </p:txBody>
      </p:sp>
      <p:sp>
        <p:nvSpPr>
          <p:cNvPr id="6" name="Text 4"/>
          <p:cNvSpPr/>
          <p:nvPr/>
        </p:nvSpPr>
        <p:spPr>
          <a:xfrm>
            <a:off x="457200" y="6446520"/>
            <a:ext cx="11247120" cy="27432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Faro AI · 5 / 14</a:t>
            </a:r>
            <a:endParaRPr lang="en-US" sz="900" dirty="0"/>
          </a:p>
        </p:txBody>
      </p:sp>
      <p:sp>
        <p:nvSpPr>
          <p:cNvPr id="7" name="Text 5"/>
          <p:cNvSpPr/>
          <p:nvPr/>
        </p:nvSpPr>
        <p:spPr>
          <a:xfrm>
            <a:off x="457200" y="1691640"/>
            <a:ext cx="11247120" cy="914400"/>
          </a:xfrm>
          <a:prstGeom prst="rect">
            <a:avLst/>
          </a:prstGeom>
          <a:noFill/>
          <a:ln/>
        </p:spPr>
        <p:txBody>
          <a:bodyPr wrap="square" rtlCol="0" anchor="ctr"/>
          <a:lstStyle/>
          <a:p>
            <a:pPr indent="0" marL="0">
              <a:buNone/>
            </a:pPr>
            <a:r>
              <a:rPr lang="en-US" sz="1300" dirty="0">
                <a:solidFill>
                  <a:srgbClr val="2A3A4A"/>
                </a:solidFill>
                <a:latin typeface="Calibri" pitchFamily="34" charset="0"/>
                <a:ea typeface="Calibri" pitchFamily="34" charset="-122"/>
                <a:cs typeface="Calibri" pitchFamily="34" charset="-120"/>
              </a:rPr>
              <a:t>A Ford forneceu uma matriz fixa de 262 atributos em 14 seções (Wheels, Connectivity, Ice Line Up, Safety, High tech, 4X4, etc.). Implementamos como schema imutável no banco. Qualquer concorrente cadastrado preenche os mesmos campos — comparação 1:1, sem ambiguidade.</a:t>
            </a:r>
            <a:endParaRPr lang="en-US" sz="1300" dirty="0"/>
          </a:p>
        </p:txBody>
      </p:sp>
      <p:sp>
        <p:nvSpPr>
          <p:cNvPr id="8" name="Text 6"/>
          <p:cNvSpPr/>
          <p:nvPr/>
        </p:nvSpPr>
        <p:spPr>
          <a:xfrm>
            <a:off x="457200" y="2926080"/>
            <a:ext cx="3657600" cy="914400"/>
          </a:xfrm>
          <a:prstGeom prst="rect">
            <a:avLst/>
          </a:prstGeom>
          <a:noFill/>
          <a:ln/>
        </p:spPr>
        <p:txBody>
          <a:bodyPr wrap="square" rtlCol="0" anchor="t"/>
          <a:lstStyle/>
          <a:p>
            <a:pPr algn="l" indent="0" marL="0">
              <a:buNone/>
            </a:pPr>
            <a:r>
              <a:rPr lang="en-US" sz="5600" b="1" dirty="0">
                <a:solidFill>
                  <a:srgbClr val="E63946"/>
                </a:solidFill>
                <a:latin typeface="Calibri" pitchFamily="34" charset="0"/>
                <a:ea typeface="Calibri" pitchFamily="34" charset="-122"/>
                <a:cs typeface="Calibri" pitchFamily="34" charset="-120"/>
              </a:rPr>
              <a:t>262</a:t>
            </a:r>
            <a:endParaRPr lang="en-US" sz="5600" dirty="0"/>
          </a:p>
        </p:txBody>
      </p:sp>
      <p:sp>
        <p:nvSpPr>
          <p:cNvPr id="9" name="Text 7"/>
          <p:cNvSpPr/>
          <p:nvPr/>
        </p:nvSpPr>
        <p:spPr>
          <a:xfrm>
            <a:off x="457200" y="3794760"/>
            <a:ext cx="3657600" cy="365760"/>
          </a:xfrm>
          <a:prstGeom prst="rect">
            <a:avLst/>
          </a:prstGeom>
          <a:noFill/>
          <a:ln/>
        </p:spPr>
        <p:txBody>
          <a:bodyPr wrap="square" rtlCol="0" anchor="ctr"/>
          <a:lstStyle/>
          <a:p>
            <a:pPr indent="0" marL="0">
              <a:buNone/>
            </a:pPr>
            <a:r>
              <a:rPr lang="en-US" sz="1100" b="1" spc="400" kern="0" dirty="0">
                <a:solidFill>
                  <a:srgbClr val="4A5A6B"/>
                </a:solidFill>
                <a:latin typeface="Calibri" pitchFamily="34" charset="0"/>
                <a:ea typeface="Calibri" pitchFamily="34" charset="-122"/>
                <a:cs typeface="Calibri" pitchFamily="34" charset="-120"/>
              </a:rPr>
              <a:t>ATRIBUTOS CANÔNICOS</a:t>
            </a:r>
            <a:endParaRPr lang="en-US" sz="1100" dirty="0"/>
          </a:p>
        </p:txBody>
      </p:sp>
      <p:sp>
        <p:nvSpPr>
          <p:cNvPr id="10" name="Text 8"/>
          <p:cNvSpPr/>
          <p:nvPr/>
        </p:nvSpPr>
        <p:spPr>
          <a:xfrm>
            <a:off x="4389120" y="2926080"/>
            <a:ext cx="3657600" cy="914400"/>
          </a:xfrm>
          <a:prstGeom prst="rect">
            <a:avLst/>
          </a:prstGeom>
          <a:noFill/>
          <a:ln/>
        </p:spPr>
        <p:txBody>
          <a:bodyPr wrap="square" rtlCol="0" anchor="t"/>
          <a:lstStyle/>
          <a:p>
            <a:pPr algn="l" indent="0" marL="0">
              <a:buNone/>
            </a:pPr>
            <a:r>
              <a:rPr lang="en-US" sz="5600" b="1" dirty="0">
                <a:solidFill>
                  <a:srgbClr val="003478"/>
                </a:solidFill>
                <a:latin typeface="Calibri" pitchFamily="34" charset="0"/>
                <a:ea typeface="Calibri" pitchFamily="34" charset="-122"/>
                <a:cs typeface="Calibri" pitchFamily="34" charset="-120"/>
              </a:rPr>
              <a:t>14</a:t>
            </a:r>
            <a:endParaRPr lang="en-US" sz="5600" dirty="0"/>
          </a:p>
        </p:txBody>
      </p:sp>
      <p:sp>
        <p:nvSpPr>
          <p:cNvPr id="11" name="Text 9"/>
          <p:cNvSpPr/>
          <p:nvPr/>
        </p:nvSpPr>
        <p:spPr>
          <a:xfrm>
            <a:off x="4389120" y="3794760"/>
            <a:ext cx="3657600" cy="365760"/>
          </a:xfrm>
          <a:prstGeom prst="rect">
            <a:avLst/>
          </a:prstGeom>
          <a:noFill/>
          <a:ln/>
        </p:spPr>
        <p:txBody>
          <a:bodyPr wrap="square" rtlCol="0" anchor="ctr"/>
          <a:lstStyle/>
          <a:p>
            <a:pPr indent="0" marL="0">
              <a:buNone/>
            </a:pPr>
            <a:r>
              <a:rPr lang="en-US" sz="1100" b="1" spc="400" kern="0" dirty="0">
                <a:solidFill>
                  <a:srgbClr val="4A5A6B"/>
                </a:solidFill>
                <a:latin typeface="Calibri" pitchFamily="34" charset="0"/>
                <a:ea typeface="Calibri" pitchFamily="34" charset="-122"/>
                <a:cs typeface="Calibri" pitchFamily="34" charset="-120"/>
              </a:rPr>
              <a:t>SEÇÕES (Wheels, Safety, 4X4…)</a:t>
            </a:r>
            <a:endParaRPr lang="en-US" sz="1100" dirty="0"/>
          </a:p>
        </p:txBody>
      </p:sp>
      <p:sp>
        <p:nvSpPr>
          <p:cNvPr id="12" name="Text 10"/>
          <p:cNvSpPr/>
          <p:nvPr/>
        </p:nvSpPr>
        <p:spPr>
          <a:xfrm>
            <a:off x="8321040" y="2926080"/>
            <a:ext cx="3657600" cy="914400"/>
          </a:xfrm>
          <a:prstGeom prst="rect">
            <a:avLst/>
          </a:prstGeom>
          <a:noFill/>
          <a:ln/>
        </p:spPr>
        <p:txBody>
          <a:bodyPr wrap="square" rtlCol="0" anchor="t"/>
          <a:lstStyle/>
          <a:p>
            <a:pPr algn="l" indent="0" marL="0">
              <a:buNone/>
            </a:pPr>
            <a:r>
              <a:rPr lang="en-US" sz="5600" b="1" dirty="0">
                <a:solidFill>
                  <a:srgbClr val="00A896"/>
                </a:solidFill>
                <a:latin typeface="Calibri" pitchFamily="34" charset="0"/>
                <a:ea typeface="Calibri" pitchFamily="34" charset="-122"/>
                <a:cs typeface="Calibri" pitchFamily="34" charset="-120"/>
              </a:rPr>
              <a:t>786</a:t>
            </a:r>
            <a:endParaRPr lang="en-US" sz="5600" dirty="0"/>
          </a:p>
        </p:txBody>
      </p:sp>
      <p:sp>
        <p:nvSpPr>
          <p:cNvPr id="13" name="Text 11"/>
          <p:cNvSpPr/>
          <p:nvPr/>
        </p:nvSpPr>
        <p:spPr>
          <a:xfrm>
            <a:off x="8321040" y="3794760"/>
            <a:ext cx="3657600" cy="365760"/>
          </a:xfrm>
          <a:prstGeom prst="rect">
            <a:avLst/>
          </a:prstGeom>
          <a:noFill/>
          <a:ln/>
        </p:spPr>
        <p:txBody>
          <a:bodyPr wrap="square" rtlCol="0" anchor="ctr"/>
          <a:lstStyle/>
          <a:p>
            <a:pPr indent="0" marL="0">
              <a:buNone/>
            </a:pPr>
            <a:r>
              <a:rPr lang="en-US" sz="1100" b="1" spc="400" kern="0" dirty="0">
                <a:solidFill>
                  <a:srgbClr val="4A5A6B"/>
                </a:solidFill>
                <a:latin typeface="Calibri" pitchFamily="34" charset="0"/>
                <a:ea typeface="Calibri" pitchFamily="34" charset="-122"/>
                <a:cs typeface="Calibri" pitchFamily="34" charset="-120"/>
              </a:rPr>
              <a:t>VALORES POPULADOS NAS 3 RANGER</a:t>
            </a:r>
            <a:endParaRPr lang="en-US" sz="1100" dirty="0"/>
          </a:p>
        </p:txBody>
      </p:sp>
      <p:sp>
        <p:nvSpPr>
          <p:cNvPr id="14" name="Shape 12"/>
          <p:cNvSpPr/>
          <p:nvPr/>
        </p:nvSpPr>
        <p:spPr>
          <a:xfrm>
            <a:off x="457200" y="4389120"/>
            <a:ext cx="11247120" cy="1737360"/>
          </a:xfrm>
          <a:prstGeom prst="roundRect">
            <a:avLst>
              <a:gd name="adj" fmla="val 5263"/>
            </a:avLst>
          </a:prstGeom>
          <a:solidFill>
            <a:srgbClr val="F4F7FB"/>
          </a:solidFill>
          <a:ln w="12700">
            <a:solidFill>
              <a:srgbClr val="E2E8F0"/>
            </a:solidFill>
            <a:prstDash val="solid"/>
          </a:ln>
        </p:spPr>
      </p:sp>
      <p:sp>
        <p:nvSpPr>
          <p:cNvPr id="15" name="Text 13"/>
          <p:cNvSpPr/>
          <p:nvPr/>
        </p:nvSpPr>
        <p:spPr>
          <a:xfrm>
            <a:off x="685800" y="4480560"/>
            <a:ext cx="10972800" cy="36576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Por que essa abordagem ganha:</a:t>
            </a:r>
            <a:endParaRPr lang="en-US" sz="1300" dirty="0"/>
          </a:p>
        </p:txBody>
      </p:sp>
      <p:sp>
        <p:nvSpPr>
          <p:cNvPr id="16" name="Text 14"/>
          <p:cNvSpPr/>
          <p:nvPr/>
        </p:nvSpPr>
        <p:spPr>
          <a:xfrm>
            <a:off x="685800" y="4846320"/>
            <a:ext cx="10972800" cy="1188720"/>
          </a:xfrm>
          <a:prstGeom prst="rect">
            <a:avLst/>
          </a:prstGeom>
          <a:noFill/>
          <a:ln/>
        </p:spPr>
        <p:txBody>
          <a:bodyPr wrap="square" rtlCol="0" anchor="t"/>
          <a:lstStyle/>
          <a:p>
            <a:pPr indent="0" marL="0">
              <a:buNone/>
            </a:pPr>
            <a:r>
              <a:rPr lang="en-US" b="1" dirty="0">
                <a:solidFill>
                  <a:srgbClr val="00A896"/>
                </a:solidFill>
              </a:rPr>
              <a:t>✓ </a:t>
            </a:r>
            <a:pPr indent="0" marL="0">
              <a:buNone/>
            </a:pPr>
            <a:r>
              <a:rPr lang="en-US" sz="1200" dirty="0">
                <a:solidFill>
                  <a:srgbClr val="2A3A4A"/>
                </a:solidFill>
              </a:rPr>
              <a:t>Formato sempre o mesmo, independente do veículo (requisito Ford D1)
</a:t>
            </a:r>
            <a:pPr indent="0" marL="0">
              <a:buNone/>
            </a:pPr>
            <a:r>
              <a:rPr lang="en-US" sz="1200" b="1" dirty="0">
                <a:solidFill>
                  <a:srgbClr val="00A896"/>
                </a:solidFill>
              </a:rPr>
              <a:t>✓ </a:t>
            </a:r>
            <a:pPr indent="0" marL="0">
              <a:buNone/>
            </a:pPr>
            <a:r>
              <a:rPr lang="en-US" sz="1200" dirty="0">
                <a:solidFill>
                  <a:srgbClr val="2A3A4A"/>
                </a:solidFill>
              </a:rPr>
              <a:t>Campos sem valor aparecem como "não disponível" explícito — nada escondido
</a:t>
            </a:r>
            <a:pPr indent="0" marL="0">
              <a:buNone/>
            </a:pPr>
            <a:r>
              <a:rPr lang="en-US" sz="1200" b="1" dirty="0">
                <a:solidFill>
                  <a:srgbClr val="00A896"/>
                </a:solidFill>
              </a:rPr>
              <a:t>✓ </a:t>
            </a:r>
            <a:pPr indent="0" marL="0">
              <a:buNone/>
            </a:pPr>
            <a:r>
              <a:rPr lang="en-US" sz="1200" dirty="0">
                <a:solidFill>
                  <a:srgbClr val="2A3A4A"/>
                </a:solidFill>
              </a:rPr>
              <a:t>IA preenche automaticamente atributos vazios usando metadados do veículo
</a:t>
            </a:r>
            <a:pPr indent="0" marL="0">
              <a:buNone/>
            </a:pPr>
            <a:r>
              <a:rPr lang="en-US" sz="1200" b="1" dirty="0">
                <a:solidFill>
                  <a:srgbClr val="00A896"/>
                </a:solidFill>
              </a:rPr>
              <a:t>✓ </a:t>
            </a:r>
            <a:pPr indent="0" marL="0">
              <a:buNone/>
            </a:pPr>
            <a:r>
              <a:rPr lang="en-US" sz="1200" dirty="0">
                <a:solidFill>
                  <a:srgbClr val="2A3A4A"/>
                </a:solidFill>
              </a:rPr>
              <a:t>Comparativo visual com troféu no melhor valor de cada linha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rtlCol="0" anchor="ctr"/>
          <a:lstStyle/>
          <a:p>
            <a:pPr indent="0" marL="0">
              <a:buNone/>
            </a:pPr>
            <a:r>
              <a:rPr lang="en-US" sz="1000" b="1" spc="600" kern="0" dirty="0">
                <a:solidFill>
                  <a:srgbClr val="003478"/>
                </a:solidFill>
                <a:latin typeface="Calibri" pitchFamily="34" charset="0"/>
                <a:ea typeface="Calibri" pitchFamily="34" charset="-122"/>
                <a:cs typeface="Calibri" pitchFamily="34" charset="-120"/>
              </a:rPr>
              <a:t>DESAFIO 2 · BLOCO 02</a:t>
            </a:r>
            <a:endParaRPr lang="en-US" sz="1000" dirty="0"/>
          </a:p>
        </p:txBody>
      </p:sp>
      <p:sp>
        <p:nvSpPr>
          <p:cNvPr id="3" name="Text 1"/>
          <p:cNvSpPr/>
          <p:nvPr/>
        </p:nvSpPr>
        <p:spPr>
          <a:xfrm>
            <a:off x="457200" y="685800"/>
            <a:ext cx="10972800" cy="914400"/>
          </a:xfrm>
          <a:prstGeom prst="rect">
            <a:avLst/>
          </a:prstGeom>
          <a:noFill/>
          <a:ln/>
        </p:spPr>
        <p:txBody>
          <a:bodyPr wrap="square" rtlCol="0" anchor="t"/>
          <a:lstStyle/>
          <a:p>
            <a:pPr indent="0" marL="0">
              <a:buNone/>
            </a:pPr>
            <a:r>
              <a:rPr lang="en-US" sz="3200" b="1" dirty="0">
                <a:solidFill>
                  <a:srgbClr val="0A1628"/>
                </a:solidFill>
                <a:latin typeface="Calibri" pitchFamily="34" charset="0"/>
                <a:ea typeface="Calibri" pitchFamily="34" charset="-122"/>
                <a:cs typeface="Calibri" pitchFamily="34" charset="-120"/>
              </a:rPr>
              <a:t>Retenção VIN Share com ML real</a:t>
            </a:r>
            <a:endParaRPr lang="en-US" sz="3200" dirty="0"/>
          </a:p>
        </p:txBody>
      </p:sp>
      <p:sp>
        <p:nvSpPr>
          <p:cNvPr id="4" name="Shape 2"/>
          <p:cNvSpPr/>
          <p:nvPr/>
        </p:nvSpPr>
        <p:spPr>
          <a:xfrm>
            <a:off x="11155680" y="320040"/>
            <a:ext cx="594360" cy="411480"/>
          </a:xfrm>
          <a:prstGeom prst="roundRect">
            <a:avLst>
              <a:gd name="adj" fmla="val 17778"/>
            </a:avLst>
          </a:prstGeom>
          <a:solidFill>
            <a:srgbClr val="003478"/>
          </a:solidFill>
          <a:ln w="12700">
            <a:solidFill>
              <a:srgbClr val="003478"/>
            </a:solidFill>
            <a:prstDash val="solid"/>
          </a:ln>
        </p:spPr>
      </p:sp>
      <p:sp>
        <p:nvSpPr>
          <p:cNvPr id="5" name="Text 3"/>
          <p:cNvSpPr/>
          <p:nvPr/>
        </p:nvSpPr>
        <p:spPr>
          <a:xfrm>
            <a:off x="11155680" y="320040"/>
            <a:ext cx="59436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a:t>
            </a:r>
            <a:endParaRPr lang="en-US" sz="1400" dirty="0"/>
          </a:p>
        </p:txBody>
      </p:sp>
      <p:sp>
        <p:nvSpPr>
          <p:cNvPr id="6" name="Text 4"/>
          <p:cNvSpPr/>
          <p:nvPr/>
        </p:nvSpPr>
        <p:spPr>
          <a:xfrm>
            <a:off x="457200" y="6446520"/>
            <a:ext cx="11247120" cy="27432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Faro AI · 6 / 14</a:t>
            </a:r>
            <a:endParaRPr lang="en-US" sz="900" dirty="0"/>
          </a:p>
        </p:txBody>
      </p:sp>
      <p:sp>
        <p:nvSpPr>
          <p:cNvPr id="7" name="Text 5"/>
          <p:cNvSpPr/>
          <p:nvPr/>
        </p:nvSpPr>
        <p:spPr>
          <a:xfrm>
            <a:off x="457200" y="1691640"/>
            <a:ext cx="11247120" cy="914400"/>
          </a:xfrm>
          <a:prstGeom prst="rect">
            <a:avLst/>
          </a:prstGeom>
          <a:noFill/>
          <a:ln/>
        </p:spPr>
        <p:txBody>
          <a:bodyPr wrap="square" rtlCol="0" anchor="ctr"/>
          <a:lstStyle/>
          <a:p>
            <a:pPr indent="0" marL="0">
              <a:buNone/>
            </a:pPr>
            <a:r>
              <a:rPr lang="en-US" sz="1300" dirty="0">
                <a:solidFill>
                  <a:srgbClr val="2A3A4A"/>
                </a:solidFill>
                <a:latin typeface="Calibri" pitchFamily="34" charset="0"/>
                <a:ea typeface="Calibri" pitchFamily="34" charset="-122"/>
                <a:cs typeface="Calibri" pitchFamily="34" charset="-120"/>
              </a:rPr>
              <a:t>Ingerimos os 175.554 VINs reais do dataset vin_share_Desafio_02.xlsx. Treinamos XGBoost que classifica cada cliente em 1 de 4 perfis comportamentais — usando APENAS dados disponíveis no momento da compra (zero data leakage).</a:t>
            </a:r>
            <a:endParaRPr lang="en-US" sz="1300" dirty="0"/>
          </a:p>
        </p:txBody>
      </p:sp>
      <p:sp>
        <p:nvSpPr>
          <p:cNvPr id="8" name="Shape 6"/>
          <p:cNvSpPr/>
          <p:nvPr/>
        </p:nvSpPr>
        <p:spPr>
          <a:xfrm>
            <a:off x="457200" y="2743200"/>
            <a:ext cx="5486400" cy="1371600"/>
          </a:xfrm>
          <a:prstGeom prst="roundRect">
            <a:avLst>
              <a:gd name="adj" fmla="val 6667"/>
            </a:avLst>
          </a:prstGeom>
          <a:solidFill>
            <a:srgbClr val="F4F7FB"/>
          </a:solidFill>
          <a:ln w="12700">
            <a:solidFill>
              <a:srgbClr val="E2E8F0"/>
            </a:solidFill>
            <a:prstDash val="solid"/>
          </a:ln>
        </p:spPr>
      </p:sp>
      <p:sp>
        <p:nvSpPr>
          <p:cNvPr id="9" name="Shape 7"/>
          <p:cNvSpPr/>
          <p:nvPr/>
        </p:nvSpPr>
        <p:spPr>
          <a:xfrm>
            <a:off x="457200" y="2743200"/>
            <a:ext cx="137160" cy="1371600"/>
          </a:xfrm>
          <a:prstGeom prst="rect">
            <a:avLst/>
          </a:prstGeom>
          <a:solidFill>
            <a:srgbClr val="00A896"/>
          </a:solidFill>
          <a:ln w="12700">
            <a:solidFill>
              <a:srgbClr val="00A896"/>
            </a:solidFill>
            <a:prstDash val="solid"/>
          </a:ln>
        </p:spPr>
      </p:sp>
      <p:sp>
        <p:nvSpPr>
          <p:cNvPr id="10" name="Text 8"/>
          <p:cNvSpPr/>
          <p:nvPr/>
        </p:nvSpPr>
        <p:spPr>
          <a:xfrm>
            <a:off x="731520" y="2880360"/>
            <a:ext cx="2743200" cy="365760"/>
          </a:xfrm>
          <a:prstGeom prst="rect">
            <a:avLst/>
          </a:prstGeom>
          <a:noFill/>
          <a:ln/>
        </p:spPr>
        <p:txBody>
          <a:bodyPr wrap="square" rtlCol="0" anchor="ctr"/>
          <a:lstStyle/>
          <a:p>
            <a:pPr indent="0" marL="0">
              <a:buNone/>
            </a:pPr>
            <a:r>
              <a:rPr lang="en-US" sz="1400" b="1" spc="400" kern="0" dirty="0">
                <a:solidFill>
                  <a:srgbClr val="0A1628"/>
                </a:solidFill>
                <a:latin typeface="Calibri" pitchFamily="34" charset="0"/>
                <a:ea typeface="Calibri" pitchFamily="34" charset="-122"/>
                <a:cs typeface="Calibri" pitchFamily="34" charset="-120"/>
              </a:rPr>
              <a:t>FIEL</a:t>
            </a:r>
            <a:endParaRPr lang="en-US" sz="1400" dirty="0"/>
          </a:p>
        </p:txBody>
      </p:sp>
      <p:sp>
        <p:nvSpPr>
          <p:cNvPr id="11" name="Text 9"/>
          <p:cNvSpPr/>
          <p:nvPr/>
        </p:nvSpPr>
        <p:spPr>
          <a:xfrm>
            <a:off x="3657600" y="2880360"/>
            <a:ext cx="2194560" cy="457200"/>
          </a:xfrm>
          <a:prstGeom prst="rect">
            <a:avLst/>
          </a:prstGeom>
          <a:noFill/>
          <a:ln/>
        </p:spPr>
        <p:txBody>
          <a:bodyPr wrap="square" rtlCol="0" anchor="ctr"/>
          <a:lstStyle/>
          <a:p>
            <a:pPr algn="r" indent="0" marL="0">
              <a:buNone/>
            </a:pPr>
            <a:r>
              <a:rPr lang="en-US" sz="2200" b="1" dirty="0">
                <a:solidFill>
                  <a:srgbClr val="00A896"/>
                </a:solidFill>
                <a:latin typeface="Calibri" pitchFamily="34" charset="0"/>
                <a:ea typeface="Calibri" pitchFamily="34" charset="-122"/>
                <a:cs typeface="Calibri" pitchFamily="34" charset="-120"/>
              </a:rPr>
              <a:t>18.5%</a:t>
            </a:r>
            <a:endParaRPr lang="en-US" sz="2200" dirty="0"/>
          </a:p>
        </p:txBody>
      </p:sp>
      <p:sp>
        <p:nvSpPr>
          <p:cNvPr id="12" name="Text 10"/>
          <p:cNvSpPr/>
          <p:nvPr/>
        </p:nvSpPr>
        <p:spPr>
          <a:xfrm>
            <a:off x="731520" y="3383280"/>
            <a:ext cx="5029200" cy="640080"/>
          </a:xfrm>
          <a:prstGeom prst="rect">
            <a:avLst/>
          </a:prstGeom>
          <a:noFill/>
          <a:ln/>
        </p:spPr>
        <p:txBody>
          <a:bodyPr wrap="square" rtlCol="0" anchor="ctr"/>
          <a:lstStyle/>
          <a:p>
            <a:pPr indent="0" marL="0">
              <a:buNone/>
            </a:pPr>
            <a:r>
              <a:rPr lang="en-US" sz="1100" dirty="0">
                <a:solidFill>
                  <a:srgbClr val="2A3A4A"/>
                </a:solidFill>
                <a:latin typeface="Calibri" pitchFamily="34" charset="0"/>
                <a:ea typeface="Calibri" pitchFamily="34" charset="-122"/>
                <a:cs typeface="Calibri" pitchFamily="34" charset="-120"/>
              </a:rPr>
              <a:t>Retorna consistentemente à rede oficial</a:t>
            </a:r>
            <a:endParaRPr lang="en-US" sz="1100" dirty="0"/>
          </a:p>
        </p:txBody>
      </p:sp>
      <p:sp>
        <p:nvSpPr>
          <p:cNvPr id="13" name="Shape 11"/>
          <p:cNvSpPr/>
          <p:nvPr/>
        </p:nvSpPr>
        <p:spPr>
          <a:xfrm>
            <a:off x="6126480" y="2743200"/>
            <a:ext cx="5486400" cy="1371600"/>
          </a:xfrm>
          <a:prstGeom prst="roundRect">
            <a:avLst>
              <a:gd name="adj" fmla="val 6667"/>
            </a:avLst>
          </a:prstGeom>
          <a:solidFill>
            <a:srgbClr val="F4F7FB"/>
          </a:solidFill>
          <a:ln w="12700">
            <a:solidFill>
              <a:srgbClr val="E2E8F0"/>
            </a:solidFill>
            <a:prstDash val="solid"/>
          </a:ln>
        </p:spPr>
      </p:sp>
      <p:sp>
        <p:nvSpPr>
          <p:cNvPr id="14" name="Shape 12"/>
          <p:cNvSpPr/>
          <p:nvPr/>
        </p:nvSpPr>
        <p:spPr>
          <a:xfrm>
            <a:off x="6126480" y="2743200"/>
            <a:ext cx="137160" cy="1371600"/>
          </a:xfrm>
          <a:prstGeom prst="rect">
            <a:avLst/>
          </a:prstGeom>
          <a:solidFill>
            <a:srgbClr val="F4A11A"/>
          </a:solidFill>
          <a:ln w="12700">
            <a:solidFill>
              <a:srgbClr val="F4A11A"/>
            </a:solidFill>
            <a:prstDash val="solid"/>
          </a:ln>
        </p:spPr>
      </p:sp>
      <p:sp>
        <p:nvSpPr>
          <p:cNvPr id="15" name="Text 13"/>
          <p:cNvSpPr/>
          <p:nvPr/>
        </p:nvSpPr>
        <p:spPr>
          <a:xfrm>
            <a:off x="6400800" y="2880360"/>
            <a:ext cx="2743200" cy="365760"/>
          </a:xfrm>
          <a:prstGeom prst="rect">
            <a:avLst/>
          </a:prstGeom>
          <a:noFill/>
          <a:ln/>
        </p:spPr>
        <p:txBody>
          <a:bodyPr wrap="square" rtlCol="0" anchor="ctr"/>
          <a:lstStyle/>
          <a:p>
            <a:pPr indent="0" marL="0">
              <a:buNone/>
            </a:pPr>
            <a:r>
              <a:rPr lang="en-US" sz="1400" b="1" spc="400" kern="0" dirty="0">
                <a:solidFill>
                  <a:srgbClr val="0A1628"/>
                </a:solidFill>
                <a:latin typeface="Calibri" pitchFamily="34" charset="0"/>
                <a:ea typeface="Calibri" pitchFamily="34" charset="-122"/>
                <a:cs typeface="Calibri" pitchFamily="34" charset="-120"/>
              </a:rPr>
              <a:t>ESQUECIDO</a:t>
            </a:r>
            <a:endParaRPr lang="en-US" sz="1400" dirty="0"/>
          </a:p>
        </p:txBody>
      </p:sp>
      <p:sp>
        <p:nvSpPr>
          <p:cNvPr id="16" name="Text 14"/>
          <p:cNvSpPr/>
          <p:nvPr/>
        </p:nvSpPr>
        <p:spPr>
          <a:xfrm>
            <a:off x="9326880" y="2880360"/>
            <a:ext cx="2194560" cy="457200"/>
          </a:xfrm>
          <a:prstGeom prst="rect">
            <a:avLst/>
          </a:prstGeom>
          <a:noFill/>
          <a:ln/>
        </p:spPr>
        <p:txBody>
          <a:bodyPr wrap="square" rtlCol="0" anchor="ctr"/>
          <a:lstStyle/>
          <a:p>
            <a:pPr algn="r" indent="0" marL="0">
              <a:buNone/>
            </a:pPr>
            <a:r>
              <a:rPr lang="en-US" sz="2200" b="1" dirty="0">
                <a:solidFill>
                  <a:srgbClr val="F4A11A"/>
                </a:solidFill>
                <a:latin typeface="Calibri" pitchFamily="34" charset="0"/>
                <a:ea typeface="Calibri" pitchFamily="34" charset="-122"/>
                <a:cs typeface="Calibri" pitchFamily="34" charset="-120"/>
              </a:rPr>
              <a:t>55.4%</a:t>
            </a:r>
            <a:endParaRPr lang="en-US" sz="2200" dirty="0"/>
          </a:p>
        </p:txBody>
      </p:sp>
      <p:sp>
        <p:nvSpPr>
          <p:cNvPr id="17" name="Text 15"/>
          <p:cNvSpPr/>
          <p:nvPr/>
        </p:nvSpPr>
        <p:spPr>
          <a:xfrm>
            <a:off x="6400800" y="3383280"/>
            <a:ext cx="5029200" cy="640080"/>
          </a:xfrm>
          <a:prstGeom prst="rect">
            <a:avLst/>
          </a:prstGeom>
          <a:noFill/>
          <a:ln/>
        </p:spPr>
        <p:txBody>
          <a:bodyPr wrap="square" rtlCol="0" anchor="ctr"/>
          <a:lstStyle/>
          <a:p>
            <a:pPr indent="0" marL="0">
              <a:buNone/>
            </a:pPr>
            <a:r>
              <a:rPr lang="en-US" sz="1100" dirty="0">
                <a:solidFill>
                  <a:srgbClr val="2A3A4A"/>
                </a:solidFill>
                <a:latin typeface="Calibri" pitchFamily="34" charset="0"/>
                <a:ea typeface="Calibri" pitchFamily="34" charset="-122"/>
                <a:cs typeface="Calibri" pitchFamily="34" charset="-120"/>
              </a:rPr>
              <a:t>Perde timing — recuperável com lembrete</a:t>
            </a:r>
            <a:endParaRPr lang="en-US" sz="1100" dirty="0"/>
          </a:p>
        </p:txBody>
      </p:sp>
      <p:sp>
        <p:nvSpPr>
          <p:cNvPr id="18" name="Shape 16"/>
          <p:cNvSpPr/>
          <p:nvPr/>
        </p:nvSpPr>
        <p:spPr>
          <a:xfrm>
            <a:off x="457200" y="4297680"/>
            <a:ext cx="5486400" cy="1371600"/>
          </a:xfrm>
          <a:prstGeom prst="roundRect">
            <a:avLst>
              <a:gd name="adj" fmla="val 6667"/>
            </a:avLst>
          </a:prstGeom>
          <a:solidFill>
            <a:srgbClr val="F4F7FB"/>
          </a:solidFill>
          <a:ln w="12700">
            <a:solidFill>
              <a:srgbClr val="E2E8F0"/>
            </a:solidFill>
            <a:prstDash val="solid"/>
          </a:ln>
        </p:spPr>
      </p:sp>
      <p:sp>
        <p:nvSpPr>
          <p:cNvPr id="19" name="Shape 17"/>
          <p:cNvSpPr/>
          <p:nvPr/>
        </p:nvSpPr>
        <p:spPr>
          <a:xfrm>
            <a:off x="457200" y="4297680"/>
            <a:ext cx="137160" cy="1371600"/>
          </a:xfrm>
          <a:prstGeom prst="rect">
            <a:avLst/>
          </a:prstGeom>
          <a:solidFill>
            <a:srgbClr val="4A90E2"/>
          </a:solidFill>
          <a:ln w="12700">
            <a:solidFill>
              <a:srgbClr val="4A90E2"/>
            </a:solidFill>
            <a:prstDash val="solid"/>
          </a:ln>
        </p:spPr>
      </p:sp>
      <p:sp>
        <p:nvSpPr>
          <p:cNvPr id="20" name="Text 18"/>
          <p:cNvSpPr/>
          <p:nvPr/>
        </p:nvSpPr>
        <p:spPr>
          <a:xfrm>
            <a:off x="731520" y="4434840"/>
            <a:ext cx="2743200" cy="365760"/>
          </a:xfrm>
          <a:prstGeom prst="rect">
            <a:avLst/>
          </a:prstGeom>
          <a:noFill/>
          <a:ln/>
        </p:spPr>
        <p:txBody>
          <a:bodyPr wrap="square" rtlCol="0" anchor="ctr"/>
          <a:lstStyle/>
          <a:p>
            <a:pPr indent="0" marL="0">
              <a:buNone/>
            </a:pPr>
            <a:r>
              <a:rPr lang="en-US" sz="1400" b="1" spc="400" kern="0" dirty="0">
                <a:solidFill>
                  <a:srgbClr val="0A1628"/>
                </a:solidFill>
                <a:latin typeface="Calibri" pitchFamily="34" charset="0"/>
                <a:ea typeface="Calibri" pitchFamily="34" charset="-122"/>
                <a:cs typeface="Calibri" pitchFamily="34" charset="-120"/>
              </a:rPr>
              <a:t>ECONÔMICO</a:t>
            </a:r>
            <a:endParaRPr lang="en-US" sz="1400" dirty="0"/>
          </a:p>
        </p:txBody>
      </p:sp>
      <p:sp>
        <p:nvSpPr>
          <p:cNvPr id="21" name="Text 19"/>
          <p:cNvSpPr/>
          <p:nvPr/>
        </p:nvSpPr>
        <p:spPr>
          <a:xfrm>
            <a:off x="3657600" y="4434840"/>
            <a:ext cx="2194560" cy="457200"/>
          </a:xfrm>
          <a:prstGeom prst="rect">
            <a:avLst/>
          </a:prstGeom>
          <a:noFill/>
          <a:ln/>
        </p:spPr>
        <p:txBody>
          <a:bodyPr wrap="square" rtlCol="0" anchor="ctr"/>
          <a:lstStyle/>
          <a:p>
            <a:pPr algn="r" indent="0" marL="0">
              <a:buNone/>
            </a:pPr>
            <a:r>
              <a:rPr lang="en-US" sz="2200" b="1" dirty="0">
                <a:solidFill>
                  <a:srgbClr val="4A90E2"/>
                </a:solidFill>
                <a:latin typeface="Calibri" pitchFamily="34" charset="0"/>
                <a:ea typeface="Calibri" pitchFamily="34" charset="-122"/>
                <a:cs typeface="Calibri" pitchFamily="34" charset="-120"/>
              </a:rPr>
              <a:t>14.9%</a:t>
            </a:r>
            <a:endParaRPr lang="en-US" sz="2200" dirty="0"/>
          </a:p>
        </p:txBody>
      </p:sp>
      <p:sp>
        <p:nvSpPr>
          <p:cNvPr id="22" name="Text 20"/>
          <p:cNvSpPr/>
          <p:nvPr/>
        </p:nvSpPr>
        <p:spPr>
          <a:xfrm>
            <a:off x="731520" y="4937760"/>
            <a:ext cx="5029200" cy="640080"/>
          </a:xfrm>
          <a:prstGeom prst="rect">
            <a:avLst/>
          </a:prstGeom>
          <a:noFill/>
          <a:ln/>
        </p:spPr>
        <p:txBody>
          <a:bodyPr wrap="square" rtlCol="0" anchor="ctr"/>
          <a:lstStyle/>
          <a:p>
            <a:pPr indent="0" marL="0">
              <a:buNone/>
            </a:pPr>
            <a:r>
              <a:rPr lang="en-US" sz="1100" dirty="0">
                <a:solidFill>
                  <a:srgbClr val="2A3A4A"/>
                </a:solidFill>
                <a:latin typeface="Calibri" pitchFamily="34" charset="0"/>
                <a:ea typeface="Calibri" pitchFamily="34" charset="-122"/>
                <a:cs typeface="Calibri" pitchFamily="34" charset="-120"/>
              </a:rPr>
              <a:t>Sensível a preço, vínculo frágil</a:t>
            </a:r>
            <a:endParaRPr lang="en-US" sz="1100" dirty="0"/>
          </a:p>
        </p:txBody>
      </p:sp>
      <p:sp>
        <p:nvSpPr>
          <p:cNvPr id="23" name="Shape 21"/>
          <p:cNvSpPr/>
          <p:nvPr/>
        </p:nvSpPr>
        <p:spPr>
          <a:xfrm>
            <a:off x="6126480" y="4297680"/>
            <a:ext cx="5486400" cy="1371600"/>
          </a:xfrm>
          <a:prstGeom prst="roundRect">
            <a:avLst>
              <a:gd name="adj" fmla="val 6667"/>
            </a:avLst>
          </a:prstGeom>
          <a:solidFill>
            <a:srgbClr val="F4F7FB"/>
          </a:solidFill>
          <a:ln w="12700">
            <a:solidFill>
              <a:srgbClr val="E2E8F0"/>
            </a:solidFill>
            <a:prstDash val="solid"/>
          </a:ln>
        </p:spPr>
      </p:sp>
      <p:sp>
        <p:nvSpPr>
          <p:cNvPr id="24" name="Shape 22"/>
          <p:cNvSpPr/>
          <p:nvPr/>
        </p:nvSpPr>
        <p:spPr>
          <a:xfrm>
            <a:off x="6126480" y="4297680"/>
            <a:ext cx="137160" cy="1371600"/>
          </a:xfrm>
          <a:prstGeom prst="rect">
            <a:avLst/>
          </a:prstGeom>
          <a:solidFill>
            <a:srgbClr val="E63946"/>
          </a:solidFill>
          <a:ln w="12700">
            <a:solidFill>
              <a:srgbClr val="E63946"/>
            </a:solidFill>
            <a:prstDash val="solid"/>
          </a:ln>
        </p:spPr>
      </p:sp>
      <p:sp>
        <p:nvSpPr>
          <p:cNvPr id="25" name="Text 23"/>
          <p:cNvSpPr/>
          <p:nvPr/>
        </p:nvSpPr>
        <p:spPr>
          <a:xfrm>
            <a:off x="6400800" y="4434840"/>
            <a:ext cx="2743200" cy="365760"/>
          </a:xfrm>
          <a:prstGeom prst="rect">
            <a:avLst/>
          </a:prstGeom>
          <a:noFill/>
          <a:ln/>
        </p:spPr>
        <p:txBody>
          <a:bodyPr wrap="square" rtlCol="0" anchor="ctr"/>
          <a:lstStyle/>
          <a:p>
            <a:pPr indent="0" marL="0">
              <a:buNone/>
            </a:pPr>
            <a:r>
              <a:rPr lang="en-US" sz="1400" b="1" spc="400" kern="0" dirty="0">
                <a:solidFill>
                  <a:srgbClr val="0A1628"/>
                </a:solidFill>
                <a:latin typeface="Calibri" pitchFamily="34" charset="0"/>
                <a:ea typeface="Calibri" pitchFamily="34" charset="-122"/>
                <a:cs typeface="Calibri" pitchFamily="34" charset="-120"/>
              </a:rPr>
              <a:t>ABANDONO</a:t>
            </a:r>
            <a:endParaRPr lang="en-US" sz="1400" dirty="0"/>
          </a:p>
        </p:txBody>
      </p:sp>
      <p:sp>
        <p:nvSpPr>
          <p:cNvPr id="26" name="Text 24"/>
          <p:cNvSpPr/>
          <p:nvPr/>
        </p:nvSpPr>
        <p:spPr>
          <a:xfrm>
            <a:off x="9326880" y="4434840"/>
            <a:ext cx="2194560" cy="457200"/>
          </a:xfrm>
          <a:prstGeom prst="rect">
            <a:avLst/>
          </a:prstGeom>
          <a:noFill/>
          <a:ln/>
        </p:spPr>
        <p:txBody>
          <a:bodyPr wrap="square" rtlCol="0" anchor="ctr"/>
          <a:lstStyle/>
          <a:p>
            <a:pPr algn="r" indent="0" marL="0">
              <a:buNone/>
            </a:pPr>
            <a:r>
              <a:rPr lang="en-US" sz="2200" b="1" dirty="0">
                <a:solidFill>
                  <a:srgbClr val="E63946"/>
                </a:solidFill>
                <a:latin typeface="Calibri" pitchFamily="34" charset="0"/>
                <a:ea typeface="Calibri" pitchFamily="34" charset="-122"/>
                <a:cs typeface="Calibri" pitchFamily="34" charset="-120"/>
              </a:rPr>
              <a:t>11.3%</a:t>
            </a:r>
            <a:endParaRPr lang="en-US" sz="2200" dirty="0"/>
          </a:p>
        </p:txBody>
      </p:sp>
      <p:sp>
        <p:nvSpPr>
          <p:cNvPr id="27" name="Text 25"/>
          <p:cNvSpPr/>
          <p:nvPr/>
        </p:nvSpPr>
        <p:spPr>
          <a:xfrm>
            <a:off x="6400800" y="4937760"/>
            <a:ext cx="5029200" cy="640080"/>
          </a:xfrm>
          <a:prstGeom prst="rect">
            <a:avLst/>
          </a:prstGeom>
          <a:noFill/>
          <a:ln/>
        </p:spPr>
        <p:txBody>
          <a:bodyPr wrap="square" rtlCol="0" anchor="ctr"/>
          <a:lstStyle/>
          <a:p>
            <a:pPr indent="0" marL="0">
              <a:buNone/>
            </a:pPr>
            <a:r>
              <a:rPr lang="en-US" sz="1100" dirty="0">
                <a:solidFill>
                  <a:srgbClr val="2A3A4A"/>
                </a:solidFill>
                <a:latin typeface="Calibri" pitchFamily="34" charset="0"/>
                <a:ea typeface="Calibri" pitchFamily="34" charset="-122"/>
                <a:cs typeface="Calibri" pitchFamily="34" charset="-120"/>
              </a:rPr>
              <a:t>Migra após 1ª revisão — ação no mesmo dia</a:t>
            </a:r>
            <a:endParaRPr lang="en-US" sz="1100" dirty="0"/>
          </a:p>
        </p:txBody>
      </p:sp>
      <p:sp>
        <p:nvSpPr>
          <p:cNvPr id="28" name="Text 26"/>
          <p:cNvSpPr/>
          <p:nvPr/>
        </p:nvSpPr>
        <p:spPr>
          <a:xfrm>
            <a:off x="457200" y="5943600"/>
            <a:ext cx="11247120" cy="365760"/>
          </a:xfrm>
          <a:prstGeom prst="rect">
            <a:avLst/>
          </a:prstGeom>
          <a:noFill/>
          <a:ln/>
        </p:spPr>
        <p:txBody>
          <a:bodyPr wrap="square" rtlCol="0" anchor="ctr"/>
          <a:lstStyle/>
          <a:p>
            <a:pPr algn="ctr" indent="0" marL="0">
              <a:buNone/>
            </a:pPr>
            <a:r>
              <a:rPr lang="en-US" sz="1200" dirty="0">
                <a:solidFill>
                  <a:srgbClr val="4A5A6B"/>
                </a:solidFill>
              </a:rPr>
              <a:t>Acurácia do XGBoost real: </a:t>
            </a:r>
            <a:pPr algn="ctr" indent="0" marL="0">
              <a:buNone/>
            </a:pPr>
            <a:r>
              <a:rPr lang="en-US" sz="1400" b="1" dirty="0">
                <a:solidFill>
                  <a:srgbClr val="E63946"/>
                </a:solidFill>
              </a:rPr>
              <a:t>62,7%</a:t>
            </a:r>
            <a:pPr algn="ctr" indent="0" marL="0">
              <a:buNone/>
            </a:pPr>
            <a:r>
              <a:rPr lang="en-US" sz="1200" dirty="0">
                <a:solidFill>
                  <a:srgbClr val="4A5A6B"/>
                </a:solidFill>
              </a:rPr>
              <a:t>   ·   F1-weighted: </a:t>
            </a:r>
            <a:pPr algn="ctr" indent="0" marL="0">
              <a:buNone/>
            </a:pPr>
            <a:r>
              <a:rPr lang="en-US" sz="1400" b="1" dirty="0">
                <a:solidFill>
                  <a:srgbClr val="0A1628"/>
                </a:solidFill>
              </a:rPr>
              <a:t>0,60</a:t>
            </a:r>
            <a:pPr algn="ctr" indent="0" marL="0">
              <a:buNone/>
            </a:pPr>
            <a:r>
              <a:rPr lang="en-US" sz="1200" dirty="0">
                <a:solidFill>
                  <a:srgbClr val="4A5A6B"/>
                </a:solidFill>
              </a:rPr>
              <a:t>   ·   Amostras: </a:t>
            </a:r>
            <a:pPr algn="ctr" indent="0" marL="0">
              <a:buNone/>
            </a:pPr>
            <a:r>
              <a:rPr lang="en-US" sz="1400" b="1" dirty="0">
                <a:solidFill>
                  <a:srgbClr val="0A1628"/>
                </a:solidFill>
              </a:rPr>
              <a:t>140k treino · 35k teste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rtlCol="0" anchor="ctr"/>
          <a:lstStyle/>
          <a:p>
            <a:pPr indent="0" marL="0">
              <a:buNone/>
            </a:pPr>
            <a:r>
              <a:rPr lang="en-US" sz="1000" b="1" spc="600" kern="0" dirty="0">
                <a:solidFill>
                  <a:srgbClr val="003478"/>
                </a:solidFill>
                <a:latin typeface="Calibri" pitchFamily="34" charset="0"/>
                <a:ea typeface="Calibri" pitchFamily="34" charset="-122"/>
                <a:cs typeface="Calibri" pitchFamily="34" charset="-120"/>
              </a:rPr>
              <a:t>BLOCO 03 · AÇÃO REAL</a:t>
            </a:r>
            <a:endParaRPr lang="en-US" sz="1000" dirty="0"/>
          </a:p>
        </p:txBody>
      </p:sp>
      <p:sp>
        <p:nvSpPr>
          <p:cNvPr id="3" name="Text 1"/>
          <p:cNvSpPr/>
          <p:nvPr/>
        </p:nvSpPr>
        <p:spPr>
          <a:xfrm>
            <a:off x="457200" y="685800"/>
            <a:ext cx="10972800" cy="914400"/>
          </a:xfrm>
          <a:prstGeom prst="rect">
            <a:avLst/>
          </a:prstGeom>
          <a:noFill/>
          <a:ln/>
        </p:spPr>
        <p:txBody>
          <a:bodyPr wrap="square" rtlCol="0" anchor="t"/>
          <a:lstStyle/>
          <a:p>
            <a:pPr indent="0" marL="0">
              <a:buNone/>
            </a:pPr>
            <a:r>
              <a:rPr lang="en-US" sz="3200" b="1" dirty="0">
                <a:solidFill>
                  <a:srgbClr val="0A1628"/>
                </a:solidFill>
                <a:latin typeface="Calibri" pitchFamily="34" charset="0"/>
                <a:ea typeface="Calibri" pitchFamily="34" charset="-122"/>
                <a:cs typeface="Calibri" pitchFamily="34" charset="-120"/>
              </a:rPr>
              <a:t>Do dado à ação — loop fechado</a:t>
            </a:r>
            <a:endParaRPr lang="en-US" sz="3200" dirty="0"/>
          </a:p>
        </p:txBody>
      </p:sp>
      <p:sp>
        <p:nvSpPr>
          <p:cNvPr id="4" name="Shape 2"/>
          <p:cNvSpPr/>
          <p:nvPr/>
        </p:nvSpPr>
        <p:spPr>
          <a:xfrm>
            <a:off x="11155680" y="320040"/>
            <a:ext cx="594360" cy="411480"/>
          </a:xfrm>
          <a:prstGeom prst="roundRect">
            <a:avLst>
              <a:gd name="adj" fmla="val 17778"/>
            </a:avLst>
          </a:prstGeom>
          <a:solidFill>
            <a:srgbClr val="003478"/>
          </a:solidFill>
          <a:ln w="12700">
            <a:solidFill>
              <a:srgbClr val="003478"/>
            </a:solidFill>
            <a:prstDash val="solid"/>
          </a:ln>
        </p:spPr>
      </p:sp>
      <p:sp>
        <p:nvSpPr>
          <p:cNvPr id="5" name="Text 3"/>
          <p:cNvSpPr/>
          <p:nvPr/>
        </p:nvSpPr>
        <p:spPr>
          <a:xfrm>
            <a:off x="11155680" y="320040"/>
            <a:ext cx="59436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a:t>
            </a:r>
            <a:endParaRPr lang="en-US" sz="1400" dirty="0"/>
          </a:p>
        </p:txBody>
      </p:sp>
      <p:sp>
        <p:nvSpPr>
          <p:cNvPr id="6" name="Text 4"/>
          <p:cNvSpPr/>
          <p:nvPr/>
        </p:nvSpPr>
        <p:spPr>
          <a:xfrm>
            <a:off x="457200" y="6446520"/>
            <a:ext cx="11247120" cy="27432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Faro AI · 7 / 14</a:t>
            </a:r>
            <a:endParaRPr lang="en-US" sz="900" dirty="0"/>
          </a:p>
        </p:txBody>
      </p:sp>
      <p:sp>
        <p:nvSpPr>
          <p:cNvPr id="7" name="Text 5"/>
          <p:cNvSpPr/>
          <p:nvPr/>
        </p:nvSpPr>
        <p:spPr>
          <a:xfrm>
            <a:off x="457200" y="1828800"/>
            <a:ext cx="5029200" cy="914400"/>
          </a:xfrm>
          <a:prstGeom prst="rect">
            <a:avLst/>
          </a:prstGeom>
          <a:noFill/>
          <a:ln/>
        </p:spPr>
        <p:txBody>
          <a:bodyPr wrap="square" rtlCol="0" anchor="t"/>
          <a:lstStyle/>
          <a:p>
            <a:pPr algn="l" indent="0" marL="0">
              <a:buNone/>
            </a:pPr>
            <a:r>
              <a:rPr lang="en-US" sz="5600" b="1" dirty="0">
                <a:solidFill>
                  <a:srgbClr val="E63946"/>
                </a:solidFill>
                <a:latin typeface="Calibri" pitchFamily="34" charset="0"/>
                <a:ea typeface="Calibri" pitchFamily="34" charset="-122"/>
                <a:cs typeface="Calibri" pitchFamily="34" charset="-120"/>
              </a:rPr>
              <a:t>135.839</a:t>
            </a:r>
            <a:endParaRPr lang="en-US" sz="5600" dirty="0"/>
          </a:p>
        </p:txBody>
      </p:sp>
      <p:sp>
        <p:nvSpPr>
          <p:cNvPr id="8" name="Text 6"/>
          <p:cNvSpPr/>
          <p:nvPr/>
        </p:nvSpPr>
        <p:spPr>
          <a:xfrm>
            <a:off x="457200" y="2697480"/>
            <a:ext cx="5029200" cy="365760"/>
          </a:xfrm>
          <a:prstGeom prst="rect">
            <a:avLst/>
          </a:prstGeom>
          <a:noFill/>
          <a:ln/>
        </p:spPr>
        <p:txBody>
          <a:bodyPr wrap="square" rtlCol="0" anchor="ctr"/>
          <a:lstStyle/>
          <a:p>
            <a:pPr indent="0" marL="0">
              <a:buNone/>
            </a:pPr>
            <a:r>
              <a:rPr lang="en-US" sz="1100" b="1" spc="400" kern="0" dirty="0">
                <a:solidFill>
                  <a:srgbClr val="4A5A6B"/>
                </a:solidFill>
                <a:latin typeface="Calibri" pitchFamily="34" charset="0"/>
                <a:ea typeface="Calibri" pitchFamily="34" charset="-122"/>
                <a:cs typeface="Calibri" pitchFamily="34" charset="-120"/>
              </a:rPr>
              <a:t>LEADS DETECTADOS NA BASE</a:t>
            </a:r>
            <a:endParaRPr lang="en-US" sz="1100" dirty="0"/>
          </a:p>
        </p:txBody>
      </p:sp>
      <p:sp>
        <p:nvSpPr>
          <p:cNvPr id="9" name="Text 7"/>
          <p:cNvSpPr/>
          <p:nvPr/>
        </p:nvSpPr>
        <p:spPr>
          <a:xfrm>
            <a:off x="457200" y="3291840"/>
            <a:ext cx="5029200" cy="1645920"/>
          </a:xfrm>
          <a:prstGeom prst="rect">
            <a:avLst/>
          </a:prstGeom>
          <a:noFill/>
          <a:ln/>
        </p:spPr>
        <p:txBody>
          <a:bodyPr wrap="square" rtlCol="0" anchor="t"/>
          <a:lstStyle/>
          <a:p>
            <a:pPr indent="0" marL="0">
              <a:buNone/>
            </a:pPr>
            <a:r>
              <a:rPr lang="en-US" sz="1200" dirty="0">
                <a:solidFill>
                  <a:srgbClr val="2A3A4A"/>
                </a:solidFill>
                <a:latin typeface="Calibri" pitchFamily="34" charset="0"/>
                <a:ea typeface="Calibri" pitchFamily="34" charset="-122"/>
                <a:cs typeface="Calibri" pitchFamily="34" charset="-120"/>
              </a:rPr>
              <a:t>Risco composto = perfil_real (XGBoost) + 6 sinais operacionais (revisão atrasada, garantia vencendo, dealer loyalty baixa…). Cada lead exibe POR QUE está no topo — IA explicável.</a:t>
            </a:r>
            <a:endParaRPr lang="en-US" sz="1200" dirty="0"/>
          </a:p>
        </p:txBody>
      </p:sp>
      <p:sp>
        <p:nvSpPr>
          <p:cNvPr id="10" name="Shape 8"/>
          <p:cNvSpPr/>
          <p:nvPr/>
        </p:nvSpPr>
        <p:spPr>
          <a:xfrm>
            <a:off x="5943600" y="1828800"/>
            <a:ext cx="5760720" cy="4297680"/>
          </a:xfrm>
          <a:prstGeom prst="roundRect">
            <a:avLst>
              <a:gd name="adj" fmla="val 2128"/>
            </a:avLst>
          </a:prstGeom>
          <a:solidFill>
            <a:srgbClr val="F4F7FB"/>
          </a:solidFill>
          <a:ln w="12700">
            <a:solidFill>
              <a:srgbClr val="E2E8F0"/>
            </a:solidFill>
            <a:prstDash val="solid"/>
          </a:ln>
        </p:spPr>
      </p:sp>
      <p:sp>
        <p:nvSpPr>
          <p:cNvPr id="11" name="Text 9"/>
          <p:cNvSpPr/>
          <p:nvPr/>
        </p:nvSpPr>
        <p:spPr>
          <a:xfrm>
            <a:off x="6172200" y="1965960"/>
            <a:ext cx="5486400" cy="36576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Pipeline de ação operacional</a:t>
            </a:r>
            <a:endParaRPr lang="en-US" sz="1300" dirty="0"/>
          </a:p>
        </p:txBody>
      </p:sp>
      <p:sp>
        <p:nvSpPr>
          <p:cNvPr id="12" name="Shape 10"/>
          <p:cNvSpPr/>
          <p:nvPr/>
        </p:nvSpPr>
        <p:spPr>
          <a:xfrm>
            <a:off x="6172200" y="2468880"/>
            <a:ext cx="548640" cy="548640"/>
          </a:xfrm>
          <a:prstGeom prst="roundRect">
            <a:avLst>
              <a:gd name="adj" fmla="val 50000"/>
            </a:avLst>
          </a:prstGeom>
          <a:solidFill>
            <a:srgbClr val="003478"/>
          </a:solidFill>
          <a:ln w="12700">
            <a:solidFill>
              <a:srgbClr val="003478"/>
            </a:solidFill>
            <a:prstDash val="solid"/>
          </a:ln>
        </p:spPr>
      </p:sp>
      <p:sp>
        <p:nvSpPr>
          <p:cNvPr id="13" name="Text 11"/>
          <p:cNvSpPr/>
          <p:nvPr/>
        </p:nvSpPr>
        <p:spPr>
          <a:xfrm>
            <a:off x="6172200" y="2468880"/>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2"/>
          <p:cNvSpPr/>
          <p:nvPr/>
        </p:nvSpPr>
        <p:spPr>
          <a:xfrm>
            <a:off x="6858000" y="2468880"/>
            <a:ext cx="4754880" cy="274320"/>
          </a:xfrm>
          <a:prstGeom prst="rect">
            <a:avLst/>
          </a:prstGeom>
          <a:noFill/>
          <a:ln/>
        </p:spPr>
        <p:txBody>
          <a:bodyPr wrap="square"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Lead aparece no topo</a:t>
            </a:r>
            <a:endParaRPr lang="en-US" sz="1200" dirty="0"/>
          </a:p>
        </p:txBody>
      </p:sp>
      <p:sp>
        <p:nvSpPr>
          <p:cNvPr id="15" name="Text 13"/>
          <p:cNvSpPr/>
          <p:nvPr/>
        </p:nvSpPr>
        <p:spPr>
          <a:xfrm>
            <a:off x="6858000" y="2743200"/>
            <a:ext cx="4754880" cy="274320"/>
          </a:xfrm>
          <a:prstGeom prst="rect">
            <a:avLst/>
          </a:prstGeom>
          <a:noFill/>
          <a:ln/>
        </p:spPr>
        <p:txBody>
          <a:bodyPr wrap="square" rtlCol="0" anchor="ctr"/>
          <a:lstStyle/>
          <a:p>
            <a:pPr indent="0" marL="0">
              <a:buNone/>
            </a:pPr>
            <a:r>
              <a:rPr lang="en-US" sz="1000" dirty="0">
                <a:solidFill>
                  <a:srgbClr val="4A5A6B"/>
                </a:solidFill>
                <a:latin typeface="Calibri" pitchFamily="34" charset="0"/>
                <a:ea typeface="Calibri" pitchFamily="34" charset="-122"/>
                <a:cs typeface="Calibri" pitchFamily="34" charset="-120"/>
              </a:rPr>
              <a:t>Filtros: perfil, modelo, dealer, sinal</a:t>
            </a:r>
            <a:endParaRPr lang="en-US" sz="1000" dirty="0"/>
          </a:p>
        </p:txBody>
      </p:sp>
      <p:sp>
        <p:nvSpPr>
          <p:cNvPr id="16" name="Shape 14"/>
          <p:cNvSpPr/>
          <p:nvPr/>
        </p:nvSpPr>
        <p:spPr>
          <a:xfrm>
            <a:off x="6172200" y="3337560"/>
            <a:ext cx="548640" cy="548640"/>
          </a:xfrm>
          <a:prstGeom prst="roundRect">
            <a:avLst>
              <a:gd name="adj" fmla="val 50000"/>
            </a:avLst>
          </a:prstGeom>
          <a:solidFill>
            <a:srgbClr val="003478"/>
          </a:solidFill>
          <a:ln w="12700">
            <a:solidFill>
              <a:srgbClr val="003478"/>
            </a:solidFill>
            <a:prstDash val="solid"/>
          </a:ln>
        </p:spPr>
      </p:sp>
      <p:sp>
        <p:nvSpPr>
          <p:cNvPr id="17" name="Text 15"/>
          <p:cNvSpPr/>
          <p:nvPr/>
        </p:nvSpPr>
        <p:spPr>
          <a:xfrm>
            <a:off x="6172200" y="3337560"/>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p:nvPr/>
        </p:nvSpPr>
        <p:spPr>
          <a:xfrm>
            <a:off x="6858000" y="3337560"/>
            <a:ext cx="4754880" cy="274320"/>
          </a:xfrm>
          <a:prstGeom prst="rect">
            <a:avLst/>
          </a:prstGeom>
          <a:noFill/>
          <a:ln/>
        </p:spPr>
        <p:txBody>
          <a:bodyPr wrap="square"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Vendedor abre a ficha</a:t>
            </a:r>
            <a:endParaRPr lang="en-US" sz="1200" dirty="0"/>
          </a:p>
        </p:txBody>
      </p:sp>
      <p:sp>
        <p:nvSpPr>
          <p:cNvPr id="19" name="Text 17"/>
          <p:cNvSpPr/>
          <p:nvPr/>
        </p:nvSpPr>
        <p:spPr>
          <a:xfrm>
            <a:off x="6858000" y="3611880"/>
            <a:ext cx="4754880" cy="274320"/>
          </a:xfrm>
          <a:prstGeom prst="rect">
            <a:avLst/>
          </a:prstGeom>
          <a:noFill/>
          <a:ln/>
        </p:spPr>
        <p:txBody>
          <a:bodyPr wrap="square" rtlCol="0" anchor="ctr"/>
          <a:lstStyle/>
          <a:p>
            <a:pPr indent="0" marL="0">
              <a:buNone/>
            </a:pPr>
            <a:r>
              <a:rPr lang="en-US" sz="1000" dirty="0">
                <a:solidFill>
                  <a:srgbClr val="4A5A6B"/>
                </a:solidFill>
                <a:latin typeface="Calibri" pitchFamily="34" charset="0"/>
                <a:ea typeface="Calibri" pitchFamily="34" charset="-122"/>
                <a:cs typeface="Calibri" pitchFamily="34" charset="-120"/>
              </a:rPr>
              <a:t>Visão 360: garantia, próxima revisão, histórico</a:t>
            </a:r>
            <a:endParaRPr lang="en-US" sz="1000" dirty="0"/>
          </a:p>
        </p:txBody>
      </p:sp>
      <p:sp>
        <p:nvSpPr>
          <p:cNvPr id="20" name="Shape 18"/>
          <p:cNvSpPr/>
          <p:nvPr/>
        </p:nvSpPr>
        <p:spPr>
          <a:xfrm>
            <a:off x="6172200" y="4206240"/>
            <a:ext cx="548640" cy="548640"/>
          </a:xfrm>
          <a:prstGeom prst="roundRect">
            <a:avLst>
              <a:gd name="adj" fmla="val 50000"/>
            </a:avLst>
          </a:prstGeom>
          <a:solidFill>
            <a:srgbClr val="003478"/>
          </a:solidFill>
          <a:ln w="12700">
            <a:solidFill>
              <a:srgbClr val="003478"/>
            </a:solidFill>
            <a:prstDash val="solid"/>
          </a:ln>
        </p:spPr>
      </p:sp>
      <p:sp>
        <p:nvSpPr>
          <p:cNvPr id="21" name="Text 19"/>
          <p:cNvSpPr/>
          <p:nvPr/>
        </p:nvSpPr>
        <p:spPr>
          <a:xfrm>
            <a:off x="6172200" y="4206240"/>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6858000" y="4206240"/>
            <a:ext cx="4754880" cy="274320"/>
          </a:xfrm>
          <a:prstGeom prst="rect">
            <a:avLst/>
          </a:prstGeom>
          <a:noFill/>
          <a:ln/>
        </p:spPr>
        <p:txBody>
          <a:bodyPr wrap="square"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Dispara e-mail real</a:t>
            </a:r>
            <a:endParaRPr lang="en-US" sz="1200" dirty="0"/>
          </a:p>
        </p:txBody>
      </p:sp>
      <p:sp>
        <p:nvSpPr>
          <p:cNvPr id="23" name="Text 21"/>
          <p:cNvSpPr/>
          <p:nvPr/>
        </p:nvSpPr>
        <p:spPr>
          <a:xfrm>
            <a:off x="6858000" y="4480560"/>
            <a:ext cx="4754880" cy="274320"/>
          </a:xfrm>
          <a:prstGeom prst="rect">
            <a:avLst/>
          </a:prstGeom>
          <a:noFill/>
          <a:ln/>
        </p:spPr>
        <p:txBody>
          <a:bodyPr wrap="square" rtlCol="0" anchor="ctr"/>
          <a:lstStyle/>
          <a:p>
            <a:pPr indent="0" marL="0">
              <a:buNone/>
            </a:pPr>
            <a:r>
              <a:rPr lang="en-US" sz="1000" dirty="0">
                <a:solidFill>
                  <a:srgbClr val="4A5A6B"/>
                </a:solidFill>
                <a:latin typeface="Calibri" pitchFamily="34" charset="0"/>
                <a:ea typeface="Calibri" pitchFamily="34" charset="-122"/>
                <a:cs typeface="Calibri" pitchFamily="34" charset="-120"/>
              </a:rPr>
              <a:t>Provider Resend · template por perfil</a:t>
            </a:r>
            <a:endParaRPr lang="en-US" sz="1000" dirty="0"/>
          </a:p>
        </p:txBody>
      </p:sp>
      <p:sp>
        <p:nvSpPr>
          <p:cNvPr id="24" name="Shape 22"/>
          <p:cNvSpPr/>
          <p:nvPr/>
        </p:nvSpPr>
        <p:spPr>
          <a:xfrm>
            <a:off x="6172200" y="5074920"/>
            <a:ext cx="548640" cy="548640"/>
          </a:xfrm>
          <a:prstGeom prst="roundRect">
            <a:avLst>
              <a:gd name="adj" fmla="val 50000"/>
            </a:avLst>
          </a:prstGeom>
          <a:solidFill>
            <a:srgbClr val="003478"/>
          </a:solidFill>
          <a:ln w="12700">
            <a:solidFill>
              <a:srgbClr val="003478"/>
            </a:solidFill>
            <a:prstDash val="solid"/>
          </a:ln>
        </p:spPr>
      </p:sp>
      <p:sp>
        <p:nvSpPr>
          <p:cNvPr id="25" name="Text 23"/>
          <p:cNvSpPr/>
          <p:nvPr/>
        </p:nvSpPr>
        <p:spPr>
          <a:xfrm>
            <a:off x="6172200" y="5074920"/>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6858000" y="5074920"/>
            <a:ext cx="4754880" cy="274320"/>
          </a:xfrm>
          <a:prstGeom prst="rect">
            <a:avLst/>
          </a:prstGeom>
          <a:noFill/>
          <a:ln/>
        </p:spPr>
        <p:txBody>
          <a:bodyPr wrap="square"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Ação fica registrada</a:t>
            </a:r>
            <a:endParaRPr lang="en-US" sz="1200" dirty="0"/>
          </a:p>
        </p:txBody>
      </p:sp>
      <p:sp>
        <p:nvSpPr>
          <p:cNvPr id="27" name="Text 25"/>
          <p:cNvSpPr/>
          <p:nvPr/>
        </p:nvSpPr>
        <p:spPr>
          <a:xfrm>
            <a:off x="6858000" y="5349240"/>
            <a:ext cx="4754880" cy="274320"/>
          </a:xfrm>
          <a:prstGeom prst="rect">
            <a:avLst/>
          </a:prstGeom>
          <a:noFill/>
          <a:ln/>
        </p:spPr>
        <p:txBody>
          <a:bodyPr wrap="square" rtlCol="0" anchor="ctr"/>
          <a:lstStyle/>
          <a:p>
            <a:pPr indent="0" marL="0">
              <a:buNone/>
            </a:pPr>
            <a:r>
              <a:rPr lang="en-US" sz="1000" dirty="0">
                <a:solidFill>
                  <a:srgbClr val="4A5A6B"/>
                </a:solidFill>
                <a:latin typeface="Calibri" pitchFamily="34" charset="0"/>
                <a:ea typeface="Calibri" pitchFamily="34" charset="-122"/>
                <a:cs typeface="Calibri" pitchFamily="34" charset="-120"/>
              </a:rPr>
              <a:t>email_logs + acoes_retencao + audit_log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rtlCol="0" anchor="ctr"/>
          <a:lstStyle/>
          <a:p>
            <a:pPr indent="0" marL="0">
              <a:buNone/>
            </a:pPr>
            <a:r>
              <a:rPr lang="en-US" sz="1000" b="1" spc="600" kern="0" dirty="0">
                <a:solidFill>
                  <a:srgbClr val="003478"/>
                </a:solidFill>
                <a:latin typeface="Calibri" pitchFamily="34" charset="0"/>
                <a:ea typeface="Calibri" pitchFamily="34" charset="-122"/>
                <a:cs typeface="Calibri" pitchFamily="34" charset="-120"/>
              </a:rPr>
              <a:t>DISCIPLINA 1 · SOA</a:t>
            </a:r>
            <a:endParaRPr lang="en-US" sz="1000" dirty="0"/>
          </a:p>
        </p:txBody>
      </p:sp>
      <p:sp>
        <p:nvSpPr>
          <p:cNvPr id="3" name="Text 1"/>
          <p:cNvSpPr/>
          <p:nvPr/>
        </p:nvSpPr>
        <p:spPr>
          <a:xfrm>
            <a:off x="457200" y="685800"/>
            <a:ext cx="10972800" cy="914400"/>
          </a:xfrm>
          <a:prstGeom prst="rect">
            <a:avLst/>
          </a:prstGeom>
          <a:noFill/>
          <a:ln/>
        </p:spPr>
        <p:txBody>
          <a:bodyPr wrap="square" rtlCol="0" anchor="t"/>
          <a:lstStyle/>
          <a:p>
            <a:pPr indent="0" marL="0">
              <a:buNone/>
            </a:pPr>
            <a:r>
              <a:rPr lang="en-US" sz="3200" b="1" dirty="0">
                <a:solidFill>
                  <a:srgbClr val="0A1628"/>
                </a:solidFill>
                <a:latin typeface="Calibri" pitchFamily="34" charset="0"/>
                <a:ea typeface="Calibri" pitchFamily="34" charset="-122"/>
                <a:cs typeface="Calibri" pitchFamily="34" charset="-120"/>
              </a:rPr>
              <a:t>Arquitetura de serviços e Web Services</a:t>
            </a:r>
            <a:endParaRPr lang="en-US" sz="3200" dirty="0"/>
          </a:p>
        </p:txBody>
      </p:sp>
      <p:sp>
        <p:nvSpPr>
          <p:cNvPr id="4" name="Shape 2"/>
          <p:cNvSpPr/>
          <p:nvPr/>
        </p:nvSpPr>
        <p:spPr>
          <a:xfrm>
            <a:off x="11155680" y="320040"/>
            <a:ext cx="594360" cy="411480"/>
          </a:xfrm>
          <a:prstGeom prst="roundRect">
            <a:avLst>
              <a:gd name="adj" fmla="val 17778"/>
            </a:avLst>
          </a:prstGeom>
          <a:solidFill>
            <a:srgbClr val="003478"/>
          </a:solidFill>
          <a:ln w="12700">
            <a:solidFill>
              <a:srgbClr val="003478"/>
            </a:solidFill>
            <a:prstDash val="solid"/>
          </a:ln>
        </p:spPr>
      </p:sp>
      <p:sp>
        <p:nvSpPr>
          <p:cNvPr id="5" name="Text 3"/>
          <p:cNvSpPr/>
          <p:nvPr/>
        </p:nvSpPr>
        <p:spPr>
          <a:xfrm>
            <a:off x="11155680" y="320040"/>
            <a:ext cx="59436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a:t>
            </a:r>
            <a:endParaRPr lang="en-US" sz="1400" dirty="0"/>
          </a:p>
        </p:txBody>
      </p:sp>
      <p:sp>
        <p:nvSpPr>
          <p:cNvPr id="6" name="Text 4"/>
          <p:cNvSpPr/>
          <p:nvPr/>
        </p:nvSpPr>
        <p:spPr>
          <a:xfrm>
            <a:off x="457200" y="6446520"/>
            <a:ext cx="11247120" cy="27432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Faro AI · 8 / 14</a:t>
            </a:r>
            <a:endParaRPr lang="en-US" sz="900" dirty="0"/>
          </a:p>
        </p:txBody>
      </p:sp>
      <p:sp>
        <p:nvSpPr>
          <p:cNvPr id="7" name="Shape 5"/>
          <p:cNvSpPr/>
          <p:nvPr/>
        </p:nvSpPr>
        <p:spPr>
          <a:xfrm>
            <a:off x="457200" y="1828800"/>
            <a:ext cx="3657600" cy="4114800"/>
          </a:xfrm>
          <a:prstGeom prst="roundRect">
            <a:avLst>
              <a:gd name="adj" fmla="val 2500"/>
            </a:avLst>
          </a:prstGeom>
          <a:solidFill>
            <a:srgbClr val="F4F7FB"/>
          </a:solidFill>
          <a:ln w="12700">
            <a:solidFill>
              <a:srgbClr val="E2E8F0"/>
            </a:solidFill>
            <a:prstDash val="solid"/>
          </a:ln>
        </p:spPr>
      </p:sp>
      <p:sp>
        <p:nvSpPr>
          <p:cNvPr id="8" name="Shape 6"/>
          <p:cNvSpPr/>
          <p:nvPr/>
        </p:nvSpPr>
        <p:spPr>
          <a:xfrm>
            <a:off x="457200" y="1828800"/>
            <a:ext cx="3657600" cy="457200"/>
          </a:xfrm>
          <a:prstGeom prst="rect">
            <a:avLst/>
          </a:prstGeom>
          <a:solidFill>
            <a:srgbClr val="E63946"/>
          </a:solidFill>
          <a:ln w="12700">
            <a:solidFill>
              <a:srgbClr val="E63946"/>
            </a:solidFill>
            <a:prstDash val="solid"/>
          </a:ln>
        </p:spPr>
      </p:sp>
      <p:sp>
        <p:nvSpPr>
          <p:cNvPr id="9" name="Text 7"/>
          <p:cNvSpPr/>
          <p:nvPr/>
        </p:nvSpPr>
        <p:spPr>
          <a:xfrm>
            <a:off x="685800" y="1874520"/>
            <a:ext cx="32004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Frontend</a:t>
            </a:r>
            <a:endParaRPr lang="en-US" sz="1400" dirty="0"/>
          </a:p>
        </p:txBody>
      </p:sp>
      <p:sp>
        <p:nvSpPr>
          <p:cNvPr id="10" name="Text 8"/>
          <p:cNvSpPr/>
          <p:nvPr/>
        </p:nvSpPr>
        <p:spPr>
          <a:xfrm>
            <a:off x="685800" y="2468880"/>
            <a:ext cx="3291840" cy="548640"/>
          </a:xfrm>
          <a:prstGeom prst="rect">
            <a:avLst/>
          </a:prstGeom>
          <a:noFill/>
          <a:ln/>
        </p:spPr>
        <p:txBody>
          <a:bodyPr wrap="square" rtlCol="0" anchor="t"/>
          <a:lstStyle/>
          <a:p>
            <a:pPr indent="0" marL="0">
              <a:buNone/>
            </a:pPr>
            <a:r>
              <a:rPr lang="en-US" sz="1100" b="1" dirty="0">
                <a:solidFill>
                  <a:srgbClr val="E63946"/>
                </a:solidFill>
                <a:latin typeface="Calibri" pitchFamily="34" charset="0"/>
                <a:ea typeface="Calibri" pitchFamily="34" charset="-122"/>
                <a:cs typeface="Calibri" pitchFamily="34" charset="-120"/>
              </a:rPr>
              <a:t>• </a:t>
            </a:r>
            <a:pPr indent="0" marL="0">
              <a:buNone/>
            </a:pPr>
            <a:r>
              <a:rPr lang="en-US" sz="1100" dirty="0">
                <a:solidFill>
                  <a:srgbClr val="2A3A4A"/>
                </a:solidFill>
                <a:latin typeface="Calibri" pitchFamily="34" charset="0"/>
                <a:ea typeface="Calibri" pitchFamily="34" charset="-122"/>
                <a:cs typeface="Calibri" pitchFamily="34" charset="-120"/>
              </a:rPr>
              <a:t>Next.js 15 + TypeScript (web)</a:t>
            </a:r>
            <a:endParaRPr lang="en-US" sz="1100" dirty="0"/>
          </a:p>
        </p:txBody>
      </p:sp>
      <p:sp>
        <p:nvSpPr>
          <p:cNvPr id="11" name="Text 9"/>
          <p:cNvSpPr/>
          <p:nvPr/>
        </p:nvSpPr>
        <p:spPr>
          <a:xfrm>
            <a:off x="685800" y="3108960"/>
            <a:ext cx="3291840" cy="548640"/>
          </a:xfrm>
          <a:prstGeom prst="rect">
            <a:avLst/>
          </a:prstGeom>
          <a:noFill/>
          <a:ln/>
        </p:spPr>
        <p:txBody>
          <a:bodyPr wrap="square" rtlCol="0" anchor="t"/>
          <a:lstStyle/>
          <a:p>
            <a:pPr indent="0" marL="0">
              <a:buNone/>
            </a:pPr>
            <a:r>
              <a:rPr lang="en-US" sz="1100" b="1" dirty="0">
                <a:solidFill>
                  <a:srgbClr val="E63946"/>
                </a:solidFill>
                <a:latin typeface="Calibri" pitchFamily="34" charset="0"/>
                <a:ea typeface="Calibri" pitchFamily="34" charset="-122"/>
                <a:cs typeface="Calibri" pitchFamily="34" charset="-120"/>
              </a:rPr>
              <a:t>• </a:t>
            </a:r>
            <a:pPr indent="0" marL="0">
              <a:buNone/>
            </a:pPr>
            <a:r>
              <a:rPr lang="en-US" sz="1100" dirty="0">
                <a:solidFill>
                  <a:srgbClr val="2A3A4A"/>
                </a:solidFill>
                <a:latin typeface="Calibri" pitchFamily="34" charset="0"/>
                <a:ea typeface="Calibri" pitchFamily="34" charset="-122"/>
                <a:cs typeface="Calibri" pitchFamily="34" charset="-120"/>
              </a:rPr>
              <a:t>React Native + Expo Router (mobile)</a:t>
            </a:r>
            <a:endParaRPr lang="en-US" sz="1100" dirty="0"/>
          </a:p>
        </p:txBody>
      </p:sp>
      <p:sp>
        <p:nvSpPr>
          <p:cNvPr id="12" name="Text 10"/>
          <p:cNvSpPr/>
          <p:nvPr/>
        </p:nvSpPr>
        <p:spPr>
          <a:xfrm>
            <a:off x="685800" y="3749040"/>
            <a:ext cx="3291840" cy="548640"/>
          </a:xfrm>
          <a:prstGeom prst="rect">
            <a:avLst/>
          </a:prstGeom>
          <a:noFill/>
          <a:ln/>
        </p:spPr>
        <p:txBody>
          <a:bodyPr wrap="square" rtlCol="0" anchor="t"/>
          <a:lstStyle/>
          <a:p>
            <a:pPr indent="0" marL="0">
              <a:buNone/>
            </a:pPr>
            <a:r>
              <a:rPr lang="en-US" sz="1100" b="1" dirty="0">
                <a:solidFill>
                  <a:srgbClr val="E63946"/>
                </a:solidFill>
                <a:latin typeface="Calibri" pitchFamily="34" charset="0"/>
                <a:ea typeface="Calibri" pitchFamily="34" charset="-122"/>
                <a:cs typeface="Calibri" pitchFamily="34" charset="-120"/>
              </a:rPr>
              <a:t>• </a:t>
            </a:r>
            <a:pPr indent="0" marL="0">
              <a:buNone/>
            </a:pPr>
            <a:r>
              <a:rPr lang="en-US" sz="1100" dirty="0">
                <a:solidFill>
                  <a:srgbClr val="2A3A4A"/>
                </a:solidFill>
                <a:latin typeface="Calibri" pitchFamily="34" charset="0"/>
                <a:ea typeface="Calibri" pitchFamily="34" charset="-122"/>
                <a:cs typeface="Calibri" pitchFamily="34" charset="-120"/>
              </a:rPr>
              <a:t>Tailwind + shadcn/ui</a:t>
            </a:r>
            <a:endParaRPr lang="en-US" sz="1100" dirty="0"/>
          </a:p>
        </p:txBody>
      </p:sp>
      <p:sp>
        <p:nvSpPr>
          <p:cNvPr id="13" name="Text 11"/>
          <p:cNvSpPr/>
          <p:nvPr/>
        </p:nvSpPr>
        <p:spPr>
          <a:xfrm>
            <a:off x="685800" y="4389120"/>
            <a:ext cx="3291840" cy="548640"/>
          </a:xfrm>
          <a:prstGeom prst="rect">
            <a:avLst/>
          </a:prstGeom>
          <a:noFill/>
          <a:ln/>
        </p:spPr>
        <p:txBody>
          <a:bodyPr wrap="square" rtlCol="0" anchor="t"/>
          <a:lstStyle/>
          <a:p>
            <a:pPr indent="0" marL="0">
              <a:buNone/>
            </a:pPr>
            <a:r>
              <a:rPr lang="en-US" sz="1100" b="1" dirty="0">
                <a:solidFill>
                  <a:srgbClr val="E63946"/>
                </a:solidFill>
                <a:latin typeface="Calibri" pitchFamily="34" charset="0"/>
                <a:ea typeface="Calibri" pitchFamily="34" charset="-122"/>
                <a:cs typeface="Calibri" pitchFamily="34" charset="-120"/>
              </a:rPr>
              <a:t>• </a:t>
            </a:r>
            <a:pPr indent="0" marL="0">
              <a:buNone/>
            </a:pPr>
            <a:r>
              <a:rPr lang="en-US" sz="1100" dirty="0">
                <a:solidFill>
                  <a:srgbClr val="2A3A4A"/>
                </a:solidFill>
                <a:latin typeface="Calibri" pitchFamily="34" charset="0"/>
                <a:ea typeface="Calibri" pitchFamily="34" charset="-122"/>
                <a:cs typeface="Calibri" pitchFamily="34" charset="-120"/>
              </a:rPr>
              <a:t>11 páginas + 9 telas mobile</a:t>
            </a:r>
            <a:endParaRPr lang="en-US" sz="1100" dirty="0"/>
          </a:p>
        </p:txBody>
      </p:sp>
      <p:sp>
        <p:nvSpPr>
          <p:cNvPr id="14" name="Shape 12"/>
          <p:cNvSpPr/>
          <p:nvPr/>
        </p:nvSpPr>
        <p:spPr>
          <a:xfrm>
            <a:off x="4389120" y="1828800"/>
            <a:ext cx="3657600" cy="4114800"/>
          </a:xfrm>
          <a:prstGeom prst="roundRect">
            <a:avLst>
              <a:gd name="adj" fmla="val 2500"/>
            </a:avLst>
          </a:prstGeom>
          <a:solidFill>
            <a:srgbClr val="F4F7FB"/>
          </a:solidFill>
          <a:ln w="12700">
            <a:solidFill>
              <a:srgbClr val="E2E8F0"/>
            </a:solidFill>
            <a:prstDash val="solid"/>
          </a:ln>
        </p:spPr>
      </p:sp>
      <p:sp>
        <p:nvSpPr>
          <p:cNvPr id="15" name="Shape 13"/>
          <p:cNvSpPr/>
          <p:nvPr/>
        </p:nvSpPr>
        <p:spPr>
          <a:xfrm>
            <a:off x="4389120" y="1828800"/>
            <a:ext cx="3657600" cy="457200"/>
          </a:xfrm>
          <a:prstGeom prst="rect">
            <a:avLst/>
          </a:prstGeom>
          <a:solidFill>
            <a:srgbClr val="003478"/>
          </a:solidFill>
          <a:ln w="12700">
            <a:solidFill>
              <a:srgbClr val="003478"/>
            </a:solidFill>
            <a:prstDash val="solid"/>
          </a:ln>
        </p:spPr>
      </p:sp>
      <p:sp>
        <p:nvSpPr>
          <p:cNvPr id="16" name="Text 14"/>
          <p:cNvSpPr/>
          <p:nvPr/>
        </p:nvSpPr>
        <p:spPr>
          <a:xfrm>
            <a:off x="4617720" y="1874520"/>
            <a:ext cx="32004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Backend (Gateway)</a:t>
            </a:r>
            <a:endParaRPr lang="en-US" sz="1400" dirty="0"/>
          </a:p>
        </p:txBody>
      </p:sp>
      <p:sp>
        <p:nvSpPr>
          <p:cNvPr id="17" name="Text 15"/>
          <p:cNvSpPr/>
          <p:nvPr/>
        </p:nvSpPr>
        <p:spPr>
          <a:xfrm>
            <a:off x="4617720" y="2468880"/>
            <a:ext cx="3291840" cy="548640"/>
          </a:xfrm>
          <a:prstGeom prst="rect">
            <a:avLst/>
          </a:prstGeom>
          <a:noFill/>
          <a:ln/>
        </p:spPr>
        <p:txBody>
          <a:bodyPr wrap="square" rtlCol="0" anchor="t"/>
          <a:lstStyle/>
          <a:p>
            <a:pPr indent="0" marL="0">
              <a:buNone/>
            </a:pPr>
            <a:r>
              <a:rPr lang="en-US" sz="1100" b="1" dirty="0">
                <a:solidFill>
                  <a:srgbClr val="003478"/>
                </a:solidFill>
                <a:latin typeface="Calibri" pitchFamily="34" charset="0"/>
                <a:ea typeface="Calibri" pitchFamily="34" charset="-122"/>
                <a:cs typeface="Calibri" pitchFamily="34" charset="-120"/>
              </a:rPr>
              <a:t>• </a:t>
            </a:r>
            <a:pPr indent="0" marL="0">
              <a:buNone/>
            </a:pPr>
            <a:r>
              <a:rPr lang="en-US" sz="1100" dirty="0">
                <a:solidFill>
                  <a:srgbClr val="2A3A4A"/>
                </a:solidFill>
                <a:latin typeface="Calibri" pitchFamily="34" charset="0"/>
                <a:ea typeface="Calibri" pitchFamily="34" charset="-122"/>
                <a:cs typeface="Calibri" pitchFamily="34" charset="-120"/>
              </a:rPr>
              <a:t>Fastify + TypeScript + Zod</a:t>
            </a:r>
            <a:endParaRPr lang="en-US" sz="1100" dirty="0"/>
          </a:p>
        </p:txBody>
      </p:sp>
      <p:sp>
        <p:nvSpPr>
          <p:cNvPr id="18" name="Text 16"/>
          <p:cNvSpPr/>
          <p:nvPr/>
        </p:nvSpPr>
        <p:spPr>
          <a:xfrm>
            <a:off x="4617720" y="3108960"/>
            <a:ext cx="3291840" cy="548640"/>
          </a:xfrm>
          <a:prstGeom prst="rect">
            <a:avLst/>
          </a:prstGeom>
          <a:noFill/>
          <a:ln/>
        </p:spPr>
        <p:txBody>
          <a:bodyPr wrap="square" rtlCol="0" anchor="t"/>
          <a:lstStyle/>
          <a:p>
            <a:pPr indent="0" marL="0">
              <a:buNone/>
            </a:pPr>
            <a:r>
              <a:rPr lang="en-US" sz="1100" b="1" dirty="0">
                <a:solidFill>
                  <a:srgbClr val="003478"/>
                </a:solidFill>
                <a:latin typeface="Calibri" pitchFamily="34" charset="0"/>
                <a:ea typeface="Calibri" pitchFamily="34" charset="-122"/>
                <a:cs typeface="Calibri" pitchFamily="34" charset="-120"/>
              </a:rPr>
              <a:t>• </a:t>
            </a:r>
            <a:pPr indent="0" marL="0">
              <a:buNone/>
            </a:pPr>
            <a:r>
              <a:rPr lang="en-US" sz="1100" dirty="0">
                <a:solidFill>
                  <a:srgbClr val="2A3A4A"/>
                </a:solidFill>
                <a:latin typeface="Calibri" pitchFamily="34" charset="0"/>
                <a:ea typeface="Calibri" pitchFamily="34" charset="-122"/>
                <a:cs typeface="Calibri" pitchFamily="34" charset="-120"/>
              </a:rPr>
              <a:t>30+ rotas REST documentadas</a:t>
            </a:r>
            <a:endParaRPr lang="en-US" sz="1100" dirty="0"/>
          </a:p>
        </p:txBody>
      </p:sp>
      <p:sp>
        <p:nvSpPr>
          <p:cNvPr id="19" name="Text 17"/>
          <p:cNvSpPr/>
          <p:nvPr/>
        </p:nvSpPr>
        <p:spPr>
          <a:xfrm>
            <a:off x="4617720" y="3749040"/>
            <a:ext cx="3291840" cy="548640"/>
          </a:xfrm>
          <a:prstGeom prst="rect">
            <a:avLst/>
          </a:prstGeom>
          <a:noFill/>
          <a:ln/>
        </p:spPr>
        <p:txBody>
          <a:bodyPr wrap="square" rtlCol="0" anchor="t"/>
          <a:lstStyle/>
          <a:p>
            <a:pPr indent="0" marL="0">
              <a:buNone/>
            </a:pPr>
            <a:r>
              <a:rPr lang="en-US" sz="1100" b="1" dirty="0">
                <a:solidFill>
                  <a:srgbClr val="003478"/>
                </a:solidFill>
                <a:latin typeface="Calibri" pitchFamily="34" charset="0"/>
                <a:ea typeface="Calibri" pitchFamily="34" charset="-122"/>
                <a:cs typeface="Calibri" pitchFamily="34" charset="-120"/>
              </a:rPr>
              <a:t>• </a:t>
            </a:r>
            <a:pPr indent="0" marL="0">
              <a:buNone/>
            </a:pPr>
            <a:r>
              <a:rPr lang="en-US" sz="1100" dirty="0">
                <a:solidFill>
                  <a:srgbClr val="2A3A4A"/>
                </a:solidFill>
                <a:latin typeface="Calibri" pitchFamily="34" charset="0"/>
                <a:ea typeface="Calibri" pitchFamily="34" charset="-122"/>
                <a:cs typeface="Calibri" pitchFamily="34" charset="-120"/>
              </a:rPr>
              <a:t>JWT (Supabase) · RBAC 3 roles</a:t>
            </a:r>
            <a:endParaRPr lang="en-US" sz="1100" dirty="0"/>
          </a:p>
        </p:txBody>
      </p:sp>
      <p:sp>
        <p:nvSpPr>
          <p:cNvPr id="20" name="Text 18"/>
          <p:cNvSpPr/>
          <p:nvPr/>
        </p:nvSpPr>
        <p:spPr>
          <a:xfrm>
            <a:off x="4617720" y="4389120"/>
            <a:ext cx="3291840" cy="548640"/>
          </a:xfrm>
          <a:prstGeom prst="rect">
            <a:avLst/>
          </a:prstGeom>
          <a:noFill/>
          <a:ln/>
        </p:spPr>
        <p:txBody>
          <a:bodyPr wrap="square" rtlCol="0" anchor="t"/>
          <a:lstStyle/>
          <a:p>
            <a:pPr indent="0" marL="0">
              <a:buNone/>
            </a:pPr>
            <a:r>
              <a:rPr lang="en-US" sz="1100" b="1" dirty="0">
                <a:solidFill>
                  <a:srgbClr val="003478"/>
                </a:solidFill>
                <a:latin typeface="Calibri" pitchFamily="34" charset="0"/>
                <a:ea typeface="Calibri" pitchFamily="34" charset="-122"/>
                <a:cs typeface="Calibri" pitchFamily="34" charset="-120"/>
              </a:rPr>
              <a:t>• </a:t>
            </a:r>
            <a:pPr indent="0" marL="0">
              <a:buNone/>
            </a:pPr>
            <a:r>
              <a:rPr lang="en-US" sz="1100" dirty="0">
                <a:solidFill>
                  <a:srgbClr val="2A3A4A"/>
                </a:solidFill>
                <a:latin typeface="Calibri" pitchFamily="34" charset="0"/>
                <a:ea typeface="Calibri" pitchFamily="34" charset="-122"/>
                <a:cs typeface="Calibri" pitchFamily="34" charset="-120"/>
              </a:rPr>
              <a:t>Swagger UI em /docs</a:t>
            </a:r>
            <a:endParaRPr lang="en-US" sz="1100" dirty="0"/>
          </a:p>
        </p:txBody>
      </p:sp>
      <p:sp>
        <p:nvSpPr>
          <p:cNvPr id="21" name="Shape 19"/>
          <p:cNvSpPr/>
          <p:nvPr/>
        </p:nvSpPr>
        <p:spPr>
          <a:xfrm>
            <a:off x="8321040" y="1828800"/>
            <a:ext cx="3657600" cy="4114800"/>
          </a:xfrm>
          <a:prstGeom prst="roundRect">
            <a:avLst>
              <a:gd name="adj" fmla="val 2500"/>
            </a:avLst>
          </a:prstGeom>
          <a:solidFill>
            <a:srgbClr val="F4F7FB"/>
          </a:solidFill>
          <a:ln w="12700">
            <a:solidFill>
              <a:srgbClr val="E2E8F0"/>
            </a:solidFill>
            <a:prstDash val="solid"/>
          </a:ln>
        </p:spPr>
      </p:sp>
      <p:sp>
        <p:nvSpPr>
          <p:cNvPr id="22" name="Shape 20"/>
          <p:cNvSpPr/>
          <p:nvPr/>
        </p:nvSpPr>
        <p:spPr>
          <a:xfrm>
            <a:off x="8321040" y="1828800"/>
            <a:ext cx="3657600" cy="457200"/>
          </a:xfrm>
          <a:prstGeom prst="rect">
            <a:avLst/>
          </a:prstGeom>
          <a:solidFill>
            <a:srgbClr val="00A896"/>
          </a:solidFill>
          <a:ln w="12700">
            <a:solidFill>
              <a:srgbClr val="00A896"/>
            </a:solidFill>
            <a:prstDash val="solid"/>
          </a:ln>
        </p:spPr>
      </p:sp>
      <p:sp>
        <p:nvSpPr>
          <p:cNvPr id="23" name="Text 21"/>
          <p:cNvSpPr/>
          <p:nvPr/>
        </p:nvSpPr>
        <p:spPr>
          <a:xfrm>
            <a:off x="8549640" y="1874520"/>
            <a:ext cx="32004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Dados &amp; ML</a:t>
            </a:r>
            <a:endParaRPr lang="en-US" sz="1400" dirty="0"/>
          </a:p>
        </p:txBody>
      </p:sp>
      <p:sp>
        <p:nvSpPr>
          <p:cNvPr id="24" name="Text 22"/>
          <p:cNvSpPr/>
          <p:nvPr/>
        </p:nvSpPr>
        <p:spPr>
          <a:xfrm>
            <a:off x="8549640" y="2468880"/>
            <a:ext cx="3291840" cy="548640"/>
          </a:xfrm>
          <a:prstGeom prst="rect">
            <a:avLst/>
          </a:prstGeom>
          <a:noFill/>
          <a:ln/>
        </p:spPr>
        <p:txBody>
          <a:bodyPr wrap="square" rtlCol="0" anchor="t"/>
          <a:lstStyle/>
          <a:p>
            <a:pPr indent="0" marL="0">
              <a:buNone/>
            </a:pPr>
            <a:r>
              <a:rPr lang="en-US" sz="1100" b="1" dirty="0">
                <a:solidFill>
                  <a:srgbClr val="00A896"/>
                </a:solidFill>
                <a:latin typeface="Calibri" pitchFamily="34" charset="0"/>
                <a:ea typeface="Calibri" pitchFamily="34" charset="-122"/>
                <a:cs typeface="Calibri" pitchFamily="34" charset="-120"/>
              </a:rPr>
              <a:t>• </a:t>
            </a:r>
            <a:pPr indent="0" marL="0">
              <a:buNone/>
            </a:pPr>
            <a:r>
              <a:rPr lang="en-US" sz="1100" dirty="0">
                <a:solidFill>
                  <a:srgbClr val="2A3A4A"/>
                </a:solidFill>
                <a:latin typeface="Calibri" pitchFamily="34" charset="0"/>
                <a:ea typeface="Calibri" pitchFamily="34" charset="-122"/>
                <a:cs typeface="Calibri" pitchFamily="34" charset="-120"/>
              </a:rPr>
              <a:t>Postgres (Supabase) · 19 migrations</a:t>
            </a:r>
            <a:endParaRPr lang="en-US" sz="1100" dirty="0"/>
          </a:p>
        </p:txBody>
      </p:sp>
      <p:sp>
        <p:nvSpPr>
          <p:cNvPr id="25" name="Text 23"/>
          <p:cNvSpPr/>
          <p:nvPr/>
        </p:nvSpPr>
        <p:spPr>
          <a:xfrm>
            <a:off x="8549640" y="3108960"/>
            <a:ext cx="3291840" cy="548640"/>
          </a:xfrm>
          <a:prstGeom prst="rect">
            <a:avLst/>
          </a:prstGeom>
          <a:noFill/>
          <a:ln/>
        </p:spPr>
        <p:txBody>
          <a:bodyPr wrap="square" rtlCol="0" anchor="t"/>
          <a:lstStyle/>
          <a:p>
            <a:pPr indent="0" marL="0">
              <a:buNone/>
            </a:pPr>
            <a:r>
              <a:rPr lang="en-US" sz="1100" b="1" dirty="0">
                <a:solidFill>
                  <a:srgbClr val="00A896"/>
                </a:solidFill>
                <a:latin typeface="Calibri" pitchFamily="34" charset="0"/>
                <a:ea typeface="Calibri" pitchFamily="34" charset="-122"/>
                <a:cs typeface="Calibri" pitchFamily="34" charset="-120"/>
              </a:rPr>
              <a:t>• </a:t>
            </a:r>
            <a:pPr indent="0" marL="0">
              <a:buNone/>
            </a:pPr>
            <a:r>
              <a:rPr lang="en-US" sz="1100" dirty="0">
                <a:solidFill>
                  <a:srgbClr val="2A3A4A"/>
                </a:solidFill>
                <a:latin typeface="Calibri" pitchFamily="34" charset="0"/>
                <a:ea typeface="Calibri" pitchFamily="34" charset="-122"/>
                <a:cs typeface="Calibri" pitchFamily="34" charset="-120"/>
              </a:rPr>
              <a:t>RLS por dealership + role</a:t>
            </a:r>
            <a:endParaRPr lang="en-US" sz="1100" dirty="0"/>
          </a:p>
        </p:txBody>
      </p:sp>
      <p:sp>
        <p:nvSpPr>
          <p:cNvPr id="26" name="Text 24"/>
          <p:cNvSpPr/>
          <p:nvPr/>
        </p:nvSpPr>
        <p:spPr>
          <a:xfrm>
            <a:off x="8549640" y="3749040"/>
            <a:ext cx="3291840" cy="548640"/>
          </a:xfrm>
          <a:prstGeom prst="rect">
            <a:avLst/>
          </a:prstGeom>
          <a:noFill/>
          <a:ln/>
        </p:spPr>
        <p:txBody>
          <a:bodyPr wrap="square" rtlCol="0" anchor="t"/>
          <a:lstStyle/>
          <a:p>
            <a:pPr indent="0" marL="0">
              <a:buNone/>
            </a:pPr>
            <a:r>
              <a:rPr lang="en-US" sz="1100" b="1" dirty="0">
                <a:solidFill>
                  <a:srgbClr val="00A896"/>
                </a:solidFill>
                <a:latin typeface="Calibri" pitchFamily="34" charset="0"/>
                <a:ea typeface="Calibri" pitchFamily="34" charset="-122"/>
                <a:cs typeface="Calibri" pitchFamily="34" charset="-120"/>
              </a:rPr>
              <a:t>• </a:t>
            </a:r>
            <a:pPr indent="0" marL="0">
              <a:buNone/>
            </a:pPr>
            <a:r>
              <a:rPr lang="en-US" sz="1100" dirty="0">
                <a:solidFill>
                  <a:srgbClr val="2A3A4A"/>
                </a:solidFill>
                <a:latin typeface="Calibri" pitchFamily="34" charset="0"/>
                <a:ea typeface="Calibri" pitchFamily="34" charset="-122"/>
                <a:cs typeface="Calibri" pitchFamily="34" charset="-120"/>
              </a:rPr>
              <a:t>FastAPI + XGBoost (ML service)</a:t>
            </a:r>
            <a:endParaRPr lang="en-US" sz="1100" dirty="0"/>
          </a:p>
        </p:txBody>
      </p:sp>
      <p:sp>
        <p:nvSpPr>
          <p:cNvPr id="27" name="Text 25"/>
          <p:cNvSpPr/>
          <p:nvPr/>
        </p:nvSpPr>
        <p:spPr>
          <a:xfrm>
            <a:off x="8549640" y="4389120"/>
            <a:ext cx="3291840" cy="548640"/>
          </a:xfrm>
          <a:prstGeom prst="rect">
            <a:avLst/>
          </a:prstGeom>
          <a:noFill/>
          <a:ln/>
        </p:spPr>
        <p:txBody>
          <a:bodyPr wrap="square" rtlCol="0" anchor="t"/>
          <a:lstStyle/>
          <a:p>
            <a:pPr indent="0" marL="0">
              <a:buNone/>
            </a:pPr>
            <a:r>
              <a:rPr lang="en-US" sz="1100" b="1" dirty="0">
                <a:solidFill>
                  <a:srgbClr val="00A896"/>
                </a:solidFill>
                <a:latin typeface="Calibri" pitchFamily="34" charset="0"/>
                <a:ea typeface="Calibri" pitchFamily="34" charset="-122"/>
                <a:cs typeface="Calibri" pitchFamily="34" charset="-120"/>
              </a:rPr>
              <a:t>• </a:t>
            </a:r>
            <a:pPr indent="0" marL="0">
              <a:buNone/>
            </a:pPr>
            <a:r>
              <a:rPr lang="en-US" sz="1100" dirty="0">
                <a:solidFill>
                  <a:srgbClr val="2A3A4A"/>
                </a:solidFill>
                <a:latin typeface="Calibri" pitchFamily="34" charset="0"/>
                <a:ea typeface="Calibri" pitchFamily="34" charset="-122"/>
                <a:cs typeface="Calibri" pitchFamily="34" charset="-120"/>
              </a:rPr>
              <a:t>HMAC · timestamp · nonce</a:t>
            </a:r>
            <a:endParaRPr lang="en-US" sz="1100" dirty="0"/>
          </a:p>
        </p:txBody>
      </p:sp>
      <p:sp>
        <p:nvSpPr>
          <p:cNvPr id="28" name="Text 26"/>
          <p:cNvSpPr/>
          <p:nvPr/>
        </p:nvSpPr>
        <p:spPr>
          <a:xfrm>
            <a:off x="457200" y="6126480"/>
            <a:ext cx="11247120" cy="274320"/>
          </a:xfrm>
          <a:prstGeom prst="rect">
            <a:avLst/>
          </a:prstGeom>
          <a:noFill/>
          <a:ln/>
        </p:spPr>
        <p:txBody>
          <a:bodyPr wrap="square" rtlCol="0" anchor="ctr"/>
          <a:lstStyle/>
          <a:p>
            <a:pPr algn="ctr" indent="0" marL="0">
              <a:buNone/>
            </a:pPr>
            <a:r>
              <a:rPr lang="en-US" sz="1000" i="1" dirty="0">
                <a:solidFill>
                  <a:srgbClr val="4A5A6B"/>
                </a:solidFill>
                <a:latin typeface="Calibri" pitchFamily="34" charset="0"/>
                <a:ea typeface="Calibri" pitchFamily="34" charset="-122"/>
                <a:cs typeface="Calibri" pitchFamily="34" charset="-120"/>
              </a:rPr>
              <a:t>Padrões REST · JSON · OpenAPI 3 · Swagger UI · 100% dos endpoints validados via Zod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rtlCol="0" anchor="ctr"/>
          <a:lstStyle/>
          <a:p>
            <a:pPr indent="0" marL="0">
              <a:buNone/>
            </a:pPr>
            <a:r>
              <a:rPr lang="en-US" sz="1000" b="1" spc="600" kern="0" dirty="0">
                <a:solidFill>
                  <a:srgbClr val="003478"/>
                </a:solidFill>
                <a:latin typeface="Calibri" pitchFamily="34" charset="0"/>
                <a:ea typeface="Calibri" pitchFamily="34" charset="-122"/>
                <a:cs typeface="Calibri" pitchFamily="34" charset="-120"/>
              </a:rPr>
              <a:t>DISCIPLINA 5 · IA / ML</a:t>
            </a:r>
            <a:endParaRPr lang="en-US" sz="1000" dirty="0"/>
          </a:p>
        </p:txBody>
      </p:sp>
      <p:sp>
        <p:nvSpPr>
          <p:cNvPr id="3" name="Text 1"/>
          <p:cNvSpPr/>
          <p:nvPr/>
        </p:nvSpPr>
        <p:spPr>
          <a:xfrm>
            <a:off x="457200" y="685800"/>
            <a:ext cx="10972800" cy="914400"/>
          </a:xfrm>
          <a:prstGeom prst="rect">
            <a:avLst/>
          </a:prstGeom>
          <a:noFill/>
          <a:ln/>
        </p:spPr>
        <p:txBody>
          <a:bodyPr wrap="square" rtlCol="0" anchor="t"/>
          <a:lstStyle/>
          <a:p>
            <a:pPr indent="0" marL="0">
              <a:buNone/>
            </a:pPr>
            <a:r>
              <a:rPr lang="en-US" sz="3200" b="1" dirty="0">
                <a:solidFill>
                  <a:srgbClr val="0A1628"/>
                </a:solidFill>
                <a:latin typeface="Calibri" pitchFamily="34" charset="0"/>
                <a:ea typeface="Calibri" pitchFamily="34" charset="-122"/>
                <a:cs typeface="Calibri" pitchFamily="34" charset="-120"/>
              </a:rPr>
              <a:t>Pipeline de Machine Learning</a:t>
            </a:r>
            <a:endParaRPr lang="en-US" sz="3200" dirty="0"/>
          </a:p>
        </p:txBody>
      </p:sp>
      <p:sp>
        <p:nvSpPr>
          <p:cNvPr id="4" name="Shape 2"/>
          <p:cNvSpPr/>
          <p:nvPr/>
        </p:nvSpPr>
        <p:spPr>
          <a:xfrm>
            <a:off x="11155680" y="320040"/>
            <a:ext cx="594360" cy="411480"/>
          </a:xfrm>
          <a:prstGeom prst="roundRect">
            <a:avLst>
              <a:gd name="adj" fmla="val 17778"/>
            </a:avLst>
          </a:prstGeom>
          <a:solidFill>
            <a:srgbClr val="003478"/>
          </a:solidFill>
          <a:ln w="12700">
            <a:solidFill>
              <a:srgbClr val="003478"/>
            </a:solidFill>
            <a:prstDash val="solid"/>
          </a:ln>
        </p:spPr>
      </p:sp>
      <p:sp>
        <p:nvSpPr>
          <p:cNvPr id="5" name="Text 3"/>
          <p:cNvSpPr/>
          <p:nvPr/>
        </p:nvSpPr>
        <p:spPr>
          <a:xfrm>
            <a:off x="11155680" y="320040"/>
            <a:ext cx="59436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a:t>
            </a:r>
            <a:endParaRPr lang="en-US" sz="1400" dirty="0"/>
          </a:p>
        </p:txBody>
      </p:sp>
      <p:sp>
        <p:nvSpPr>
          <p:cNvPr id="6" name="Text 4"/>
          <p:cNvSpPr/>
          <p:nvPr/>
        </p:nvSpPr>
        <p:spPr>
          <a:xfrm>
            <a:off x="457200" y="6446520"/>
            <a:ext cx="11247120" cy="27432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Faro AI · 9 / 14</a:t>
            </a:r>
            <a:endParaRPr lang="en-US" sz="900" dirty="0"/>
          </a:p>
        </p:txBody>
      </p:sp>
      <p:sp>
        <p:nvSpPr>
          <p:cNvPr id="7" name="Shape 5"/>
          <p:cNvSpPr/>
          <p:nvPr/>
        </p:nvSpPr>
        <p:spPr>
          <a:xfrm>
            <a:off x="457200" y="1828800"/>
            <a:ext cx="1737360" cy="1280160"/>
          </a:xfrm>
          <a:prstGeom prst="roundRect">
            <a:avLst>
              <a:gd name="adj" fmla="val 7143"/>
            </a:avLst>
          </a:prstGeom>
          <a:solidFill>
            <a:srgbClr val="F4F7FB"/>
          </a:solidFill>
          <a:ln w="12700">
            <a:solidFill>
              <a:srgbClr val="E2E8F0"/>
            </a:solidFill>
            <a:prstDash val="solid"/>
          </a:ln>
        </p:spPr>
      </p:sp>
      <p:sp>
        <p:nvSpPr>
          <p:cNvPr id="8" name="Shape 6"/>
          <p:cNvSpPr/>
          <p:nvPr/>
        </p:nvSpPr>
        <p:spPr>
          <a:xfrm>
            <a:off x="457200" y="1828800"/>
            <a:ext cx="1737360" cy="91440"/>
          </a:xfrm>
          <a:prstGeom prst="rect">
            <a:avLst/>
          </a:prstGeom>
          <a:solidFill>
            <a:srgbClr val="003478"/>
          </a:solidFill>
          <a:ln w="12700">
            <a:solidFill>
              <a:srgbClr val="003478"/>
            </a:solidFill>
            <a:prstDash val="solid"/>
          </a:ln>
        </p:spPr>
      </p:sp>
      <p:sp>
        <p:nvSpPr>
          <p:cNvPr id="9" name="Text 7"/>
          <p:cNvSpPr/>
          <p:nvPr/>
        </p:nvSpPr>
        <p:spPr>
          <a:xfrm>
            <a:off x="594360" y="2011680"/>
            <a:ext cx="1463040" cy="320040"/>
          </a:xfrm>
          <a:prstGeom prst="rect">
            <a:avLst/>
          </a:prstGeom>
          <a:noFill/>
          <a:ln/>
        </p:spPr>
        <p:txBody>
          <a:bodyPr wrap="square"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Base 1</a:t>
            </a:r>
            <a:endParaRPr lang="en-US" sz="1400" dirty="0"/>
          </a:p>
        </p:txBody>
      </p:sp>
      <p:sp>
        <p:nvSpPr>
          <p:cNvPr id="10" name="Text 8"/>
          <p:cNvSpPr/>
          <p:nvPr/>
        </p:nvSpPr>
        <p:spPr>
          <a:xfrm>
            <a:off x="594360" y="2331720"/>
            <a:ext cx="1463040" cy="777240"/>
          </a:xfrm>
          <a:prstGeom prst="rect">
            <a:avLst/>
          </a:prstGeom>
          <a:noFill/>
          <a:ln/>
        </p:spPr>
        <p:txBody>
          <a:bodyPr wrap="square" rtlCol="0" anchor="t"/>
          <a:lstStyle/>
          <a:p>
            <a:pPr indent="0" marL="0">
              <a:buNone/>
            </a:pPr>
            <a:r>
              <a:rPr lang="en-US" sz="900" dirty="0">
                <a:solidFill>
                  <a:srgbClr val="4A5A6B"/>
                </a:solidFill>
                <a:latin typeface="Calibri" pitchFamily="34" charset="0"/>
                <a:ea typeface="Calibri" pitchFamily="34" charset="-122"/>
                <a:cs typeface="Calibri" pitchFamily="34" charset="-120"/>
              </a:rPr>
              <a:t>Histórico completo (pós-compra)</a:t>
            </a:r>
            <a:endParaRPr lang="en-US" sz="900" dirty="0"/>
          </a:p>
        </p:txBody>
      </p:sp>
      <p:sp>
        <p:nvSpPr>
          <p:cNvPr id="11" name="Text 9"/>
          <p:cNvSpPr/>
          <p:nvPr/>
        </p:nvSpPr>
        <p:spPr>
          <a:xfrm>
            <a:off x="2148840" y="2331720"/>
            <a:ext cx="274320" cy="365760"/>
          </a:xfrm>
          <a:prstGeom prst="rect">
            <a:avLst/>
          </a:prstGeom>
          <a:noFill/>
          <a:ln/>
        </p:spPr>
        <p:txBody>
          <a:bodyPr wrap="square" rtlCol="0" anchor="ctr"/>
          <a:lstStyle/>
          <a:p>
            <a:pPr indent="0" marL="0">
              <a:buNone/>
            </a:pPr>
            <a:r>
              <a:rPr lang="en-US" sz="1100" dirty="0">
                <a:solidFill>
                  <a:srgbClr val="4A5A6B"/>
                </a:solidFill>
                <a:latin typeface="Calibri" pitchFamily="34" charset="0"/>
                <a:ea typeface="Calibri" pitchFamily="34" charset="-122"/>
                <a:cs typeface="Calibri" pitchFamily="34" charset="-120"/>
              </a:rPr>
              <a:t>▶</a:t>
            </a:r>
            <a:endParaRPr lang="en-US" sz="1100" dirty="0"/>
          </a:p>
        </p:txBody>
      </p:sp>
      <p:sp>
        <p:nvSpPr>
          <p:cNvPr id="12" name="Shape 10"/>
          <p:cNvSpPr/>
          <p:nvPr/>
        </p:nvSpPr>
        <p:spPr>
          <a:xfrm>
            <a:off x="2377440" y="1828800"/>
            <a:ext cx="1737360" cy="1280160"/>
          </a:xfrm>
          <a:prstGeom prst="roundRect">
            <a:avLst>
              <a:gd name="adj" fmla="val 7143"/>
            </a:avLst>
          </a:prstGeom>
          <a:solidFill>
            <a:srgbClr val="F4F7FB"/>
          </a:solidFill>
          <a:ln w="12700">
            <a:solidFill>
              <a:srgbClr val="E2E8F0"/>
            </a:solidFill>
            <a:prstDash val="solid"/>
          </a:ln>
        </p:spPr>
      </p:sp>
      <p:sp>
        <p:nvSpPr>
          <p:cNvPr id="13" name="Shape 11"/>
          <p:cNvSpPr/>
          <p:nvPr/>
        </p:nvSpPr>
        <p:spPr>
          <a:xfrm>
            <a:off x="2377440" y="1828800"/>
            <a:ext cx="1737360" cy="91440"/>
          </a:xfrm>
          <a:prstGeom prst="rect">
            <a:avLst/>
          </a:prstGeom>
          <a:solidFill>
            <a:srgbClr val="00A896"/>
          </a:solidFill>
          <a:ln w="12700">
            <a:solidFill>
              <a:srgbClr val="00A896"/>
            </a:solidFill>
            <a:prstDash val="solid"/>
          </a:ln>
        </p:spPr>
      </p:sp>
      <p:sp>
        <p:nvSpPr>
          <p:cNvPr id="14" name="Text 12"/>
          <p:cNvSpPr/>
          <p:nvPr/>
        </p:nvSpPr>
        <p:spPr>
          <a:xfrm>
            <a:off x="2514600" y="2011680"/>
            <a:ext cx="1463040" cy="320040"/>
          </a:xfrm>
          <a:prstGeom prst="rect">
            <a:avLst/>
          </a:prstGeom>
          <a:noFill/>
          <a:ln/>
        </p:spPr>
        <p:txBody>
          <a:bodyPr wrap="square"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K-Means</a:t>
            </a:r>
            <a:endParaRPr lang="en-US" sz="1400" dirty="0"/>
          </a:p>
        </p:txBody>
      </p:sp>
      <p:sp>
        <p:nvSpPr>
          <p:cNvPr id="15" name="Text 13"/>
          <p:cNvSpPr/>
          <p:nvPr/>
        </p:nvSpPr>
        <p:spPr>
          <a:xfrm>
            <a:off x="2514600" y="2331720"/>
            <a:ext cx="1463040" cy="777240"/>
          </a:xfrm>
          <a:prstGeom prst="rect">
            <a:avLst/>
          </a:prstGeom>
          <a:noFill/>
          <a:ln/>
        </p:spPr>
        <p:txBody>
          <a:bodyPr wrap="square" rtlCol="0" anchor="t"/>
          <a:lstStyle/>
          <a:p>
            <a:pPr indent="0" marL="0">
              <a:buNone/>
            </a:pPr>
            <a:r>
              <a:rPr lang="en-US" sz="900" dirty="0">
                <a:solidFill>
                  <a:srgbClr val="4A5A6B"/>
                </a:solidFill>
                <a:latin typeface="Calibri" pitchFamily="34" charset="0"/>
                <a:ea typeface="Calibri" pitchFamily="34" charset="-122"/>
                <a:cs typeface="Calibri" pitchFamily="34" charset="-120"/>
              </a:rPr>
              <a:t>Clustering K=4 validado por elbow + silhouette</a:t>
            </a:r>
            <a:endParaRPr lang="en-US" sz="900" dirty="0"/>
          </a:p>
        </p:txBody>
      </p:sp>
      <p:sp>
        <p:nvSpPr>
          <p:cNvPr id="16" name="Text 14"/>
          <p:cNvSpPr/>
          <p:nvPr/>
        </p:nvSpPr>
        <p:spPr>
          <a:xfrm>
            <a:off x="4069080" y="2331720"/>
            <a:ext cx="274320" cy="365760"/>
          </a:xfrm>
          <a:prstGeom prst="rect">
            <a:avLst/>
          </a:prstGeom>
          <a:noFill/>
          <a:ln/>
        </p:spPr>
        <p:txBody>
          <a:bodyPr wrap="square" rtlCol="0" anchor="ctr"/>
          <a:lstStyle/>
          <a:p>
            <a:pPr indent="0" marL="0">
              <a:buNone/>
            </a:pPr>
            <a:r>
              <a:rPr lang="en-US" sz="1100" dirty="0">
                <a:solidFill>
                  <a:srgbClr val="4A5A6B"/>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4297680" y="1828800"/>
            <a:ext cx="1737360" cy="1280160"/>
          </a:xfrm>
          <a:prstGeom prst="roundRect">
            <a:avLst>
              <a:gd name="adj" fmla="val 7143"/>
            </a:avLst>
          </a:prstGeom>
          <a:solidFill>
            <a:srgbClr val="F4F7FB"/>
          </a:solidFill>
          <a:ln w="12700">
            <a:solidFill>
              <a:srgbClr val="E2E8F0"/>
            </a:solidFill>
            <a:prstDash val="solid"/>
          </a:ln>
        </p:spPr>
      </p:sp>
      <p:sp>
        <p:nvSpPr>
          <p:cNvPr id="18" name="Shape 16"/>
          <p:cNvSpPr/>
          <p:nvPr/>
        </p:nvSpPr>
        <p:spPr>
          <a:xfrm>
            <a:off x="4297680" y="1828800"/>
            <a:ext cx="1737360" cy="91440"/>
          </a:xfrm>
          <a:prstGeom prst="rect">
            <a:avLst/>
          </a:prstGeom>
          <a:solidFill>
            <a:srgbClr val="F4A11A"/>
          </a:solidFill>
          <a:ln w="12700">
            <a:solidFill>
              <a:srgbClr val="F4A11A"/>
            </a:solidFill>
            <a:prstDash val="solid"/>
          </a:ln>
        </p:spPr>
      </p:sp>
      <p:sp>
        <p:nvSpPr>
          <p:cNvPr id="19" name="Text 17"/>
          <p:cNvSpPr/>
          <p:nvPr/>
        </p:nvSpPr>
        <p:spPr>
          <a:xfrm>
            <a:off x="4434840" y="2011680"/>
            <a:ext cx="1463040" cy="320040"/>
          </a:xfrm>
          <a:prstGeom prst="rect">
            <a:avLst/>
          </a:prstGeom>
          <a:noFill/>
          <a:ln/>
        </p:spPr>
        <p:txBody>
          <a:bodyPr wrap="square"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4 Perfis</a:t>
            </a:r>
            <a:endParaRPr lang="en-US" sz="1400" dirty="0"/>
          </a:p>
        </p:txBody>
      </p:sp>
      <p:sp>
        <p:nvSpPr>
          <p:cNvPr id="20" name="Text 18"/>
          <p:cNvSpPr/>
          <p:nvPr/>
        </p:nvSpPr>
        <p:spPr>
          <a:xfrm>
            <a:off x="4434840" y="2331720"/>
            <a:ext cx="1463040" cy="777240"/>
          </a:xfrm>
          <a:prstGeom prst="rect">
            <a:avLst/>
          </a:prstGeom>
          <a:noFill/>
          <a:ln/>
        </p:spPr>
        <p:txBody>
          <a:bodyPr wrap="square" rtlCol="0" anchor="t"/>
          <a:lstStyle/>
          <a:p>
            <a:pPr indent="0" marL="0">
              <a:buNone/>
            </a:pPr>
            <a:r>
              <a:rPr lang="en-US" sz="900" dirty="0">
                <a:solidFill>
                  <a:srgbClr val="4A5A6B"/>
                </a:solidFill>
                <a:latin typeface="Calibri" pitchFamily="34" charset="0"/>
                <a:ea typeface="Calibri" pitchFamily="34" charset="-122"/>
                <a:cs typeface="Calibri" pitchFamily="34" charset="-120"/>
              </a:rPr>
              <a:t>Fiel · Esquecido · Econômico · Abandono</a:t>
            </a:r>
            <a:endParaRPr lang="en-US" sz="900" dirty="0"/>
          </a:p>
        </p:txBody>
      </p:sp>
      <p:sp>
        <p:nvSpPr>
          <p:cNvPr id="21" name="Text 19"/>
          <p:cNvSpPr/>
          <p:nvPr/>
        </p:nvSpPr>
        <p:spPr>
          <a:xfrm>
            <a:off x="5989320" y="2331720"/>
            <a:ext cx="274320" cy="365760"/>
          </a:xfrm>
          <a:prstGeom prst="rect">
            <a:avLst/>
          </a:prstGeom>
          <a:noFill/>
          <a:ln/>
        </p:spPr>
        <p:txBody>
          <a:bodyPr wrap="square" rtlCol="0" anchor="ctr"/>
          <a:lstStyle/>
          <a:p>
            <a:pPr indent="0" marL="0">
              <a:buNone/>
            </a:pPr>
            <a:r>
              <a:rPr lang="en-US" sz="1100" dirty="0">
                <a:solidFill>
                  <a:srgbClr val="4A5A6B"/>
                </a:solidFill>
                <a:latin typeface="Calibri" pitchFamily="34" charset="0"/>
                <a:ea typeface="Calibri" pitchFamily="34" charset="-122"/>
                <a:cs typeface="Calibri" pitchFamily="34" charset="-120"/>
              </a:rPr>
              <a:t>▶</a:t>
            </a:r>
            <a:endParaRPr lang="en-US" sz="1100" dirty="0"/>
          </a:p>
        </p:txBody>
      </p:sp>
      <p:sp>
        <p:nvSpPr>
          <p:cNvPr id="22" name="Shape 20"/>
          <p:cNvSpPr/>
          <p:nvPr/>
        </p:nvSpPr>
        <p:spPr>
          <a:xfrm>
            <a:off x="6217920" y="1828800"/>
            <a:ext cx="1737360" cy="1280160"/>
          </a:xfrm>
          <a:prstGeom prst="roundRect">
            <a:avLst>
              <a:gd name="adj" fmla="val 7143"/>
            </a:avLst>
          </a:prstGeom>
          <a:solidFill>
            <a:srgbClr val="F4F7FB"/>
          </a:solidFill>
          <a:ln w="12700">
            <a:solidFill>
              <a:srgbClr val="E2E8F0"/>
            </a:solidFill>
            <a:prstDash val="solid"/>
          </a:ln>
        </p:spPr>
      </p:sp>
      <p:sp>
        <p:nvSpPr>
          <p:cNvPr id="23" name="Shape 21"/>
          <p:cNvSpPr/>
          <p:nvPr/>
        </p:nvSpPr>
        <p:spPr>
          <a:xfrm>
            <a:off x="6217920" y="1828800"/>
            <a:ext cx="1737360" cy="91440"/>
          </a:xfrm>
          <a:prstGeom prst="rect">
            <a:avLst/>
          </a:prstGeom>
          <a:solidFill>
            <a:srgbClr val="003478"/>
          </a:solidFill>
          <a:ln w="12700">
            <a:solidFill>
              <a:srgbClr val="003478"/>
            </a:solidFill>
            <a:prstDash val="solid"/>
          </a:ln>
        </p:spPr>
      </p:sp>
      <p:sp>
        <p:nvSpPr>
          <p:cNvPr id="24" name="Text 22"/>
          <p:cNvSpPr/>
          <p:nvPr/>
        </p:nvSpPr>
        <p:spPr>
          <a:xfrm>
            <a:off x="6355080" y="2011680"/>
            <a:ext cx="1463040" cy="320040"/>
          </a:xfrm>
          <a:prstGeom prst="rect">
            <a:avLst/>
          </a:prstGeom>
          <a:noFill/>
          <a:ln/>
        </p:spPr>
        <p:txBody>
          <a:bodyPr wrap="square"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Base 2</a:t>
            </a:r>
            <a:endParaRPr lang="en-US" sz="1400" dirty="0"/>
          </a:p>
        </p:txBody>
      </p:sp>
      <p:sp>
        <p:nvSpPr>
          <p:cNvPr id="25" name="Text 23"/>
          <p:cNvSpPr/>
          <p:nvPr/>
        </p:nvSpPr>
        <p:spPr>
          <a:xfrm>
            <a:off x="6355080" y="2331720"/>
            <a:ext cx="1463040" cy="777240"/>
          </a:xfrm>
          <a:prstGeom prst="rect">
            <a:avLst/>
          </a:prstGeom>
          <a:noFill/>
          <a:ln/>
        </p:spPr>
        <p:txBody>
          <a:bodyPr wrap="square" rtlCol="0" anchor="t"/>
          <a:lstStyle/>
          <a:p>
            <a:pPr indent="0" marL="0">
              <a:buNone/>
            </a:pPr>
            <a:r>
              <a:rPr lang="en-US" sz="900" dirty="0">
                <a:solidFill>
                  <a:srgbClr val="4A5A6B"/>
                </a:solidFill>
                <a:latin typeface="Calibri" pitchFamily="34" charset="0"/>
                <a:ea typeface="Calibri" pitchFamily="34" charset="-122"/>
                <a:cs typeface="Calibri" pitchFamily="34" charset="-120"/>
              </a:rPr>
              <a:t>Features pré-compra (sem leakage)</a:t>
            </a:r>
            <a:endParaRPr lang="en-US" sz="900" dirty="0"/>
          </a:p>
        </p:txBody>
      </p:sp>
      <p:sp>
        <p:nvSpPr>
          <p:cNvPr id="26" name="Text 24"/>
          <p:cNvSpPr/>
          <p:nvPr/>
        </p:nvSpPr>
        <p:spPr>
          <a:xfrm>
            <a:off x="7909560" y="2331720"/>
            <a:ext cx="274320" cy="365760"/>
          </a:xfrm>
          <a:prstGeom prst="rect">
            <a:avLst/>
          </a:prstGeom>
          <a:noFill/>
          <a:ln/>
        </p:spPr>
        <p:txBody>
          <a:bodyPr wrap="square" rtlCol="0" anchor="ctr"/>
          <a:lstStyle/>
          <a:p>
            <a:pPr indent="0" marL="0">
              <a:buNone/>
            </a:pPr>
            <a:r>
              <a:rPr lang="en-US" sz="1100" dirty="0">
                <a:solidFill>
                  <a:srgbClr val="4A5A6B"/>
                </a:solidFill>
                <a:latin typeface="Calibri" pitchFamily="34" charset="0"/>
                <a:ea typeface="Calibri" pitchFamily="34" charset="-122"/>
                <a:cs typeface="Calibri" pitchFamily="34" charset="-120"/>
              </a:rPr>
              <a:t>▶</a:t>
            </a:r>
            <a:endParaRPr lang="en-US" sz="1100" dirty="0"/>
          </a:p>
        </p:txBody>
      </p:sp>
      <p:sp>
        <p:nvSpPr>
          <p:cNvPr id="27" name="Shape 25"/>
          <p:cNvSpPr/>
          <p:nvPr/>
        </p:nvSpPr>
        <p:spPr>
          <a:xfrm>
            <a:off x="8138160" y="1828800"/>
            <a:ext cx="1737360" cy="1280160"/>
          </a:xfrm>
          <a:prstGeom prst="roundRect">
            <a:avLst>
              <a:gd name="adj" fmla="val 7143"/>
            </a:avLst>
          </a:prstGeom>
          <a:solidFill>
            <a:srgbClr val="F4F7FB"/>
          </a:solidFill>
          <a:ln w="12700">
            <a:solidFill>
              <a:srgbClr val="E2E8F0"/>
            </a:solidFill>
            <a:prstDash val="solid"/>
          </a:ln>
        </p:spPr>
      </p:sp>
      <p:sp>
        <p:nvSpPr>
          <p:cNvPr id="28" name="Shape 26"/>
          <p:cNvSpPr/>
          <p:nvPr/>
        </p:nvSpPr>
        <p:spPr>
          <a:xfrm>
            <a:off x="8138160" y="1828800"/>
            <a:ext cx="1737360" cy="91440"/>
          </a:xfrm>
          <a:prstGeom prst="rect">
            <a:avLst/>
          </a:prstGeom>
          <a:solidFill>
            <a:srgbClr val="00A896"/>
          </a:solidFill>
          <a:ln w="12700">
            <a:solidFill>
              <a:srgbClr val="00A896"/>
            </a:solidFill>
            <a:prstDash val="solid"/>
          </a:ln>
        </p:spPr>
      </p:sp>
      <p:sp>
        <p:nvSpPr>
          <p:cNvPr id="29" name="Text 27"/>
          <p:cNvSpPr/>
          <p:nvPr/>
        </p:nvSpPr>
        <p:spPr>
          <a:xfrm>
            <a:off x="8275320" y="2011680"/>
            <a:ext cx="1463040" cy="320040"/>
          </a:xfrm>
          <a:prstGeom prst="rect">
            <a:avLst/>
          </a:prstGeom>
          <a:noFill/>
          <a:ln/>
        </p:spPr>
        <p:txBody>
          <a:bodyPr wrap="square"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XGBoost</a:t>
            </a:r>
            <a:endParaRPr lang="en-US" sz="1400" dirty="0"/>
          </a:p>
        </p:txBody>
      </p:sp>
      <p:sp>
        <p:nvSpPr>
          <p:cNvPr id="30" name="Text 28"/>
          <p:cNvSpPr/>
          <p:nvPr/>
        </p:nvSpPr>
        <p:spPr>
          <a:xfrm>
            <a:off x="8275320" y="2331720"/>
            <a:ext cx="1463040" cy="777240"/>
          </a:xfrm>
          <a:prstGeom prst="rect">
            <a:avLst/>
          </a:prstGeom>
          <a:noFill/>
          <a:ln/>
        </p:spPr>
        <p:txBody>
          <a:bodyPr wrap="square" rtlCol="0" anchor="t"/>
          <a:lstStyle/>
          <a:p>
            <a:pPr indent="0" marL="0">
              <a:buNone/>
            </a:pPr>
            <a:r>
              <a:rPr lang="en-US" sz="900" dirty="0">
                <a:solidFill>
                  <a:srgbClr val="4A5A6B"/>
                </a:solidFill>
                <a:latin typeface="Calibri" pitchFamily="34" charset="0"/>
                <a:ea typeface="Calibri" pitchFamily="34" charset="-122"/>
                <a:cs typeface="Calibri" pitchFamily="34" charset="-120"/>
              </a:rPr>
              <a:t>n_estimators=400 · max_depth=7 · 62,7% acc</a:t>
            </a:r>
            <a:endParaRPr lang="en-US" sz="900" dirty="0"/>
          </a:p>
        </p:txBody>
      </p:sp>
      <p:sp>
        <p:nvSpPr>
          <p:cNvPr id="31" name="Text 29"/>
          <p:cNvSpPr/>
          <p:nvPr/>
        </p:nvSpPr>
        <p:spPr>
          <a:xfrm>
            <a:off x="9829800" y="2331720"/>
            <a:ext cx="274320" cy="365760"/>
          </a:xfrm>
          <a:prstGeom prst="rect">
            <a:avLst/>
          </a:prstGeom>
          <a:noFill/>
          <a:ln/>
        </p:spPr>
        <p:txBody>
          <a:bodyPr wrap="square" rtlCol="0" anchor="ctr"/>
          <a:lstStyle/>
          <a:p>
            <a:pPr indent="0" marL="0">
              <a:buNone/>
            </a:pPr>
            <a:r>
              <a:rPr lang="en-US" sz="1100" dirty="0">
                <a:solidFill>
                  <a:srgbClr val="4A5A6B"/>
                </a:solidFill>
                <a:latin typeface="Calibri" pitchFamily="34" charset="0"/>
                <a:ea typeface="Calibri" pitchFamily="34" charset="-122"/>
                <a:cs typeface="Calibri" pitchFamily="34" charset="-120"/>
              </a:rPr>
              <a:t>▶</a:t>
            </a:r>
            <a:endParaRPr lang="en-US" sz="1100" dirty="0"/>
          </a:p>
        </p:txBody>
      </p:sp>
      <p:sp>
        <p:nvSpPr>
          <p:cNvPr id="32" name="Shape 30"/>
          <p:cNvSpPr/>
          <p:nvPr/>
        </p:nvSpPr>
        <p:spPr>
          <a:xfrm>
            <a:off x="10058400" y="1828800"/>
            <a:ext cx="1737360" cy="1280160"/>
          </a:xfrm>
          <a:prstGeom prst="roundRect">
            <a:avLst>
              <a:gd name="adj" fmla="val 7143"/>
            </a:avLst>
          </a:prstGeom>
          <a:solidFill>
            <a:srgbClr val="F4F7FB"/>
          </a:solidFill>
          <a:ln w="12700">
            <a:solidFill>
              <a:srgbClr val="E2E8F0"/>
            </a:solidFill>
            <a:prstDash val="solid"/>
          </a:ln>
        </p:spPr>
      </p:sp>
      <p:sp>
        <p:nvSpPr>
          <p:cNvPr id="33" name="Shape 31"/>
          <p:cNvSpPr/>
          <p:nvPr/>
        </p:nvSpPr>
        <p:spPr>
          <a:xfrm>
            <a:off x="10058400" y="1828800"/>
            <a:ext cx="1737360" cy="91440"/>
          </a:xfrm>
          <a:prstGeom prst="rect">
            <a:avLst/>
          </a:prstGeom>
          <a:solidFill>
            <a:srgbClr val="E63946"/>
          </a:solidFill>
          <a:ln w="12700">
            <a:solidFill>
              <a:srgbClr val="E63946"/>
            </a:solidFill>
            <a:prstDash val="solid"/>
          </a:ln>
        </p:spPr>
      </p:sp>
      <p:sp>
        <p:nvSpPr>
          <p:cNvPr id="34" name="Text 32"/>
          <p:cNvSpPr/>
          <p:nvPr/>
        </p:nvSpPr>
        <p:spPr>
          <a:xfrm>
            <a:off x="10195560" y="2011680"/>
            <a:ext cx="1463040" cy="320040"/>
          </a:xfrm>
          <a:prstGeom prst="rect">
            <a:avLst/>
          </a:prstGeom>
          <a:noFill/>
          <a:ln/>
        </p:spPr>
        <p:txBody>
          <a:bodyPr wrap="square"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Predição</a:t>
            </a:r>
            <a:endParaRPr lang="en-US" sz="1400" dirty="0"/>
          </a:p>
        </p:txBody>
      </p:sp>
      <p:sp>
        <p:nvSpPr>
          <p:cNvPr id="35" name="Text 33"/>
          <p:cNvSpPr/>
          <p:nvPr/>
        </p:nvSpPr>
        <p:spPr>
          <a:xfrm>
            <a:off x="10195560" y="2331720"/>
            <a:ext cx="1463040" cy="777240"/>
          </a:xfrm>
          <a:prstGeom prst="rect">
            <a:avLst/>
          </a:prstGeom>
          <a:noFill/>
          <a:ln/>
        </p:spPr>
        <p:txBody>
          <a:bodyPr wrap="square" rtlCol="0" anchor="t"/>
          <a:lstStyle/>
          <a:p>
            <a:pPr indent="0" marL="0">
              <a:buNone/>
            </a:pPr>
            <a:r>
              <a:rPr lang="en-US" sz="900" dirty="0">
                <a:solidFill>
                  <a:srgbClr val="4A5A6B"/>
                </a:solidFill>
                <a:latin typeface="Calibri" pitchFamily="34" charset="0"/>
                <a:ea typeface="Calibri" pitchFamily="34" charset="-122"/>
                <a:cs typeface="Calibri" pitchFamily="34" charset="-120"/>
              </a:rPr>
              <a:t>Perfil + risco_evasão por cliente</a:t>
            </a:r>
            <a:endParaRPr lang="en-US" sz="900" dirty="0"/>
          </a:p>
        </p:txBody>
      </p:sp>
      <p:sp>
        <p:nvSpPr>
          <p:cNvPr id="36" name="Shape 34"/>
          <p:cNvSpPr/>
          <p:nvPr/>
        </p:nvSpPr>
        <p:spPr>
          <a:xfrm>
            <a:off x="457200" y="3520440"/>
            <a:ext cx="3657600" cy="1371600"/>
          </a:xfrm>
          <a:prstGeom prst="roundRect">
            <a:avLst>
              <a:gd name="adj" fmla="val 6667"/>
            </a:avLst>
          </a:prstGeom>
          <a:solidFill>
            <a:srgbClr val="F4F7FB"/>
          </a:solidFill>
          <a:ln w="6350">
            <a:solidFill>
              <a:srgbClr val="E2E8F0"/>
            </a:solidFill>
            <a:prstDash val="solid"/>
          </a:ln>
        </p:spPr>
      </p:sp>
      <p:sp>
        <p:nvSpPr>
          <p:cNvPr id="37" name="Shape 35"/>
          <p:cNvSpPr/>
          <p:nvPr/>
        </p:nvSpPr>
        <p:spPr>
          <a:xfrm>
            <a:off x="457200" y="3520440"/>
            <a:ext cx="109728" cy="1371600"/>
          </a:xfrm>
          <a:prstGeom prst="rect">
            <a:avLst/>
          </a:prstGeom>
          <a:solidFill>
            <a:srgbClr val="E63946"/>
          </a:solidFill>
          <a:ln w="12700">
            <a:solidFill>
              <a:srgbClr val="E63946"/>
            </a:solidFill>
            <a:prstDash val="solid"/>
          </a:ln>
        </p:spPr>
      </p:sp>
      <p:sp>
        <p:nvSpPr>
          <p:cNvPr id="38" name="Text 36"/>
          <p:cNvSpPr/>
          <p:nvPr/>
        </p:nvSpPr>
        <p:spPr>
          <a:xfrm>
            <a:off x="685800" y="3657600"/>
            <a:ext cx="3337560" cy="274320"/>
          </a:xfrm>
          <a:prstGeom prst="rect">
            <a:avLst/>
          </a:prstGeom>
          <a:noFill/>
          <a:ln/>
        </p:spPr>
        <p:txBody>
          <a:bodyPr wrap="square" rtlCol="0" anchor="ctr"/>
          <a:lstStyle/>
          <a:p>
            <a:pPr indent="0" marL="0">
              <a:buNone/>
            </a:pPr>
            <a:r>
              <a:rPr lang="en-US" sz="900" b="1" spc="400" kern="0" dirty="0">
                <a:solidFill>
                  <a:srgbClr val="4A5A6B"/>
                </a:solidFill>
                <a:latin typeface="Calibri" pitchFamily="34" charset="0"/>
                <a:ea typeface="Calibri" pitchFamily="34" charset="-122"/>
                <a:cs typeface="Calibri" pitchFamily="34" charset="-120"/>
              </a:rPr>
              <a:t>REGRA DE OURO</a:t>
            </a:r>
            <a:endParaRPr lang="en-US" sz="900" dirty="0"/>
          </a:p>
        </p:txBody>
      </p:sp>
      <p:sp>
        <p:nvSpPr>
          <p:cNvPr id="39" name="Text 37"/>
          <p:cNvSpPr/>
          <p:nvPr/>
        </p:nvSpPr>
        <p:spPr>
          <a:xfrm>
            <a:off x="685800" y="3931920"/>
            <a:ext cx="3337560" cy="731520"/>
          </a:xfrm>
          <a:prstGeom prst="rect">
            <a:avLst/>
          </a:prstGeom>
          <a:noFill/>
          <a:ln/>
        </p:spPr>
        <p:txBody>
          <a:bodyPr wrap="square" rtlCol="0" anchor="t"/>
          <a:lstStyle/>
          <a:p>
            <a:pPr indent="0" marL="0">
              <a:buNone/>
            </a:pPr>
            <a:r>
              <a:rPr lang="en-US" sz="1100" dirty="0">
                <a:solidFill>
                  <a:srgbClr val="0A1628"/>
                </a:solidFill>
                <a:latin typeface="Calibri" pitchFamily="34" charset="0"/>
                <a:ea typeface="Calibri" pitchFamily="34" charset="-122"/>
                <a:cs typeface="Calibri" pitchFamily="34" charset="-120"/>
              </a:rPr>
              <a:t>Zero data leakage</a:t>
            </a:r>
            <a:endParaRPr lang="en-US" sz="1100" dirty="0"/>
          </a:p>
        </p:txBody>
      </p:sp>
      <p:sp>
        <p:nvSpPr>
          <p:cNvPr id="40" name="Text 38"/>
          <p:cNvSpPr/>
          <p:nvPr/>
        </p:nvSpPr>
        <p:spPr>
          <a:xfrm>
            <a:off x="685800" y="4526280"/>
            <a:ext cx="3337560" cy="228600"/>
          </a:xfrm>
          <a:prstGeom prst="rect">
            <a:avLst/>
          </a:prstGeom>
          <a:noFill/>
          <a:ln/>
        </p:spPr>
        <p:txBody>
          <a:bodyPr wrap="square" rtlCol="0" anchor="ctr"/>
          <a:lstStyle/>
          <a:p>
            <a:pPr indent="0" marL="0">
              <a:buNone/>
            </a:pPr>
            <a:r>
              <a:rPr lang="en-US" sz="900" i="1" dirty="0">
                <a:solidFill>
                  <a:srgbClr val="4A5A6B"/>
                </a:solidFill>
                <a:latin typeface="Calibri" pitchFamily="34" charset="0"/>
                <a:ea typeface="Calibri" pitchFamily="34" charset="-122"/>
                <a:cs typeface="Calibri" pitchFamily="34" charset="-120"/>
              </a:rPr>
              <a:t>Nenhuma variável pós-compra entra no Base 2</a:t>
            </a:r>
            <a:endParaRPr lang="en-US" sz="900" dirty="0"/>
          </a:p>
        </p:txBody>
      </p:sp>
      <p:sp>
        <p:nvSpPr>
          <p:cNvPr id="41" name="Shape 39"/>
          <p:cNvSpPr/>
          <p:nvPr/>
        </p:nvSpPr>
        <p:spPr>
          <a:xfrm>
            <a:off x="4297680" y="3520440"/>
            <a:ext cx="3657600" cy="1371600"/>
          </a:xfrm>
          <a:prstGeom prst="roundRect">
            <a:avLst>
              <a:gd name="adj" fmla="val 6667"/>
            </a:avLst>
          </a:prstGeom>
          <a:solidFill>
            <a:srgbClr val="F4F7FB"/>
          </a:solidFill>
          <a:ln w="6350">
            <a:solidFill>
              <a:srgbClr val="E2E8F0"/>
            </a:solidFill>
            <a:prstDash val="solid"/>
          </a:ln>
        </p:spPr>
      </p:sp>
      <p:sp>
        <p:nvSpPr>
          <p:cNvPr id="42" name="Shape 40"/>
          <p:cNvSpPr/>
          <p:nvPr/>
        </p:nvSpPr>
        <p:spPr>
          <a:xfrm>
            <a:off x="4297680" y="3520440"/>
            <a:ext cx="109728" cy="1371600"/>
          </a:xfrm>
          <a:prstGeom prst="rect">
            <a:avLst/>
          </a:prstGeom>
          <a:solidFill>
            <a:srgbClr val="003478"/>
          </a:solidFill>
          <a:ln w="12700">
            <a:solidFill>
              <a:srgbClr val="003478"/>
            </a:solidFill>
            <a:prstDash val="solid"/>
          </a:ln>
        </p:spPr>
      </p:sp>
      <p:sp>
        <p:nvSpPr>
          <p:cNvPr id="43" name="Text 41"/>
          <p:cNvSpPr/>
          <p:nvPr/>
        </p:nvSpPr>
        <p:spPr>
          <a:xfrm>
            <a:off x="4526280" y="3657600"/>
            <a:ext cx="3337560" cy="274320"/>
          </a:xfrm>
          <a:prstGeom prst="rect">
            <a:avLst/>
          </a:prstGeom>
          <a:noFill/>
          <a:ln/>
        </p:spPr>
        <p:txBody>
          <a:bodyPr wrap="square" rtlCol="0" anchor="ctr"/>
          <a:lstStyle/>
          <a:p>
            <a:pPr indent="0" marL="0">
              <a:buNone/>
            </a:pPr>
            <a:r>
              <a:rPr lang="en-US" sz="900" b="1" spc="400" kern="0" dirty="0">
                <a:solidFill>
                  <a:srgbClr val="4A5A6B"/>
                </a:solidFill>
                <a:latin typeface="Calibri" pitchFamily="34" charset="0"/>
                <a:ea typeface="Calibri" pitchFamily="34" charset="-122"/>
                <a:cs typeface="Calibri" pitchFamily="34" charset="-120"/>
              </a:rPr>
              <a:t>MÉTRICAS</a:t>
            </a:r>
            <a:endParaRPr lang="en-US" sz="900" dirty="0"/>
          </a:p>
        </p:txBody>
      </p:sp>
      <p:sp>
        <p:nvSpPr>
          <p:cNvPr id="44" name="Text 42"/>
          <p:cNvSpPr/>
          <p:nvPr/>
        </p:nvSpPr>
        <p:spPr>
          <a:xfrm>
            <a:off x="4526280" y="3931920"/>
            <a:ext cx="3337560" cy="731520"/>
          </a:xfrm>
          <a:prstGeom prst="rect">
            <a:avLst/>
          </a:prstGeom>
          <a:noFill/>
          <a:ln/>
        </p:spPr>
        <p:txBody>
          <a:bodyPr wrap="square" rtlCol="0" anchor="t"/>
          <a:lstStyle/>
          <a:p>
            <a:pPr indent="0" marL="0">
              <a:buNone/>
            </a:pPr>
            <a:r>
              <a:rPr lang="en-US" sz="1100" dirty="0">
                <a:solidFill>
                  <a:srgbClr val="0A1628"/>
                </a:solidFill>
                <a:latin typeface="Calibri" pitchFamily="34" charset="0"/>
                <a:ea typeface="Calibri" pitchFamily="34" charset="-122"/>
                <a:cs typeface="Calibri" pitchFamily="34" charset="-120"/>
              </a:rPr>
              <a:t>Accuracy · F1 · Matriz confusão</a:t>
            </a:r>
            <a:endParaRPr lang="en-US" sz="1100" dirty="0"/>
          </a:p>
        </p:txBody>
      </p:sp>
      <p:sp>
        <p:nvSpPr>
          <p:cNvPr id="45" name="Text 43"/>
          <p:cNvSpPr/>
          <p:nvPr/>
        </p:nvSpPr>
        <p:spPr>
          <a:xfrm>
            <a:off x="4526280" y="4526280"/>
            <a:ext cx="3337560" cy="228600"/>
          </a:xfrm>
          <a:prstGeom prst="rect">
            <a:avLst/>
          </a:prstGeom>
          <a:noFill/>
          <a:ln/>
        </p:spPr>
        <p:txBody>
          <a:bodyPr wrap="square" rtlCol="0" anchor="ctr"/>
          <a:lstStyle/>
          <a:p>
            <a:pPr indent="0" marL="0">
              <a:buNone/>
            </a:pPr>
            <a:r>
              <a:rPr lang="en-US" sz="900" i="1" dirty="0">
                <a:solidFill>
                  <a:srgbClr val="4A5A6B"/>
                </a:solidFill>
                <a:latin typeface="Calibri" pitchFamily="34" charset="0"/>
                <a:ea typeface="Calibri" pitchFamily="34" charset="-122"/>
                <a:cs typeface="Calibri" pitchFamily="34" charset="-120"/>
              </a:rPr>
              <a:t>Reportadas no notebook + relatório PDF</a:t>
            </a:r>
            <a:endParaRPr lang="en-US" sz="900" dirty="0"/>
          </a:p>
        </p:txBody>
      </p:sp>
      <p:sp>
        <p:nvSpPr>
          <p:cNvPr id="46" name="Shape 44"/>
          <p:cNvSpPr/>
          <p:nvPr/>
        </p:nvSpPr>
        <p:spPr>
          <a:xfrm>
            <a:off x="8138160" y="3520440"/>
            <a:ext cx="3657600" cy="1371600"/>
          </a:xfrm>
          <a:prstGeom prst="roundRect">
            <a:avLst>
              <a:gd name="adj" fmla="val 6667"/>
            </a:avLst>
          </a:prstGeom>
          <a:solidFill>
            <a:srgbClr val="F4F7FB"/>
          </a:solidFill>
          <a:ln w="6350">
            <a:solidFill>
              <a:srgbClr val="E2E8F0"/>
            </a:solidFill>
            <a:prstDash val="solid"/>
          </a:ln>
        </p:spPr>
      </p:sp>
      <p:sp>
        <p:nvSpPr>
          <p:cNvPr id="47" name="Shape 45"/>
          <p:cNvSpPr/>
          <p:nvPr/>
        </p:nvSpPr>
        <p:spPr>
          <a:xfrm>
            <a:off x="8138160" y="3520440"/>
            <a:ext cx="109728" cy="1371600"/>
          </a:xfrm>
          <a:prstGeom prst="rect">
            <a:avLst/>
          </a:prstGeom>
          <a:solidFill>
            <a:srgbClr val="00A896"/>
          </a:solidFill>
          <a:ln w="12700">
            <a:solidFill>
              <a:srgbClr val="00A896"/>
            </a:solidFill>
            <a:prstDash val="solid"/>
          </a:ln>
        </p:spPr>
      </p:sp>
      <p:sp>
        <p:nvSpPr>
          <p:cNvPr id="48" name="Text 46"/>
          <p:cNvSpPr/>
          <p:nvPr/>
        </p:nvSpPr>
        <p:spPr>
          <a:xfrm>
            <a:off x="8366760" y="3657600"/>
            <a:ext cx="3337560" cy="274320"/>
          </a:xfrm>
          <a:prstGeom prst="rect">
            <a:avLst/>
          </a:prstGeom>
          <a:noFill/>
          <a:ln/>
        </p:spPr>
        <p:txBody>
          <a:bodyPr wrap="square" rtlCol="0" anchor="ctr"/>
          <a:lstStyle/>
          <a:p>
            <a:pPr indent="0" marL="0">
              <a:buNone/>
            </a:pPr>
            <a:r>
              <a:rPr lang="en-US" sz="900" b="1" spc="400" kern="0" dirty="0">
                <a:solidFill>
                  <a:srgbClr val="4A5A6B"/>
                </a:solidFill>
                <a:latin typeface="Calibri" pitchFamily="34" charset="0"/>
                <a:ea typeface="Calibri" pitchFamily="34" charset="-122"/>
                <a:cs typeface="Calibri" pitchFamily="34" charset="-120"/>
              </a:rPr>
              <a:t>AÇÕES POR PERFIL</a:t>
            </a:r>
            <a:endParaRPr lang="en-US" sz="900" dirty="0"/>
          </a:p>
        </p:txBody>
      </p:sp>
      <p:sp>
        <p:nvSpPr>
          <p:cNvPr id="49" name="Text 47"/>
          <p:cNvSpPr/>
          <p:nvPr/>
        </p:nvSpPr>
        <p:spPr>
          <a:xfrm>
            <a:off x="8366760" y="3931920"/>
            <a:ext cx="3337560" cy="731520"/>
          </a:xfrm>
          <a:prstGeom prst="rect">
            <a:avLst/>
          </a:prstGeom>
          <a:noFill/>
          <a:ln/>
        </p:spPr>
        <p:txBody>
          <a:bodyPr wrap="square" rtlCol="0" anchor="t"/>
          <a:lstStyle/>
          <a:p>
            <a:pPr indent="0" marL="0">
              <a:buNone/>
            </a:pPr>
            <a:r>
              <a:rPr lang="en-US" sz="1100" dirty="0">
                <a:solidFill>
                  <a:srgbClr val="0A1628"/>
                </a:solidFill>
                <a:latin typeface="Calibri" pitchFamily="34" charset="0"/>
                <a:ea typeface="Calibri" pitchFamily="34" charset="-122"/>
                <a:cs typeface="Calibri" pitchFamily="34" charset="-120"/>
              </a:rPr>
              <a:t>4 templates de retenção</a:t>
            </a:r>
            <a:endParaRPr lang="en-US" sz="1100" dirty="0"/>
          </a:p>
        </p:txBody>
      </p:sp>
      <p:sp>
        <p:nvSpPr>
          <p:cNvPr id="50" name="Text 48"/>
          <p:cNvSpPr/>
          <p:nvPr/>
        </p:nvSpPr>
        <p:spPr>
          <a:xfrm>
            <a:off x="8366760" y="4526280"/>
            <a:ext cx="3337560" cy="228600"/>
          </a:xfrm>
          <a:prstGeom prst="rect">
            <a:avLst/>
          </a:prstGeom>
          <a:noFill/>
          <a:ln/>
        </p:spPr>
        <p:txBody>
          <a:bodyPr wrap="square" rtlCol="0" anchor="ctr"/>
          <a:lstStyle/>
          <a:p>
            <a:pPr indent="0" marL="0">
              <a:buNone/>
            </a:pPr>
            <a:r>
              <a:rPr lang="en-US" sz="900" i="1" dirty="0">
                <a:solidFill>
                  <a:srgbClr val="4A5A6B"/>
                </a:solidFill>
                <a:latin typeface="Calibri" pitchFamily="34" charset="0"/>
                <a:ea typeface="Calibri" pitchFamily="34" charset="-122"/>
                <a:cs typeface="Calibri" pitchFamily="34" charset="-120"/>
              </a:rPr>
              <a:t>Codificados em ACOES_POR_PERFIL.json</a:t>
            </a:r>
            <a:endParaRPr lang="en-US" sz="900" dirty="0"/>
          </a:p>
        </p:txBody>
      </p:sp>
      <p:sp>
        <p:nvSpPr>
          <p:cNvPr id="51" name="Text 49"/>
          <p:cNvSpPr/>
          <p:nvPr/>
        </p:nvSpPr>
        <p:spPr>
          <a:xfrm>
            <a:off x="457200" y="5212080"/>
            <a:ext cx="137160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Entregáveis: </a:t>
            </a:r>
            <a:endParaRPr lang="en-US" sz="1100" dirty="0"/>
          </a:p>
        </p:txBody>
      </p:sp>
      <p:sp>
        <p:nvSpPr>
          <p:cNvPr id="52" name="Text 50"/>
          <p:cNvSpPr/>
          <p:nvPr/>
        </p:nvSpPr>
        <p:spPr>
          <a:xfrm>
            <a:off x="1828800" y="5212080"/>
            <a:ext cx="10058400" cy="274320"/>
          </a:xfrm>
          <a:prstGeom prst="rect">
            <a:avLst/>
          </a:prstGeom>
          <a:noFill/>
          <a:ln/>
        </p:spPr>
        <p:txBody>
          <a:bodyPr wrap="square" rtlCol="0" anchor="ctr"/>
          <a:lstStyle/>
          <a:p>
            <a:pPr indent="0" marL="0">
              <a:buNone/>
            </a:pPr>
            <a:r>
              <a:rPr lang="en-US" sz="1000" dirty="0">
                <a:solidFill>
                  <a:srgbClr val="E63946"/>
                </a:solidFill>
                <a:latin typeface="Consolas" pitchFamily="34" charset="0"/>
                <a:ea typeface="Consolas" pitchFamily="34" charset="-122"/>
                <a:cs typeface="Consolas" pitchFamily="34" charset="-120"/>
              </a:rPr>
              <a:t>ford_segmentation.ipynb</a:t>
            </a:r>
            <a:pPr indent="0" marL="0">
              <a:buNone/>
            </a:pPr>
            <a:r>
              <a:rPr lang="en-US" sz="1000" dirty="0">
                <a:solidFill>
                  <a:srgbClr val="E63946"/>
                </a:solidFill>
                <a:latin typeface="Consolas" pitchFamily="34" charset="0"/>
                <a:ea typeface="Consolas" pitchFamily="34" charset="-122"/>
                <a:cs typeface="Consolas" pitchFamily="34" charset="-120"/>
              </a:rPr>
              <a:t>  ·  Relatorio_Desafio_2_ML.pdf</a:t>
            </a:r>
            <a:pPr indent="0" marL="0">
              <a:buNone/>
            </a:pPr>
            <a:r>
              <a:rPr lang="en-US" sz="1000" dirty="0">
                <a:solidFill>
                  <a:srgbClr val="E63946"/>
                </a:solidFill>
                <a:latin typeface="Consolas" pitchFamily="34" charset="0"/>
                <a:ea typeface="Consolas" pitchFamily="34" charset="-122"/>
                <a:cs typeface="Consolas" pitchFamily="34" charset="-120"/>
              </a:rPr>
              <a:t>  ·  classifier_real_v1.joblib</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rtlCol="0" anchor="ctr"/>
          <a:lstStyle/>
          <a:p>
            <a:pPr indent="0" marL="0">
              <a:buNone/>
            </a:pPr>
            <a:r>
              <a:rPr lang="en-US" sz="1000" b="1" spc="600" kern="0" dirty="0">
                <a:solidFill>
                  <a:srgbClr val="CADCFC"/>
                </a:solidFill>
                <a:latin typeface="Calibri" pitchFamily="34" charset="0"/>
                <a:ea typeface="Calibri" pitchFamily="34" charset="-122"/>
                <a:cs typeface="Calibri" pitchFamily="34" charset="-120"/>
              </a:rPr>
              <a:t>DISCIPLINA 4 · CYBERSECURITY</a:t>
            </a:r>
            <a:endParaRPr lang="en-US" sz="1000" dirty="0"/>
          </a:p>
        </p:txBody>
      </p:sp>
      <p:sp>
        <p:nvSpPr>
          <p:cNvPr id="3" name="Text 1"/>
          <p:cNvSpPr/>
          <p:nvPr/>
        </p:nvSpPr>
        <p:spPr>
          <a:xfrm>
            <a:off x="457200" y="685800"/>
            <a:ext cx="10972800" cy="91440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Segurança no Sprint 3 · 10 pontos</a:t>
            </a:r>
            <a:endParaRPr lang="en-US" sz="3200" dirty="0"/>
          </a:p>
        </p:txBody>
      </p:sp>
      <p:sp>
        <p:nvSpPr>
          <p:cNvPr id="4" name="Shape 2"/>
          <p:cNvSpPr/>
          <p:nvPr/>
        </p:nvSpPr>
        <p:spPr>
          <a:xfrm>
            <a:off x="11155680" y="320040"/>
            <a:ext cx="594360" cy="411480"/>
          </a:xfrm>
          <a:prstGeom prst="roundRect">
            <a:avLst>
              <a:gd name="adj" fmla="val 17778"/>
            </a:avLst>
          </a:prstGeom>
          <a:solidFill>
            <a:srgbClr val="E63946"/>
          </a:solidFill>
          <a:ln w="12700">
            <a:solidFill>
              <a:srgbClr val="E63946"/>
            </a:solidFill>
            <a:prstDash val="solid"/>
          </a:ln>
        </p:spPr>
      </p:sp>
      <p:sp>
        <p:nvSpPr>
          <p:cNvPr id="5" name="Text 3"/>
          <p:cNvSpPr/>
          <p:nvPr/>
        </p:nvSpPr>
        <p:spPr>
          <a:xfrm>
            <a:off x="11155680" y="320040"/>
            <a:ext cx="59436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a:t>
            </a:r>
            <a:endParaRPr lang="en-US" sz="1400" dirty="0"/>
          </a:p>
        </p:txBody>
      </p:sp>
      <p:sp>
        <p:nvSpPr>
          <p:cNvPr id="6" name="Text 4"/>
          <p:cNvSpPr/>
          <p:nvPr/>
        </p:nvSpPr>
        <p:spPr>
          <a:xfrm>
            <a:off x="457200" y="6446520"/>
            <a:ext cx="11247120" cy="274320"/>
          </a:xfrm>
          <a:prstGeom prst="rect">
            <a:avLst/>
          </a:prstGeom>
          <a:noFill/>
          <a:ln/>
        </p:spPr>
        <p:txBody>
          <a:bodyPr wrap="square" rtlCol="0" anchor="ctr"/>
          <a:lstStyle/>
          <a:p>
            <a:pPr indent="0" marL="0">
              <a:buNone/>
            </a:pPr>
            <a:r>
              <a:rPr lang="en-US" sz="900" dirty="0">
                <a:solidFill>
                  <a:srgbClr val="8A9BAB"/>
                </a:solidFill>
                <a:latin typeface="Calibri" pitchFamily="34" charset="0"/>
                <a:ea typeface="Calibri" pitchFamily="34" charset="-122"/>
                <a:cs typeface="Calibri" pitchFamily="34" charset="-120"/>
              </a:rPr>
              <a:t>Faro AI · 10 / 14</a:t>
            </a:r>
            <a:endParaRPr lang="en-US" sz="900" dirty="0"/>
          </a:p>
        </p:txBody>
      </p:sp>
      <p:sp>
        <p:nvSpPr>
          <p:cNvPr id="7" name="Shape 5"/>
          <p:cNvSpPr/>
          <p:nvPr/>
        </p:nvSpPr>
        <p:spPr>
          <a:xfrm>
            <a:off x="457200" y="1965960"/>
            <a:ext cx="11247120" cy="731520"/>
          </a:xfrm>
          <a:prstGeom prst="roundRect">
            <a:avLst>
              <a:gd name="adj" fmla="val 10000"/>
            </a:avLst>
          </a:prstGeom>
          <a:solidFill>
            <a:srgbClr val="152844"/>
          </a:solidFill>
          <a:ln w="12700">
            <a:solidFill>
              <a:srgbClr val="20354A"/>
            </a:solidFill>
            <a:prstDash val="solid"/>
          </a:ln>
        </p:spPr>
      </p:sp>
      <p:sp>
        <p:nvSpPr>
          <p:cNvPr id="8" name="Shape 6"/>
          <p:cNvSpPr/>
          <p:nvPr/>
        </p:nvSpPr>
        <p:spPr>
          <a:xfrm>
            <a:off x="640080" y="2103120"/>
            <a:ext cx="914400" cy="457200"/>
          </a:xfrm>
          <a:prstGeom prst="roundRect">
            <a:avLst>
              <a:gd name="adj" fmla="val 50000"/>
            </a:avLst>
          </a:prstGeom>
          <a:solidFill>
            <a:srgbClr val="E63946"/>
          </a:solidFill>
          <a:ln w="12700">
            <a:solidFill>
              <a:srgbClr val="E63946"/>
            </a:solidFill>
            <a:prstDash val="solid"/>
          </a:ln>
        </p:spPr>
      </p:sp>
      <p:sp>
        <p:nvSpPr>
          <p:cNvPr id="9" name="Text 7"/>
          <p:cNvSpPr/>
          <p:nvPr/>
        </p:nvSpPr>
        <p:spPr>
          <a:xfrm>
            <a:off x="640080" y="2103120"/>
            <a:ext cx="9144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3,0 pts</a:t>
            </a:r>
            <a:endParaRPr lang="en-US" sz="1200" dirty="0"/>
          </a:p>
        </p:txBody>
      </p:sp>
      <p:sp>
        <p:nvSpPr>
          <p:cNvPr id="10" name="Text 8"/>
          <p:cNvSpPr/>
          <p:nvPr/>
        </p:nvSpPr>
        <p:spPr>
          <a:xfrm>
            <a:off x="1737360" y="2057400"/>
            <a:ext cx="41148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DevSecOps e pipeline</a:t>
            </a:r>
            <a:endParaRPr lang="en-US" sz="1300" dirty="0"/>
          </a:p>
        </p:txBody>
      </p:sp>
      <p:sp>
        <p:nvSpPr>
          <p:cNvPr id="11" name="Text 9"/>
          <p:cNvSpPr/>
          <p:nvPr/>
        </p:nvSpPr>
        <p:spPr>
          <a:xfrm>
            <a:off x="1737360" y="2350008"/>
            <a:ext cx="9784080" cy="32004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Typecheck · Semgrep · pnpm audit · pip-audit · Gitleaks · Dependabot</a:t>
            </a:r>
            <a:endParaRPr lang="en-US" sz="1000" dirty="0"/>
          </a:p>
        </p:txBody>
      </p:sp>
      <p:sp>
        <p:nvSpPr>
          <p:cNvPr id="12" name="Shape 10"/>
          <p:cNvSpPr/>
          <p:nvPr/>
        </p:nvSpPr>
        <p:spPr>
          <a:xfrm>
            <a:off x="457200" y="2926080"/>
            <a:ext cx="11247120" cy="731520"/>
          </a:xfrm>
          <a:prstGeom prst="roundRect">
            <a:avLst>
              <a:gd name="adj" fmla="val 10000"/>
            </a:avLst>
          </a:prstGeom>
          <a:solidFill>
            <a:srgbClr val="152844"/>
          </a:solidFill>
          <a:ln w="12700">
            <a:solidFill>
              <a:srgbClr val="20354A"/>
            </a:solidFill>
            <a:prstDash val="solid"/>
          </a:ln>
        </p:spPr>
      </p:sp>
      <p:sp>
        <p:nvSpPr>
          <p:cNvPr id="13" name="Shape 11"/>
          <p:cNvSpPr/>
          <p:nvPr/>
        </p:nvSpPr>
        <p:spPr>
          <a:xfrm>
            <a:off x="640080" y="3063240"/>
            <a:ext cx="914400" cy="457200"/>
          </a:xfrm>
          <a:prstGeom prst="roundRect">
            <a:avLst>
              <a:gd name="adj" fmla="val 50000"/>
            </a:avLst>
          </a:prstGeom>
          <a:solidFill>
            <a:srgbClr val="E63946"/>
          </a:solidFill>
          <a:ln w="12700">
            <a:solidFill>
              <a:srgbClr val="E63946"/>
            </a:solidFill>
            <a:prstDash val="solid"/>
          </a:ln>
        </p:spPr>
      </p:sp>
      <p:sp>
        <p:nvSpPr>
          <p:cNvPr id="14" name="Text 12"/>
          <p:cNvSpPr/>
          <p:nvPr/>
        </p:nvSpPr>
        <p:spPr>
          <a:xfrm>
            <a:off x="640080" y="3063240"/>
            <a:ext cx="9144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2,5 pts</a:t>
            </a:r>
            <a:endParaRPr lang="en-US" sz="1200" dirty="0"/>
          </a:p>
        </p:txBody>
      </p:sp>
      <p:sp>
        <p:nvSpPr>
          <p:cNvPr id="15" name="Text 13"/>
          <p:cNvSpPr/>
          <p:nvPr/>
        </p:nvSpPr>
        <p:spPr>
          <a:xfrm>
            <a:off x="1737360" y="3017520"/>
            <a:ext cx="41148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Código e infraestrutura</a:t>
            </a:r>
            <a:endParaRPr lang="en-US" sz="1300" dirty="0"/>
          </a:p>
        </p:txBody>
      </p:sp>
      <p:sp>
        <p:nvSpPr>
          <p:cNvPr id="16" name="Text 14"/>
          <p:cNvSpPr/>
          <p:nvPr/>
        </p:nvSpPr>
        <p:spPr>
          <a:xfrm>
            <a:off x="1737360" y="3310128"/>
            <a:ext cx="9784080" cy="32004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RBAC · RLS · HMAC com nonce · SecureStore · e-books em domínios oficiais</a:t>
            </a:r>
            <a:endParaRPr lang="en-US" sz="1000" dirty="0"/>
          </a:p>
        </p:txBody>
      </p:sp>
      <p:sp>
        <p:nvSpPr>
          <p:cNvPr id="17" name="Shape 15"/>
          <p:cNvSpPr/>
          <p:nvPr/>
        </p:nvSpPr>
        <p:spPr>
          <a:xfrm>
            <a:off x="457200" y="3886200"/>
            <a:ext cx="11247120" cy="731520"/>
          </a:xfrm>
          <a:prstGeom prst="roundRect">
            <a:avLst>
              <a:gd name="adj" fmla="val 10000"/>
            </a:avLst>
          </a:prstGeom>
          <a:solidFill>
            <a:srgbClr val="152844"/>
          </a:solidFill>
          <a:ln w="12700">
            <a:solidFill>
              <a:srgbClr val="20354A"/>
            </a:solidFill>
            <a:prstDash val="solid"/>
          </a:ln>
        </p:spPr>
      </p:sp>
      <p:sp>
        <p:nvSpPr>
          <p:cNvPr id="18" name="Shape 16"/>
          <p:cNvSpPr/>
          <p:nvPr/>
        </p:nvSpPr>
        <p:spPr>
          <a:xfrm>
            <a:off x="640080" y="4023360"/>
            <a:ext cx="914400" cy="457200"/>
          </a:xfrm>
          <a:prstGeom prst="roundRect">
            <a:avLst>
              <a:gd name="adj" fmla="val 50000"/>
            </a:avLst>
          </a:prstGeom>
          <a:solidFill>
            <a:srgbClr val="E63946"/>
          </a:solidFill>
          <a:ln w="12700">
            <a:solidFill>
              <a:srgbClr val="E63946"/>
            </a:solidFill>
            <a:prstDash val="solid"/>
          </a:ln>
        </p:spPr>
      </p:sp>
      <p:sp>
        <p:nvSpPr>
          <p:cNvPr id="19" name="Text 17"/>
          <p:cNvSpPr/>
          <p:nvPr/>
        </p:nvSpPr>
        <p:spPr>
          <a:xfrm>
            <a:off x="640080" y="4023360"/>
            <a:ext cx="9144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 pts</a:t>
            </a:r>
            <a:endParaRPr lang="en-US" sz="1200" dirty="0"/>
          </a:p>
        </p:txBody>
      </p:sp>
      <p:sp>
        <p:nvSpPr>
          <p:cNvPr id="20" name="Text 18"/>
          <p:cNvSpPr/>
          <p:nvPr/>
        </p:nvSpPr>
        <p:spPr>
          <a:xfrm>
            <a:off x="1737360" y="3977640"/>
            <a:ext cx="41148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Monitoramento e resposta</a:t>
            </a:r>
            <a:endParaRPr lang="en-US" sz="1300" dirty="0"/>
          </a:p>
        </p:txBody>
      </p:sp>
      <p:sp>
        <p:nvSpPr>
          <p:cNvPr id="21" name="Text 19"/>
          <p:cNvSpPr/>
          <p:nvPr/>
        </p:nvSpPr>
        <p:spPr>
          <a:xfrm>
            <a:off x="1737360" y="4270248"/>
            <a:ext cx="9784080" cy="32004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Pino · audit_log · alertas centralizados pendentes no deploy</a:t>
            </a:r>
            <a:endParaRPr lang="en-US" sz="1000" dirty="0"/>
          </a:p>
        </p:txBody>
      </p:sp>
      <p:sp>
        <p:nvSpPr>
          <p:cNvPr id="22" name="Shape 20"/>
          <p:cNvSpPr/>
          <p:nvPr/>
        </p:nvSpPr>
        <p:spPr>
          <a:xfrm>
            <a:off x="457200" y="4846320"/>
            <a:ext cx="11247120" cy="731520"/>
          </a:xfrm>
          <a:prstGeom prst="roundRect">
            <a:avLst>
              <a:gd name="adj" fmla="val 10000"/>
            </a:avLst>
          </a:prstGeom>
          <a:solidFill>
            <a:srgbClr val="152844"/>
          </a:solidFill>
          <a:ln w="12700">
            <a:solidFill>
              <a:srgbClr val="20354A"/>
            </a:solidFill>
            <a:prstDash val="solid"/>
          </a:ln>
        </p:spPr>
      </p:sp>
      <p:sp>
        <p:nvSpPr>
          <p:cNvPr id="23" name="Shape 21"/>
          <p:cNvSpPr/>
          <p:nvPr/>
        </p:nvSpPr>
        <p:spPr>
          <a:xfrm>
            <a:off x="640080" y="4983480"/>
            <a:ext cx="914400" cy="457200"/>
          </a:xfrm>
          <a:prstGeom prst="roundRect">
            <a:avLst>
              <a:gd name="adj" fmla="val 50000"/>
            </a:avLst>
          </a:prstGeom>
          <a:solidFill>
            <a:srgbClr val="E63946"/>
          </a:solidFill>
          <a:ln w="12700">
            <a:solidFill>
              <a:srgbClr val="E63946"/>
            </a:solidFill>
            <a:prstDash val="solid"/>
          </a:ln>
        </p:spPr>
      </p:sp>
      <p:sp>
        <p:nvSpPr>
          <p:cNvPr id="24" name="Text 22"/>
          <p:cNvSpPr/>
          <p:nvPr/>
        </p:nvSpPr>
        <p:spPr>
          <a:xfrm>
            <a:off x="640080" y="4983480"/>
            <a:ext cx="9144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2,5 pts</a:t>
            </a:r>
            <a:endParaRPr lang="en-US" sz="1200" dirty="0"/>
          </a:p>
        </p:txBody>
      </p:sp>
      <p:sp>
        <p:nvSpPr>
          <p:cNvPr id="25" name="Text 23"/>
          <p:cNvSpPr/>
          <p:nvPr/>
        </p:nvSpPr>
        <p:spPr>
          <a:xfrm>
            <a:off x="1737360" y="4937760"/>
            <a:ext cx="41148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Compliance e segurança contínua</a:t>
            </a:r>
            <a:endParaRPr lang="en-US" sz="1300" dirty="0"/>
          </a:p>
        </p:txBody>
      </p:sp>
      <p:sp>
        <p:nvSpPr>
          <p:cNvPr id="26" name="Text 24"/>
          <p:cNvSpPr/>
          <p:nvPr/>
        </p:nvSpPr>
        <p:spPr>
          <a:xfrm>
            <a:off x="1737360" y="5230368"/>
            <a:ext cx="9784080" cy="32004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Minimização · CPF com HMAC · dados financeiros em ML/IA · retenção pendente</a:t>
            </a:r>
            <a:endParaRPr lang="en-US" sz="1000" dirty="0"/>
          </a:p>
        </p:txBody>
      </p:sp>
      <p:sp>
        <p:nvSpPr>
          <p:cNvPr id="27" name="Text 25"/>
          <p:cNvSpPr/>
          <p:nvPr/>
        </p:nvSpPr>
        <p:spPr>
          <a:xfrm>
            <a:off x="457200" y="6263640"/>
            <a:ext cx="11247120" cy="274320"/>
          </a:xfrm>
          <a:prstGeom prst="rect">
            <a:avLst/>
          </a:prstGeom>
          <a:noFill/>
          <a:ln/>
        </p:spPr>
        <p:txBody>
          <a:bodyPr wrap="square"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Documento completo em docs/SECURITY.md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rtlCol="0" anchor="ctr"/>
          <a:lstStyle/>
          <a:p>
            <a:pPr indent="0" marL="0">
              <a:buNone/>
            </a:pPr>
            <a:r>
              <a:rPr lang="en-US" sz="1000" b="1" spc="600" kern="0" dirty="0">
                <a:solidFill>
                  <a:srgbClr val="003478"/>
                </a:solidFill>
                <a:latin typeface="Calibri" pitchFamily="34" charset="0"/>
                <a:ea typeface="Calibri" pitchFamily="34" charset="-122"/>
                <a:cs typeface="Calibri" pitchFamily="34" charset="-120"/>
              </a:rPr>
              <a:t>DISCIPLINA 2 · MOBILE DEVELOPMENT</a:t>
            </a:r>
            <a:endParaRPr lang="en-US" sz="1000" dirty="0"/>
          </a:p>
        </p:txBody>
      </p:sp>
      <p:sp>
        <p:nvSpPr>
          <p:cNvPr id="3" name="Text 1"/>
          <p:cNvSpPr/>
          <p:nvPr/>
        </p:nvSpPr>
        <p:spPr>
          <a:xfrm>
            <a:off x="457200" y="685800"/>
            <a:ext cx="10972800" cy="914400"/>
          </a:xfrm>
          <a:prstGeom prst="rect">
            <a:avLst/>
          </a:prstGeom>
          <a:noFill/>
          <a:ln/>
        </p:spPr>
        <p:txBody>
          <a:bodyPr wrap="square" rtlCol="0" anchor="t"/>
          <a:lstStyle/>
          <a:p>
            <a:pPr indent="0" marL="0">
              <a:buNone/>
            </a:pPr>
            <a:r>
              <a:rPr lang="en-US" sz="3200" b="1" dirty="0">
                <a:solidFill>
                  <a:srgbClr val="0A1628"/>
                </a:solidFill>
                <a:latin typeface="Calibri" pitchFamily="34" charset="0"/>
                <a:ea typeface="Calibri" pitchFamily="34" charset="-122"/>
                <a:cs typeface="Calibri" pitchFamily="34" charset="-120"/>
              </a:rPr>
              <a:t>App React Native + Expo Router</a:t>
            </a:r>
            <a:endParaRPr lang="en-US" sz="3200" dirty="0"/>
          </a:p>
        </p:txBody>
      </p:sp>
      <p:sp>
        <p:nvSpPr>
          <p:cNvPr id="4" name="Shape 2"/>
          <p:cNvSpPr/>
          <p:nvPr/>
        </p:nvSpPr>
        <p:spPr>
          <a:xfrm>
            <a:off x="11155680" y="320040"/>
            <a:ext cx="594360" cy="411480"/>
          </a:xfrm>
          <a:prstGeom prst="roundRect">
            <a:avLst>
              <a:gd name="adj" fmla="val 17778"/>
            </a:avLst>
          </a:prstGeom>
          <a:solidFill>
            <a:srgbClr val="003478"/>
          </a:solidFill>
          <a:ln w="12700">
            <a:solidFill>
              <a:srgbClr val="003478"/>
            </a:solidFill>
            <a:prstDash val="solid"/>
          </a:ln>
        </p:spPr>
      </p:sp>
      <p:sp>
        <p:nvSpPr>
          <p:cNvPr id="5" name="Text 3"/>
          <p:cNvSpPr/>
          <p:nvPr/>
        </p:nvSpPr>
        <p:spPr>
          <a:xfrm>
            <a:off x="11155680" y="320040"/>
            <a:ext cx="59436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a:t>
            </a:r>
            <a:endParaRPr lang="en-US" sz="1400" dirty="0"/>
          </a:p>
        </p:txBody>
      </p:sp>
      <p:sp>
        <p:nvSpPr>
          <p:cNvPr id="6" name="Text 4"/>
          <p:cNvSpPr/>
          <p:nvPr/>
        </p:nvSpPr>
        <p:spPr>
          <a:xfrm>
            <a:off x="457200" y="6446520"/>
            <a:ext cx="11247120" cy="27432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Faro AI · 11 / 14</a:t>
            </a:r>
            <a:endParaRPr lang="en-US" sz="900" dirty="0"/>
          </a:p>
        </p:txBody>
      </p:sp>
      <p:sp>
        <p:nvSpPr>
          <p:cNvPr id="7" name="Text 5"/>
          <p:cNvSpPr/>
          <p:nvPr/>
        </p:nvSpPr>
        <p:spPr>
          <a:xfrm>
            <a:off x="457200" y="1783080"/>
            <a:ext cx="5029200" cy="365760"/>
          </a:xfrm>
          <a:prstGeom prst="rect">
            <a:avLst/>
          </a:prstGeom>
          <a:noFill/>
          <a:ln/>
        </p:spPr>
        <p:txBody>
          <a:bodyPr wrap="square"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Stack técnica</a:t>
            </a:r>
            <a:endParaRPr lang="en-US" sz="1600" dirty="0"/>
          </a:p>
        </p:txBody>
      </p:sp>
      <p:sp>
        <p:nvSpPr>
          <p:cNvPr id="8" name="Text 6"/>
          <p:cNvSpPr/>
          <p:nvPr/>
        </p:nvSpPr>
        <p:spPr>
          <a:xfrm>
            <a:off x="457200" y="2240280"/>
            <a:ext cx="5029200" cy="365760"/>
          </a:xfrm>
          <a:prstGeom prst="rect">
            <a:avLst/>
          </a:prstGeom>
          <a:noFill/>
          <a:ln/>
        </p:spPr>
        <p:txBody>
          <a:bodyPr wrap="square" rtlCol="0" anchor="ctr"/>
          <a:lstStyle/>
          <a:p>
            <a:pPr indent="0" marL="0">
              <a:buNone/>
            </a:pPr>
            <a:r>
              <a:rPr lang="en-US" sz="1200" b="1" dirty="0">
                <a:solidFill>
                  <a:srgbClr val="E63946"/>
                </a:solidFill>
                <a:latin typeface="Calibri" pitchFamily="34" charset="0"/>
                <a:ea typeface="Calibri" pitchFamily="34" charset="-122"/>
                <a:cs typeface="Calibri" pitchFamily="34" charset="-120"/>
              </a:rPr>
              <a:t>◆ </a:t>
            </a:r>
            <a:pPr indent="0" marL="0">
              <a:buNone/>
            </a:pPr>
            <a:r>
              <a:rPr lang="en-US" sz="1200" dirty="0">
                <a:solidFill>
                  <a:srgbClr val="2A3A4A"/>
                </a:solidFill>
                <a:latin typeface="Calibri" pitchFamily="34" charset="0"/>
                <a:ea typeface="Calibri" pitchFamily="34" charset="-122"/>
                <a:cs typeface="Calibri" pitchFamily="34" charset="-120"/>
              </a:rPr>
              <a:t>React Native 0.76 + Expo SDK 52</a:t>
            </a:r>
            <a:endParaRPr lang="en-US" sz="1200" dirty="0"/>
          </a:p>
        </p:txBody>
      </p:sp>
      <p:sp>
        <p:nvSpPr>
          <p:cNvPr id="9" name="Text 7"/>
          <p:cNvSpPr/>
          <p:nvPr/>
        </p:nvSpPr>
        <p:spPr>
          <a:xfrm>
            <a:off x="457200" y="2651760"/>
            <a:ext cx="5029200" cy="365760"/>
          </a:xfrm>
          <a:prstGeom prst="rect">
            <a:avLst/>
          </a:prstGeom>
          <a:noFill/>
          <a:ln/>
        </p:spPr>
        <p:txBody>
          <a:bodyPr wrap="square" rtlCol="0" anchor="ctr"/>
          <a:lstStyle/>
          <a:p>
            <a:pPr indent="0" marL="0">
              <a:buNone/>
            </a:pPr>
            <a:r>
              <a:rPr lang="en-US" sz="1200" b="1" dirty="0">
                <a:solidFill>
                  <a:srgbClr val="E63946"/>
                </a:solidFill>
                <a:latin typeface="Calibri" pitchFamily="34" charset="0"/>
                <a:ea typeface="Calibri" pitchFamily="34" charset="-122"/>
                <a:cs typeface="Calibri" pitchFamily="34" charset="-120"/>
              </a:rPr>
              <a:t>◆ </a:t>
            </a:r>
            <a:pPr indent="0" marL="0">
              <a:buNone/>
            </a:pPr>
            <a:r>
              <a:rPr lang="en-US" sz="1200" dirty="0">
                <a:solidFill>
                  <a:srgbClr val="2A3A4A"/>
                </a:solidFill>
                <a:latin typeface="Calibri" pitchFamily="34" charset="0"/>
                <a:ea typeface="Calibri" pitchFamily="34" charset="-122"/>
                <a:cs typeface="Calibri" pitchFamily="34" charset="-120"/>
              </a:rPr>
              <a:t>Expo Router (file-based, deep links)</a:t>
            </a:r>
            <a:endParaRPr lang="en-US" sz="1200" dirty="0"/>
          </a:p>
        </p:txBody>
      </p:sp>
      <p:sp>
        <p:nvSpPr>
          <p:cNvPr id="10" name="Text 8"/>
          <p:cNvSpPr/>
          <p:nvPr/>
        </p:nvSpPr>
        <p:spPr>
          <a:xfrm>
            <a:off x="457200" y="3063240"/>
            <a:ext cx="5029200" cy="365760"/>
          </a:xfrm>
          <a:prstGeom prst="rect">
            <a:avLst/>
          </a:prstGeom>
          <a:noFill/>
          <a:ln/>
        </p:spPr>
        <p:txBody>
          <a:bodyPr wrap="square" rtlCol="0" anchor="ctr"/>
          <a:lstStyle/>
          <a:p>
            <a:pPr indent="0" marL="0">
              <a:buNone/>
            </a:pPr>
            <a:r>
              <a:rPr lang="en-US" sz="1200" b="1" dirty="0">
                <a:solidFill>
                  <a:srgbClr val="E63946"/>
                </a:solidFill>
                <a:latin typeface="Calibri" pitchFamily="34" charset="0"/>
                <a:ea typeface="Calibri" pitchFamily="34" charset="-122"/>
                <a:cs typeface="Calibri" pitchFamily="34" charset="-120"/>
              </a:rPr>
              <a:t>◆ </a:t>
            </a:r>
            <a:pPr indent="0" marL="0">
              <a:buNone/>
            </a:pPr>
            <a:r>
              <a:rPr lang="en-US" sz="1200" dirty="0">
                <a:solidFill>
                  <a:srgbClr val="2A3A4A"/>
                </a:solidFill>
                <a:latin typeface="Calibri" pitchFamily="34" charset="0"/>
                <a:ea typeface="Calibri" pitchFamily="34" charset="-122"/>
                <a:cs typeface="Calibri" pitchFamily="34" charset="-120"/>
              </a:rPr>
              <a:t>SecureStore nativo · storage do navegador na web</a:t>
            </a:r>
            <a:endParaRPr lang="en-US" sz="1200" dirty="0"/>
          </a:p>
        </p:txBody>
      </p:sp>
      <p:sp>
        <p:nvSpPr>
          <p:cNvPr id="11" name="Text 9"/>
          <p:cNvSpPr/>
          <p:nvPr/>
        </p:nvSpPr>
        <p:spPr>
          <a:xfrm>
            <a:off x="457200" y="3474720"/>
            <a:ext cx="5029200" cy="365760"/>
          </a:xfrm>
          <a:prstGeom prst="rect">
            <a:avLst/>
          </a:prstGeom>
          <a:noFill/>
          <a:ln/>
        </p:spPr>
        <p:txBody>
          <a:bodyPr wrap="square" rtlCol="0" anchor="ctr"/>
          <a:lstStyle/>
          <a:p>
            <a:pPr indent="0" marL="0">
              <a:buNone/>
            </a:pPr>
            <a:r>
              <a:rPr lang="en-US" sz="1200" b="1" dirty="0">
                <a:solidFill>
                  <a:srgbClr val="E63946"/>
                </a:solidFill>
                <a:latin typeface="Calibri" pitchFamily="34" charset="0"/>
                <a:ea typeface="Calibri" pitchFamily="34" charset="-122"/>
                <a:cs typeface="Calibri" pitchFamily="34" charset="-120"/>
              </a:rPr>
              <a:t>◆ </a:t>
            </a:r>
            <a:pPr indent="0" marL="0">
              <a:buNone/>
            </a:pPr>
            <a:r>
              <a:rPr lang="en-US" sz="1200" dirty="0">
                <a:solidFill>
                  <a:srgbClr val="2A3A4A"/>
                </a:solidFill>
                <a:latin typeface="Calibri" pitchFamily="34" charset="0"/>
                <a:ea typeface="Calibri" pitchFamily="34" charset="-122"/>
                <a:cs typeface="Calibri" pitchFamily="34" charset="-120"/>
              </a:rPr>
              <a:t>TypeScript estrito · @ford/ui + @ford/types</a:t>
            </a:r>
            <a:endParaRPr lang="en-US" sz="1200" dirty="0"/>
          </a:p>
        </p:txBody>
      </p:sp>
      <p:sp>
        <p:nvSpPr>
          <p:cNvPr id="12" name="Text 10"/>
          <p:cNvSpPr/>
          <p:nvPr/>
        </p:nvSpPr>
        <p:spPr>
          <a:xfrm>
            <a:off x="457200" y="3886200"/>
            <a:ext cx="5029200" cy="365760"/>
          </a:xfrm>
          <a:prstGeom prst="rect">
            <a:avLst/>
          </a:prstGeom>
          <a:noFill/>
          <a:ln/>
        </p:spPr>
        <p:txBody>
          <a:bodyPr wrap="square" rtlCol="0" anchor="ctr"/>
          <a:lstStyle/>
          <a:p>
            <a:pPr indent="0" marL="0">
              <a:buNone/>
            </a:pPr>
            <a:r>
              <a:rPr lang="en-US" sz="1200" b="1" dirty="0">
                <a:solidFill>
                  <a:srgbClr val="E63946"/>
                </a:solidFill>
                <a:latin typeface="Calibri" pitchFamily="34" charset="0"/>
                <a:ea typeface="Calibri" pitchFamily="34" charset="-122"/>
                <a:cs typeface="Calibri" pitchFamily="34" charset="-120"/>
              </a:rPr>
              <a:t>◆ </a:t>
            </a:r>
            <a:pPr indent="0" marL="0">
              <a:buNone/>
            </a:pPr>
            <a:r>
              <a:rPr lang="en-US" sz="1200" dirty="0">
                <a:solidFill>
                  <a:srgbClr val="2A3A4A"/>
                </a:solidFill>
                <a:latin typeface="Calibri" pitchFamily="34" charset="0"/>
                <a:ea typeface="Calibri" pitchFamily="34" charset="-122"/>
                <a:cs typeface="Calibri" pitchFamily="34" charset="-120"/>
              </a:rPr>
              <a:t>iOS + Android (multiplataforma)</a:t>
            </a:r>
            <a:endParaRPr lang="en-US" sz="1200" dirty="0"/>
          </a:p>
        </p:txBody>
      </p:sp>
      <p:sp>
        <p:nvSpPr>
          <p:cNvPr id="13" name="Text 11"/>
          <p:cNvSpPr/>
          <p:nvPr/>
        </p:nvSpPr>
        <p:spPr>
          <a:xfrm>
            <a:off x="5943600" y="1783080"/>
            <a:ext cx="5760720" cy="365760"/>
          </a:xfrm>
          <a:prstGeom prst="rect">
            <a:avLst/>
          </a:prstGeom>
          <a:noFill/>
          <a:ln/>
        </p:spPr>
        <p:txBody>
          <a:bodyPr wrap="square"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9 telas implementadas</a:t>
            </a:r>
            <a:endParaRPr lang="en-US" sz="1600" dirty="0"/>
          </a:p>
        </p:txBody>
      </p:sp>
      <p:sp>
        <p:nvSpPr>
          <p:cNvPr id="14" name="Shape 12"/>
          <p:cNvSpPr/>
          <p:nvPr/>
        </p:nvSpPr>
        <p:spPr>
          <a:xfrm>
            <a:off x="5943600" y="2240280"/>
            <a:ext cx="2743200" cy="777240"/>
          </a:xfrm>
          <a:prstGeom prst="roundRect">
            <a:avLst>
              <a:gd name="adj" fmla="val 7059"/>
            </a:avLst>
          </a:prstGeom>
          <a:solidFill>
            <a:srgbClr val="F4F7FB"/>
          </a:solidFill>
          <a:ln w="12700">
            <a:solidFill>
              <a:srgbClr val="E2E8F0"/>
            </a:solidFill>
            <a:prstDash val="solid"/>
          </a:ln>
        </p:spPr>
      </p:sp>
      <p:sp>
        <p:nvSpPr>
          <p:cNvPr id="15" name="Text 13"/>
          <p:cNvSpPr/>
          <p:nvPr/>
        </p:nvSpPr>
        <p:spPr>
          <a:xfrm>
            <a:off x="6080760" y="2313432"/>
            <a:ext cx="246888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Login</a:t>
            </a:r>
            <a:endParaRPr lang="en-US" sz="1100" dirty="0"/>
          </a:p>
        </p:txBody>
      </p:sp>
      <p:sp>
        <p:nvSpPr>
          <p:cNvPr id="16" name="Text 14"/>
          <p:cNvSpPr/>
          <p:nvPr/>
        </p:nvSpPr>
        <p:spPr>
          <a:xfrm>
            <a:off x="6080760" y="2606040"/>
            <a:ext cx="2468880" cy="36576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Auth Supabase + persistent session</a:t>
            </a:r>
            <a:endParaRPr lang="en-US" sz="900" dirty="0"/>
          </a:p>
        </p:txBody>
      </p:sp>
      <p:sp>
        <p:nvSpPr>
          <p:cNvPr id="17" name="Shape 15"/>
          <p:cNvSpPr/>
          <p:nvPr/>
        </p:nvSpPr>
        <p:spPr>
          <a:xfrm>
            <a:off x="8823960" y="2240280"/>
            <a:ext cx="2743200" cy="777240"/>
          </a:xfrm>
          <a:prstGeom prst="roundRect">
            <a:avLst>
              <a:gd name="adj" fmla="val 7059"/>
            </a:avLst>
          </a:prstGeom>
          <a:solidFill>
            <a:srgbClr val="F4F7FB"/>
          </a:solidFill>
          <a:ln w="12700">
            <a:solidFill>
              <a:srgbClr val="E2E8F0"/>
            </a:solidFill>
            <a:prstDash val="solid"/>
          </a:ln>
        </p:spPr>
      </p:sp>
      <p:sp>
        <p:nvSpPr>
          <p:cNvPr id="18" name="Text 16"/>
          <p:cNvSpPr/>
          <p:nvPr/>
        </p:nvSpPr>
        <p:spPr>
          <a:xfrm>
            <a:off x="8961120" y="2313432"/>
            <a:ext cx="246888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Carteira (Home)</a:t>
            </a:r>
            <a:endParaRPr lang="en-US" sz="1100" dirty="0"/>
          </a:p>
        </p:txBody>
      </p:sp>
      <p:sp>
        <p:nvSpPr>
          <p:cNvPr id="19" name="Text 17"/>
          <p:cNvSpPr/>
          <p:nvPr/>
        </p:nvSpPr>
        <p:spPr>
          <a:xfrm>
            <a:off x="8961120" y="2606040"/>
            <a:ext cx="2468880" cy="36576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KPIs + lista clientes recentes</a:t>
            </a:r>
            <a:endParaRPr lang="en-US" sz="900" dirty="0"/>
          </a:p>
        </p:txBody>
      </p:sp>
      <p:sp>
        <p:nvSpPr>
          <p:cNvPr id="20" name="Shape 18"/>
          <p:cNvSpPr/>
          <p:nvPr/>
        </p:nvSpPr>
        <p:spPr>
          <a:xfrm>
            <a:off x="5943600" y="3154680"/>
            <a:ext cx="2743200" cy="777240"/>
          </a:xfrm>
          <a:prstGeom prst="roundRect">
            <a:avLst>
              <a:gd name="adj" fmla="val 7059"/>
            </a:avLst>
          </a:prstGeom>
          <a:solidFill>
            <a:srgbClr val="F4F7FB"/>
          </a:solidFill>
          <a:ln w="12700">
            <a:solidFill>
              <a:srgbClr val="E2E8F0"/>
            </a:solidFill>
            <a:prstDash val="solid"/>
          </a:ln>
        </p:spPr>
      </p:sp>
      <p:sp>
        <p:nvSpPr>
          <p:cNvPr id="21" name="Text 19"/>
          <p:cNvSpPr/>
          <p:nvPr/>
        </p:nvSpPr>
        <p:spPr>
          <a:xfrm>
            <a:off x="6080760" y="3227832"/>
            <a:ext cx="246888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Leads</a:t>
            </a:r>
            <a:endParaRPr lang="en-US" sz="1100" dirty="0"/>
          </a:p>
        </p:txBody>
      </p:sp>
      <p:sp>
        <p:nvSpPr>
          <p:cNvPr id="22" name="Text 20"/>
          <p:cNvSpPr/>
          <p:nvPr/>
        </p:nvSpPr>
        <p:spPr>
          <a:xfrm>
            <a:off x="6080760" y="3520440"/>
            <a:ext cx="2468880" cy="36576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Lista priorizada por risco</a:t>
            </a:r>
            <a:endParaRPr lang="en-US" sz="900" dirty="0"/>
          </a:p>
        </p:txBody>
      </p:sp>
      <p:sp>
        <p:nvSpPr>
          <p:cNvPr id="23" name="Shape 21"/>
          <p:cNvSpPr/>
          <p:nvPr/>
        </p:nvSpPr>
        <p:spPr>
          <a:xfrm>
            <a:off x="8823960" y="3154680"/>
            <a:ext cx="2743200" cy="777240"/>
          </a:xfrm>
          <a:prstGeom prst="roundRect">
            <a:avLst>
              <a:gd name="adj" fmla="val 7059"/>
            </a:avLst>
          </a:prstGeom>
          <a:solidFill>
            <a:srgbClr val="F4F7FB"/>
          </a:solidFill>
          <a:ln w="12700">
            <a:solidFill>
              <a:srgbClr val="E2E8F0"/>
            </a:solidFill>
            <a:prstDash val="solid"/>
          </a:ln>
        </p:spPr>
      </p:sp>
      <p:sp>
        <p:nvSpPr>
          <p:cNvPr id="24" name="Text 22"/>
          <p:cNvSpPr/>
          <p:nvPr/>
        </p:nvSpPr>
        <p:spPr>
          <a:xfrm>
            <a:off x="8961120" y="3227832"/>
            <a:ext cx="246888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Veículos</a:t>
            </a:r>
            <a:endParaRPr lang="en-US" sz="1100" dirty="0"/>
          </a:p>
        </p:txBody>
      </p:sp>
      <p:sp>
        <p:nvSpPr>
          <p:cNvPr id="25" name="Text 23"/>
          <p:cNvSpPr/>
          <p:nvPr/>
        </p:nvSpPr>
        <p:spPr>
          <a:xfrm>
            <a:off x="8961120" y="3520440"/>
            <a:ext cx="2468880" cy="36576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Catálogo + busca + filtros</a:t>
            </a:r>
            <a:endParaRPr lang="en-US" sz="900" dirty="0"/>
          </a:p>
        </p:txBody>
      </p:sp>
      <p:sp>
        <p:nvSpPr>
          <p:cNvPr id="26" name="Shape 24"/>
          <p:cNvSpPr/>
          <p:nvPr/>
        </p:nvSpPr>
        <p:spPr>
          <a:xfrm>
            <a:off x="5943600" y="4069080"/>
            <a:ext cx="2743200" cy="777240"/>
          </a:xfrm>
          <a:prstGeom prst="roundRect">
            <a:avLst>
              <a:gd name="adj" fmla="val 7059"/>
            </a:avLst>
          </a:prstGeom>
          <a:solidFill>
            <a:srgbClr val="F4F7FB"/>
          </a:solidFill>
          <a:ln w="12700">
            <a:solidFill>
              <a:srgbClr val="E2E8F0"/>
            </a:solidFill>
            <a:prstDash val="solid"/>
          </a:ln>
        </p:spPr>
      </p:sp>
      <p:sp>
        <p:nvSpPr>
          <p:cNvPr id="27" name="Text 25"/>
          <p:cNvSpPr/>
          <p:nvPr/>
        </p:nvSpPr>
        <p:spPr>
          <a:xfrm>
            <a:off x="6080760" y="4142232"/>
            <a:ext cx="246888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Insights IA</a:t>
            </a:r>
            <a:endParaRPr lang="en-US" sz="1100" dirty="0"/>
          </a:p>
        </p:txBody>
      </p:sp>
      <p:sp>
        <p:nvSpPr>
          <p:cNvPr id="28" name="Text 26"/>
          <p:cNvSpPr/>
          <p:nvPr/>
        </p:nvSpPr>
        <p:spPr>
          <a:xfrm>
            <a:off x="6080760" y="4434840"/>
            <a:ext cx="2468880" cy="36576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Briefing executivo da carteira</a:t>
            </a:r>
            <a:endParaRPr lang="en-US" sz="900" dirty="0"/>
          </a:p>
        </p:txBody>
      </p:sp>
      <p:sp>
        <p:nvSpPr>
          <p:cNvPr id="29" name="Shape 27"/>
          <p:cNvSpPr/>
          <p:nvPr/>
        </p:nvSpPr>
        <p:spPr>
          <a:xfrm>
            <a:off x="8823960" y="4069080"/>
            <a:ext cx="2743200" cy="777240"/>
          </a:xfrm>
          <a:prstGeom prst="roundRect">
            <a:avLst>
              <a:gd name="adj" fmla="val 7059"/>
            </a:avLst>
          </a:prstGeom>
          <a:solidFill>
            <a:srgbClr val="F4F7FB"/>
          </a:solidFill>
          <a:ln w="12700">
            <a:solidFill>
              <a:srgbClr val="E2E8F0"/>
            </a:solidFill>
            <a:prstDash val="solid"/>
          </a:ln>
        </p:spPr>
      </p:sp>
      <p:sp>
        <p:nvSpPr>
          <p:cNvPr id="30" name="Text 28"/>
          <p:cNvSpPr/>
          <p:nvPr/>
        </p:nvSpPr>
        <p:spPr>
          <a:xfrm>
            <a:off x="8961120" y="4142232"/>
            <a:ext cx="246888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Cliente [id]</a:t>
            </a:r>
            <a:endParaRPr lang="en-US" sz="1100" dirty="0"/>
          </a:p>
        </p:txBody>
      </p:sp>
      <p:sp>
        <p:nvSpPr>
          <p:cNvPr id="31" name="Text 29"/>
          <p:cNvSpPr/>
          <p:nvPr/>
        </p:nvSpPr>
        <p:spPr>
          <a:xfrm>
            <a:off x="8961120" y="4434840"/>
            <a:ext cx="2468880" cy="36576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Visão 360 + histórico + ação</a:t>
            </a:r>
            <a:endParaRPr lang="en-US" sz="900" dirty="0"/>
          </a:p>
        </p:txBody>
      </p:sp>
      <p:sp>
        <p:nvSpPr>
          <p:cNvPr id="32" name="Shape 30"/>
          <p:cNvSpPr/>
          <p:nvPr/>
        </p:nvSpPr>
        <p:spPr>
          <a:xfrm>
            <a:off x="5943600" y="4983480"/>
            <a:ext cx="2743200" cy="777240"/>
          </a:xfrm>
          <a:prstGeom prst="roundRect">
            <a:avLst>
              <a:gd name="adj" fmla="val 7059"/>
            </a:avLst>
          </a:prstGeom>
          <a:solidFill>
            <a:srgbClr val="F4F7FB"/>
          </a:solidFill>
          <a:ln w="12700">
            <a:solidFill>
              <a:srgbClr val="E2E8F0"/>
            </a:solidFill>
            <a:prstDash val="solid"/>
          </a:ln>
        </p:spPr>
      </p:sp>
      <p:sp>
        <p:nvSpPr>
          <p:cNvPr id="33" name="Text 31"/>
          <p:cNvSpPr/>
          <p:nvPr/>
        </p:nvSpPr>
        <p:spPr>
          <a:xfrm>
            <a:off x="6080760" y="5056632"/>
            <a:ext cx="246888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Novo cliente</a:t>
            </a:r>
            <a:endParaRPr lang="en-US" sz="1100" dirty="0"/>
          </a:p>
        </p:txBody>
      </p:sp>
      <p:sp>
        <p:nvSpPr>
          <p:cNvPr id="34" name="Text 32"/>
          <p:cNvSpPr/>
          <p:nvPr/>
        </p:nvSpPr>
        <p:spPr>
          <a:xfrm>
            <a:off x="6080760" y="5349240"/>
            <a:ext cx="2468880" cy="36576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Cadastro com classificação ML</a:t>
            </a:r>
            <a:endParaRPr lang="en-US" sz="900" dirty="0"/>
          </a:p>
        </p:txBody>
      </p:sp>
      <p:sp>
        <p:nvSpPr>
          <p:cNvPr id="35" name="Shape 33"/>
          <p:cNvSpPr/>
          <p:nvPr/>
        </p:nvSpPr>
        <p:spPr>
          <a:xfrm>
            <a:off x="8823960" y="4983480"/>
            <a:ext cx="2743200" cy="777240"/>
          </a:xfrm>
          <a:prstGeom prst="roundRect">
            <a:avLst>
              <a:gd name="adj" fmla="val 7059"/>
            </a:avLst>
          </a:prstGeom>
          <a:solidFill>
            <a:srgbClr val="F4F7FB"/>
          </a:solidFill>
          <a:ln w="12700">
            <a:solidFill>
              <a:srgbClr val="E2E8F0"/>
            </a:solidFill>
            <a:prstDash val="solid"/>
          </a:ln>
        </p:spPr>
      </p:sp>
      <p:sp>
        <p:nvSpPr>
          <p:cNvPr id="36" name="Text 34"/>
          <p:cNvSpPr/>
          <p:nvPr/>
        </p:nvSpPr>
        <p:spPr>
          <a:xfrm>
            <a:off x="8961120" y="5056632"/>
            <a:ext cx="2468880" cy="274320"/>
          </a:xfrm>
          <a:prstGeom prst="rect">
            <a:avLst/>
          </a:prstGeom>
          <a:noFill/>
          <a:ln/>
        </p:spPr>
        <p:txBody>
          <a:bodyPr wrap="square" rtlCol="0" anchor="ctr"/>
          <a:lstStyle/>
          <a:p>
            <a:pPr indent="0" marL="0">
              <a:buNone/>
            </a:pPr>
            <a:r>
              <a:rPr lang="en-US" sz="1100" b="1" dirty="0">
                <a:solidFill>
                  <a:srgbClr val="0A1628"/>
                </a:solidFill>
                <a:latin typeface="Calibri" pitchFamily="34" charset="0"/>
                <a:ea typeface="Calibri" pitchFamily="34" charset="-122"/>
                <a:cs typeface="Calibri" pitchFamily="34" charset="-120"/>
              </a:rPr>
              <a:t>Comparar</a:t>
            </a:r>
            <a:endParaRPr lang="en-US" sz="1100" dirty="0"/>
          </a:p>
        </p:txBody>
      </p:sp>
      <p:sp>
        <p:nvSpPr>
          <p:cNvPr id="37" name="Text 35"/>
          <p:cNvSpPr/>
          <p:nvPr/>
        </p:nvSpPr>
        <p:spPr>
          <a:xfrm>
            <a:off x="8961120" y="5349240"/>
            <a:ext cx="2468880" cy="36576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Diff de veículos lado-a-lado</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rtlCol="0" anchor="ctr"/>
          <a:lstStyle/>
          <a:p>
            <a:pPr indent="0" marL="0">
              <a:buNone/>
            </a:pPr>
            <a:r>
              <a:rPr lang="en-US" sz="1000" b="1" spc="600" kern="0" dirty="0">
                <a:solidFill>
                  <a:srgbClr val="003478"/>
                </a:solidFill>
                <a:latin typeface="Calibri" pitchFamily="34" charset="0"/>
                <a:ea typeface="Calibri" pitchFamily="34" charset="-122"/>
                <a:cs typeface="Calibri" pitchFamily="34" charset="-120"/>
              </a:rPr>
              <a:t>COMPETIÇÃO · MERCADO</a:t>
            </a:r>
            <a:endParaRPr lang="en-US" sz="1000" dirty="0"/>
          </a:p>
        </p:txBody>
      </p:sp>
      <p:sp>
        <p:nvSpPr>
          <p:cNvPr id="3" name="Text 1"/>
          <p:cNvSpPr/>
          <p:nvPr/>
        </p:nvSpPr>
        <p:spPr>
          <a:xfrm>
            <a:off x="457200" y="685800"/>
            <a:ext cx="10972800" cy="914400"/>
          </a:xfrm>
          <a:prstGeom prst="rect">
            <a:avLst/>
          </a:prstGeom>
          <a:noFill/>
          <a:ln/>
        </p:spPr>
        <p:txBody>
          <a:bodyPr wrap="square" rtlCol="0" anchor="t"/>
          <a:lstStyle/>
          <a:p>
            <a:pPr indent="0" marL="0">
              <a:buNone/>
            </a:pPr>
            <a:r>
              <a:rPr lang="en-US" sz="3200" b="1" dirty="0">
                <a:solidFill>
                  <a:srgbClr val="0A1628"/>
                </a:solidFill>
                <a:latin typeface="Calibri" pitchFamily="34" charset="0"/>
                <a:ea typeface="Calibri" pitchFamily="34" charset="-122"/>
                <a:cs typeface="Calibri" pitchFamily="34" charset="-120"/>
              </a:rPr>
              <a:t>Por que Faro AI ganha contra concorrentes</a:t>
            </a:r>
            <a:endParaRPr lang="en-US" sz="3200" dirty="0"/>
          </a:p>
        </p:txBody>
      </p:sp>
      <p:sp>
        <p:nvSpPr>
          <p:cNvPr id="4" name="Shape 2"/>
          <p:cNvSpPr/>
          <p:nvPr/>
        </p:nvSpPr>
        <p:spPr>
          <a:xfrm>
            <a:off x="11155680" y="320040"/>
            <a:ext cx="594360" cy="411480"/>
          </a:xfrm>
          <a:prstGeom prst="roundRect">
            <a:avLst>
              <a:gd name="adj" fmla="val 17778"/>
            </a:avLst>
          </a:prstGeom>
          <a:solidFill>
            <a:srgbClr val="003478"/>
          </a:solidFill>
          <a:ln w="12700">
            <a:solidFill>
              <a:srgbClr val="003478"/>
            </a:solidFill>
            <a:prstDash val="solid"/>
          </a:ln>
        </p:spPr>
      </p:sp>
      <p:sp>
        <p:nvSpPr>
          <p:cNvPr id="5" name="Text 3"/>
          <p:cNvSpPr/>
          <p:nvPr/>
        </p:nvSpPr>
        <p:spPr>
          <a:xfrm>
            <a:off x="11155680" y="320040"/>
            <a:ext cx="59436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a:t>
            </a:r>
            <a:endParaRPr lang="en-US" sz="1400" dirty="0"/>
          </a:p>
        </p:txBody>
      </p:sp>
      <p:sp>
        <p:nvSpPr>
          <p:cNvPr id="6" name="Text 4"/>
          <p:cNvSpPr/>
          <p:nvPr/>
        </p:nvSpPr>
        <p:spPr>
          <a:xfrm>
            <a:off x="457200" y="6446520"/>
            <a:ext cx="11247120" cy="27432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Faro AI · 12 / 14</a:t>
            </a:r>
            <a:endParaRPr lang="en-US" sz="900" dirty="0"/>
          </a:p>
        </p:txBody>
      </p:sp>
      <p:sp>
        <p:nvSpPr>
          <p:cNvPr id="7" name="Shape 5"/>
          <p:cNvSpPr/>
          <p:nvPr/>
        </p:nvSpPr>
        <p:spPr>
          <a:xfrm>
            <a:off x="457200" y="1783080"/>
            <a:ext cx="2377440" cy="502920"/>
          </a:xfrm>
          <a:prstGeom prst="rect">
            <a:avLst/>
          </a:prstGeom>
          <a:solidFill>
            <a:srgbClr val="0A1628"/>
          </a:solidFill>
          <a:ln w="12700">
            <a:solidFill>
              <a:srgbClr val="0A1628"/>
            </a:solidFill>
            <a:prstDash val="solid"/>
          </a:ln>
        </p:spPr>
      </p:sp>
      <p:sp>
        <p:nvSpPr>
          <p:cNvPr id="8" name="Text 6"/>
          <p:cNvSpPr/>
          <p:nvPr/>
        </p:nvSpPr>
        <p:spPr>
          <a:xfrm>
            <a:off x="548640" y="1783080"/>
            <a:ext cx="2286000" cy="50292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Critério</a:t>
            </a:r>
            <a:endParaRPr lang="en-US" sz="1100" dirty="0"/>
          </a:p>
        </p:txBody>
      </p:sp>
      <p:sp>
        <p:nvSpPr>
          <p:cNvPr id="9" name="Shape 7"/>
          <p:cNvSpPr/>
          <p:nvPr/>
        </p:nvSpPr>
        <p:spPr>
          <a:xfrm>
            <a:off x="2834640" y="1783080"/>
            <a:ext cx="2377440" cy="502920"/>
          </a:xfrm>
          <a:prstGeom prst="rect">
            <a:avLst/>
          </a:prstGeom>
          <a:solidFill>
            <a:srgbClr val="0A1628"/>
          </a:solidFill>
          <a:ln w="12700">
            <a:solidFill>
              <a:srgbClr val="0A1628"/>
            </a:solidFill>
            <a:prstDash val="solid"/>
          </a:ln>
        </p:spPr>
      </p:sp>
      <p:sp>
        <p:nvSpPr>
          <p:cNvPr id="10" name="Text 8"/>
          <p:cNvSpPr/>
          <p:nvPr/>
        </p:nvSpPr>
        <p:spPr>
          <a:xfrm>
            <a:off x="2926080" y="1783080"/>
            <a:ext cx="228600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Faro AI</a:t>
            </a:r>
            <a:endParaRPr lang="en-US" sz="1100" dirty="0"/>
          </a:p>
        </p:txBody>
      </p:sp>
      <p:sp>
        <p:nvSpPr>
          <p:cNvPr id="11" name="Shape 9"/>
          <p:cNvSpPr/>
          <p:nvPr/>
        </p:nvSpPr>
        <p:spPr>
          <a:xfrm>
            <a:off x="5212080" y="1783080"/>
            <a:ext cx="2194560" cy="502920"/>
          </a:xfrm>
          <a:prstGeom prst="rect">
            <a:avLst/>
          </a:prstGeom>
          <a:solidFill>
            <a:srgbClr val="0A1628"/>
          </a:solidFill>
          <a:ln w="12700">
            <a:solidFill>
              <a:srgbClr val="0A1628"/>
            </a:solidFill>
            <a:prstDash val="solid"/>
          </a:ln>
        </p:spPr>
      </p:sp>
      <p:sp>
        <p:nvSpPr>
          <p:cNvPr id="12" name="Text 10"/>
          <p:cNvSpPr/>
          <p:nvPr/>
        </p:nvSpPr>
        <p:spPr>
          <a:xfrm>
            <a:off x="5303520" y="1783080"/>
            <a:ext cx="21031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Salesforce</a:t>
            </a:r>
            <a:endParaRPr lang="en-US" sz="1100" dirty="0"/>
          </a:p>
        </p:txBody>
      </p:sp>
      <p:sp>
        <p:nvSpPr>
          <p:cNvPr id="13" name="Shape 11"/>
          <p:cNvSpPr/>
          <p:nvPr/>
        </p:nvSpPr>
        <p:spPr>
          <a:xfrm>
            <a:off x="7406640" y="1783080"/>
            <a:ext cx="2194560" cy="502920"/>
          </a:xfrm>
          <a:prstGeom prst="rect">
            <a:avLst/>
          </a:prstGeom>
          <a:solidFill>
            <a:srgbClr val="0A1628"/>
          </a:solidFill>
          <a:ln w="12700">
            <a:solidFill>
              <a:srgbClr val="0A1628"/>
            </a:solidFill>
            <a:prstDash val="solid"/>
          </a:ln>
        </p:spPr>
      </p:sp>
      <p:sp>
        <p:nvSpPr>
          <p:cNvPr id="14" name="Text 12"/>
          <p:cNvSpPr/>
          <p:nvPr/>
        </p:nvSpPr>
        <p:spPr>
          <a:xfrm>
            <a:off x="7498080" y="1783080"/>
            <a:ext cx="21031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Linx</a:t>
            </a:r>
            <a:endParaRPr lang="en-US" sz="1100" dirty="0"/>
          </a:p>
        </p:txBody>
      </p:sp>
      <p:sp>
        <p:nvSpPr>
          <p:cNvPr id="15" name="Shape 13"/>
          <p:cNvSpPr/>
          <p:nvPr/>
        </p:nvSpPr>
        <p:spPr>
          <a:xfrm>
            <a:off x="9601200" y="1783080"/>
            <a:ext cx="2194560" cy="502920"/>
          </a:xfrm>
          <a:prstGeom prst="rect">
            <a:avLst/>
          </a:prstGeom>
          <a:solidFill>
            <a:srgbClr val="0A1628"/>
          </a:solidFill>
          <a:ln w="12700">
            <a:solidFill>
              <a:srgbClr val="0A1628"/>
            </a:solidFill>
            <a:prstDash val="solid"/>
          </a:ln>
        </p:spPr>
      </p:sp>
      <p:sp>
        <p:nvSpPr>
          <p:cNvPr id="16" name="Text 14"/>
          <p:cNvSpPr/>
          <p:nvPr/>
        </p:nvSpPr>
        <p:spPr>
          <a:xfrm>
            <a:off x="9692640" y="1783080"/>
            <a:ext cx="21031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DataRobot</a:t>
            </a:r>
            <a:endParaRPr lang="en-US" sz="1100" dirty="0"/>
          </a:p>
        </p:txBody>
      </p:sp>
      <p:sp>
        <p:nvSpPr>
          <p:cNvPr id="17" name="Shape 15"/>
          <p:cNvSpPr/>
          <p:nvPr/>
        </p:nvSpPr>
        <p:spPr>
          <a:xfrm>
            <a:off x="457200" y="2286000"/>
            <a:ext cx="2377440" cy="502920"/>
          </a:xfrm>
          <a:prstGeom prst="rect">
            <a:avLst/>
          </a:prstGeom>
          <a:solidFill>
            <a:srgbClr val="FFFFFF"/>
          </a:solidFill>
          <a:ln w="6350">
            <a:solidFill>
              <a:srgbClr val="E2E8F0"/>
            </a:solidFill>
            <a:prstDash val="solid"/>
          </a:ln>
        </p:spPr>
      </p:sp>
      <p:sp>
        <p:nvSpPr>
          <p:cNvPr id="18" name="Text 16"/>
          <p:cNvSpPr/>
          <p:nvPr/>
        </p:nvSpPr>
        <p:spPr>
          <a:xfrm>
            <a:off x="548640" y="2286000"/>
            <a:ext cx="2286000" cy="502920"/>
          </a:xfrm>
          <a:prstGeom prst="rect">
            <a:avLst/>
          </a:prstGeom>
          <a:noFill/>
          <a:ln/>
        </p:spPr>
        <p:txBody>
          <a:bodyPr wrap="square" rtlCol="0" anchor="ctr"/>
          <a:lstStyle/>
          <a:p>
            <a:pPr algn="l" indent="0" marL="0">
              <a:buNone/>
            </a:pPr>
            <a:r>
              <a:rPr lang="en-US" sz="1000" b="1" dirty="0">
                <a:solidFill>
                  <a:srgbClr val="0A1628"/>
                </a:solidFill>
                <a:latin typeface="Calibri" pitchFamily="34" charset="0"/>
                <a:ea typeface="Calibri" pitchFamily="34" charset="-122"/>
                <a:cs typeface="Calibri" pitchFamily="34" charset="-120"/>
              </a:rPr>
              <a:t>Custo entrada</a:t>
            </a:r>
            <a:endParaRPr lang="en-US" sz="1000" dirty="0"/>
          </a:p>
        </p:txBody>
      </p:sp>
      <p:sp>
        <p:nvSpPr>
          <p:cNvPr id="19" name="Shape 17"/>
          <p:cNvSpPr/>
          <p:nvPr/>
        </p:nvSpPr>
        <p:spPr>
          <a:xfrm>
            <a:off x="2834640" y="2286000"/>
            <a:ext cx="2377440" cy="502920"/>
          </a:xfrm>
          <a:prstGeom prst="rect">
            <a:avLst/>
          </a:prstGeom>
          <a:solidFill>
            <a:srgbClr val="FFE5E8"/>
          </a:solidFill>
          <a:ln w="6350">
            <a:solidFill>
              <a:srgbClr val="E2E8F0"/>
            </a:solidFill>
            <a:prstDash val="solid"/>
          </a:ln>
        </p:spPr>
      </p:sp>
      <p:sp>
        <p:nvSpPr>
          <p:cNvPr id="20" name="Text 18"/>
          <p:cNvSpPr/>
          <p:nvPr/>
        </p:nvSpPr>
        <p:spPr>
          <a:xfrm>
            <a:off x="2926080" y="2286000"/>
            <a:ext cx="2286000" cy="502920"/>
          </a:xfrm>
          <a:prstGeom prst="rect">
            <a:avLst/>
          </a:prstGeom>
          <a:noFill/>
          <a:ln/>
        </p:spPr>
        <p:txBody>
          <a:bodyPr wrap="square" rtlCol="0" anchor="ctr"/>
          <a:lstStyle/>
          <a:p>
            <a:pPr algn="ctr" indent="0" marL="0">
              <a:buNone/>
            </a:pPr>
            <a:r>
              <a:rPr lang="en-US" sz="1000" b="1" dirty="0">
                <a:solidFill>
                  <a:srgbClr val="E63946"/>
                </a:solidFill>
                <a:latin typeface="Calibri" pitchFamily="34" charset="0"/>
                <a:ea typeface="Calibri" pitchFamily="34" charset="-122"/>
                <a:cs typeface="Calibri" pitchFamily="34" charset="-120"/>
              </a:rPr>
              <a:t>Open-stack</a:t>
            </a:r>
            <a:endParaRPr lang="en-US" sz="1000" dirty="0"/>
          </a:p>
        </p:txBody>
      </p:sp>
      <p:sp>
        <p:nvSpPr>
          <p:cNvPr id="21" name="Shape 19"/>
          <p:cNvSpPr/>
          <p:nvPr/>
        </p:nvSpPr>
        <p:spPr>
          <a:xfrm>
            <a:off x="5212080" y="2286000"/>
            <a:ext cx="2194560" cy="502920"/>
          </a:xfrm>
          <a:prstGeom prst="rect">
            <a:avLst/>
          </a:prstGeom>
          <a:solidFill>
            <a:srgbClr val="FFFFFF"/>
          </a:solidFill>
          <a:ln w="6350">
            <a:solidFill>
              <a:srgbClr val="E2E8F0"/>
            </a:solidFill>
            <a:prstDash val="solid"/>
          </a:ln>
        </p:spPr>
      </p:sp>
      <p:sp>
        <p:nvSpPr>
          <p:cNvPr id="22" name="Text 20"/>
          <p:cNvSpPr/>
          <p:nvPr/>
        </p:nvSpPr>
        <p:spPr>
          <a:xfrm>
            <a:off x="5303520" y="228600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US$150/user</a:t>
            </a:r>
            <a:endParaRPr lang="en-US" sz="1000" dirty="0"/>
          </a:p>
        </p:txBody>
      </p:sp>
      <p:sp>
        <p:nvSpPr>
          <p:cNvPr id="23" name="Shape 21"/>
          <p:cNvSpPr/>
          <p:nvPr/>
        </p:nvSpPr>
        <p:spPr>
          <a:xfrm>
            <a:off x="7406640" y="2286000"/>
            <a:ext cx="2194560" cy="502920"/>
          </a:xfrm>
          <a:prstGeom prst="rect">
            <a:avLst/>
          </a:prstGeom>
          <a:solidFill>
            <a:srgbClr val="FFFFFF"/>
          </a:solidFill>
          <a:ln w="6350">
            <a:solidFill>
              <a:srgbClr val="E2E8F0"/>
            </a:solidFill>
            <a:prstDash val="solid"/>
          </a:ln>
        </p:spPr>
      </p:sp>
      <p:sp>
        <p:nvSpPr>
          <p:cNvPr id="24" name="Text 22"/>
          <p:cNvSpPr/>
          <p:nvPr/>
        </p:nvSpPr>
        <p:spPr>
          <a:xfrm>
            <a:off x="7498080" y="228600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R$ 1k/mês</a:t>
            </a:r>
            <a:endParaRPr lang="en-US" sz="1000" dirty="0"/>
          </a:p>
        </p:txBody>
      </p:sp>
      <p:sp>
        <p:nvSpPr>
          <p:cNvPr id="25" name="Shape 23"/>
          <p:cNvSpPr/>
          <p:nvPr/>
        </p:nvSpPr>
        <p:spPr>
          <a:xfrm>
            <a:off x="9601200" y="2286000"/>
            <a:ext cx="2194560" cy="502920"/>
          </a:xfrm>
          <a:prstGeom prst="rect">
            <a:avLst/>
          </a:prstGeom>
          <a:solidFill>
            <a:srgbClr val="FFFFFF"/>
          </a:solidFill>
          <a:ln w="6350">
            <a:solidFill>
              <a:srgbClr val="E2E8F0"/>
            </a:solidFill>
            <a:prstDash val="solid"/>
          </a:ln>
        </p:spPr>
      </p:sp>
      <p:sp>
        <p:nvSpPr>
          <p:cNvPr id="26" name="Text 24"/>
          <p:cNvSpPr/>
          <p:nvPr/>
        </p:nvSpPr>
        <p:spPr>
          <a:xfrm>
            <a:off x="9692640" y="228600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US$ 10k/mês</a:t>
            </a:r>
            <a:endParaRPr lang="en-US" sz="1000" dirty="0"/>
          </a:p>
        </p:txBody>
      </p:sp>
      <p:sp>
        <p:nvSpPr>
          <p:cNvPr id="27" name="Shape 25"/>
          <p:cNvSpPr/>
          <p:nvPr/>
        </p:nvSpPr>
        <p:spPr>
          <a:xfrm>
            <a:off x="457200" y="2788920"/>
            <a:ext cx="2377440" cy="502920"/>
          </a:xfrm>
          <a:prstGeom prst="rect">
            <a:avLst/>
          </a:prstGeom>
          <a:solidFill>
            <a:srgbClr val="F4F7FB"/>
          </a:solidFill>
          <a:ln w="6350">
            <a:solidFill>
              <a:srgbClr val="E2E8F0"/>
            </a:solidFill>
            <a:prstDash val="solid"/>
          </a:ln>
        </p:spPr>
      </p:sp>
      <p:sp>
        <p:nvSpPr>
          <p:cNvPr id="28" name="Text 26"/>
          <p:cNvSpPr/>
          <p:nvPr/>
        </p:nvSpPr>
        <p:spPr>
          <a:xfrm>
            <a:off x="548640" y="2788920"/>
            <a:ext cx="2286000" cy="502920"/>
          </a:xfrm>
          <a:prstGeom prst="rect">
            <a:avLst/>
          </a:prstGeom>
          <a:noFill/>
          <a:ln/>
        </p:spPr>
        <p:txBody>
          <a:bodyPr wrap="square" rtlCol="0" anchor="ctr"/>
          <a:lstStyle/>
          <a:p>
            <a:pPr algn="l" indent="0" marL="0">
              <a:buNone/>
            </a:pPr>
            <a:r>
              <a:rPr lang="en-US" sz="1000" b="1" dirty="0">
                <a:solidFill>
                  <a:srgbClr val="0A1628"/>
                </a:solidFill>
                <a:latin typeface="Calibri" pitchFamily="34" charset="0"/>
                <a:ea typeface="Calibri" pitchFamily="34" charset="-122"/>
                <a:cs typeface="Calibri" pitchFamily="34" charset="-120"/>
              </a:rPr>
              <a:t>Dataset Ford BR real</a:t>
            </a:r>
            <a:endParaRPr lang="en-US" sz="1000" dirty="0"/>
          </a:p>
        </p:txBody>
      </p:sp>
      <p:sp>
        <p:nvSpPr>
          <p:cNvPr id="29" name="Shape 27"/>
          <p:cNvSpPr/>
          <p:nvPr/>
        </p:nvSpPr>
        <p:spPr>
          <a:xfrm>
            <a:off x="2834640" y="2788920"/>
            <a:ext cx="2377440" cy="502920"/>
          </a:xfrm>
          <a:prstGeom prst="rect">
            <a:avLst/>
          </a:prstGeom>
          <a:solidFill>
            <a:srgbClr val="FFE5E8"/>
          </a:solidFill>
          <a:ln w="6350">
            <a:solidFill>
              <a:srgbClr val="E2E8F0"/>
            </a:solidFill>
            <a:prstDash val="solid"/>
          </a:ln>
        </p:spPr>
      </p:sp>
      <p:sp>
        <p:nvSpPr>
          <p:cNvPr id="30" name="Text 28"/>
          <p:cNvSpPr/>
          <p:nvPr/>
        </p:nvSpPr>
        <p:spPr>
          <a:xfrm>
            <a:off x="2926080" y="2788920"/>
            <a:ext cx="2286000" cy="502920"/>
          </a:xfrm>
          <a:prstGeom prst="rect">
            <a:avLst/>
          </a:prstGeom>
          <a:noFill/>
          <a:ln/>
        </p:spPr>
        <p:txBody>
          <a:bodyPr wrap="square" rtlCol="0" anchor="ctr"/>
          <a:lstStyle/>
          <a:p>
            <a:pPr algn="ctr" indent="0" marL="0">
              <a:buNone/>
            </a:pPr>
            <a:r>
              <a:rPr lang="en-US" sz="1000" b="1" dirty="0">
                <a:solidFill>
                  <a:srgbClr val="E63946"/>
                </a:solidFill>
                <a:latin typeface="Calibri" pitchFamily="34" charset="0"/>
                <a:ea typeface="Calibri" pitchFamily="34" charset="-122"/>
                <a:cs typeface="Calibri" pitchFamily="34" charset="-120"/>
              </a:rPr>
              <a:t>✓ 175k VINs</a:t>
            </a:r>
            <a:endParaRPr lang="en-US" sz="1000" dirty="0"/>
          </a:p>
        </p:txBody>
      </p:sp>
      <p:sp>
        <p:nvSpPr>
          <p:cNvPr id="31" name="Shape 29"/>
          <p:cNvSpPr/>
          <p:nvPr/>
        </p:nvSpPr>
        <p:spPr>
          <a:xfrm>
            <a:off x="5212080" y="2788920"/>
            <a:ext cx="2194560" cy="502920"/>
          </a:xfrm>
          <a:prstGeom prst="rect">
            <a:avLst/>
          </a:prstGeom>
          <a:solidFill>
            <a:srgbClr val="F4F7FB"/>
          </a:solidFill>
          <a:ln w="6350">
            <a:solidFill>
              <a:srgbClr val="E2E8F0"/>
            </a:solidFill>
            <a:prstDash val="solid"/>
          </a:ln>
        </p:spPr>
      </p:sp>
      <p:sp>
        <p:nvSpPr>
          <p:cNvPr id="32" name="Text 30"/>
          <p:cNvSpPr/>
          <p:nvPr/>
        </p:nvSpPr>
        <p:spPr>
          <a:xfrm>
            <a:off x="5303520" y="278892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7406640" y="2788920"/>
            <a:ext cx="2194560" cy="502920"/>
          </a:xfrm>
          <a:prstGeom prst="rect">
            <a:avLst/>
          </a:prstGeom>
          <a:solidFill>
            <a:srgbClr val="F4F7FB"/>
          </a:solidFill>
          <a:ln w="6350">
            <a:solidFill>
              <a:srgbClr val="E2E8F0"/>
            </a:solidFill>
            <a:prstDash val="solid"/>
          </a:ln>
        </p:spPr>
      </p:sp>
      <p:sp>
        <p:nvSpPr>
          <p:cNvPr id="34" name="Text 32"/>
          <p:cNvSpPr/>
          <p:nvPr/>
        </p:nvSpPr>
        <p:spPr>
          <a:xfrm>
            <a:off x="7498080" y="278892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a:t>
            </a:r>
            <a:endParaRPr lang="en-US" sz="1000" dirty="0"/>
          </a:p>
        </p:txBody>
      </p:sp>
      <p:sp>
        <p:nvSpPr>
          <p:cNvPr id="35" name="Shape 33"/>
          <p:cNvSpPr/>
          <p:nvPr/>
        </p:nvSpPr>
        <p:spPr>
          <a:xfrm>
            <a:off x="9601200" y="2788920"/>
            <a:ext cx="2194560" cy="502920"/>
          </a:xfrm>
          <a:prstGeom prst="rect">
            <a:avLst/>
          </a:prstGeom>
          <a:solidFill>
            <a:srgbClr val="F4F7FB"/>
          </a:solidFill>
          <a:ln w="6350">
            <a:solidFill>
              <a:srgbClr val="E2E8F0"/>
            </a:solidFill>
            <a:prstDash val="solid"/>
          </a:ln>
        </p:spPr>
      </p:sp>
      <p:sp>
        <p:nvSpPr>
          <p:cNvPr id="36" name="Text 34"/>
          <p:cNvSpPr/>
          <p:nvPr/>
        </p:nvSpPr>
        <p:spPr>
          <a:xfrm>
            <a:off x="9692640" y="278892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a:t>
            </a:r>
            <a:endParaRPr lang="en-US" sz="1000" dirty="0"/>
          </a:p>
        </p:txBody>
      </p:sp>
      <p:sp>
        <p:nvSpPr>
          <p:cNvPr id="37" name="Shape 35"/>
          <p:cNvSpPr/>
          <p:nvPr/>
        </p:nvSpPr>
        <p:spPr>
          <a:xfrm>
            <a:off x="457200" y="3291840"/>
            <a:ext cx="2377440" cy="502920"/>
          </a:xfrm>
          <a:prstGeom prst="rect">
            <a:avLst/>
          </a:prstGeom>
          <a:solidFill>
            <a:srgbClr val="FFFFFF"/>
          </a:solidFill>
          <a:ln w="6350">
            <a:solidFill>
              <a:srgbClr val="E2E8F0"/>
            </a:solidFill>
            <a:prstDash val="solid"/>
          </a:ln>
        </p:spPr>
      </p:sp>
      <p:sp>
        <p:nvSpPr>
          <p:cNvPr id="38" name="Text 36"/>
          <p:cNvSpPr/>
          <p:nvPr/>
        </p:nvSpPr>
        <p:spPr>
          <a:xfrm>
            <a:off x="548640" y="3291840"/>
            <a:ext cx="2286000" cy="502920"/>
          </a:xfrm>
          <a:prstGeom prst="rect">
            <a:avLst/>
          </a:prstGeom>
          <a:noFill/>
          <a:ln/>
        </p:spPr>
        <p:txBody>
          <a:bodyPr wrap="square" rtlCol="0" anchor="ctr"/>
          <a:lstStyle/>
          <a:p>
            <a:pPr algn="l" indent="0" marL="0">
              <a:buNone/>
            </a:pPr>
            <a:r>
              <a:rPr lang="en-US" sz="1000" b="1" dirty="0">
                <a:solidFill>
                  <a:srgbClr val="0A1628"/>
                </a:solidFill>
                <a:latin typeface="Calibri" pitchFamily="34" charset="0"/>
                <a:ea typeface="Calibri" pitchFamily="34" charset="-122"/>
                <a:cs typeface="Calibri" pitchFamily="34" charset="-120"/>
              </a:rPr>
              <a:t>IA explicável (sinais)</a:t>
            </a:r>
            <a:endParaRPr lang="en-US" sz="1000" dirty="0"/>
          </a:p>
        </p:txBody>
      </p:sp>
      <p:sp>
        <p:nvSpPr>
          <p:cNvPr id="39" name="Shape 37"/>
          <p:cNvSpPr/>
          <p:nvPr/>
        </p:nvSpPr>
        <p:spPr>
          <a:xfrm>
            <a:off x="2834640" y="3291840"/>
            <a:ext cx="2377440" cy="502920"/>
          </a:xfrm>
          <a:prstGeom prst="rect">
            <a:avLst/>
          </a:prstGeom>
          <a:solidFill>
            <a:srgbClr val="FFE5E8"/>
          </a:solidFill>
          <a:ln w="6350">
            <a:solidFill>
              <a:srgbClr val="E2E8F0"/>
            </a:solidFill>
            <a:prstDash val="solid"/>
          </a:ln>
        </p:spPr>
      </p:sp>
      <p:sp>
        <p:nvSpPr>
          <p:cNvPr id="40" name="Text 38"/>
          <p:cNvSpPr/>
          <p:nvPr/>
        </p:nvSpPr>
        <p:spPr>
          <a:xfrm>
            <a:off x="2926080" y="3291840"/>
            <a:ext cx="2286000" cy="502920"/>
          </a:xfrm>
          <a:prstGeom prst="rect">
            <a:avLst/>
          </a:prstGeom>
          <a:noFill/>
          <a:ln/>
        </p:spPr>
        <p:txBody>
          <a:bodyPr wrap="square" rtlCol="0" anchor="ctr"/>
          <a:lstStyle/>
          <a:p>
            <a:pPr algn="ctr" indent="0" marL="0">
              <a:buNone/>
            </a:pPr>
            <a:r>
              <a:rPr lang="en-US" sz="1000" b="1" dirty="0">
                <a:solidFill>
                  <a:srgbClr val="E63946"/>
                </a:solidFill>
                <a:latin typeface="Calibri" pitchFamily="34" charset="0"/>
                <a:ea typeface="Calibri" pitchFamily="34" charset="-122"/>
                <a:cs typeface="Calibri" pitchFamily="34" charset="-120"/>
              </a:rPr>
              <a:t>✓</a:t>
            </a:r>
            <a:endParaRPr lang="en-US" sz="1000" dirty="0"/>
          </a:p>
        </p:txBody>
      </p:sp>
      <p:sp>
        <p:nvSpPr>
          <p:cNvPr id="41" name="Shape 39"/>
          <p:cNvSpPr/>
          <p:nvPr/>
        </p:nvSpPr>
        <p:spPr>
          <a:xfrm>
            <a:off x="5212080" y="3291840"/>
            <a:ext cx="2194560" cy="502920"/>
          </a:xfrm>
          <a:prstGeom prst="rect">
            <a:avLst/>
          </a:prstGeom>
          <a:solidFill>
            <a:srgbClr val="FFFFFF"/>
          </a:solidFill>
          <a:ln w="6350">
            <a:solidFill>
              <a:srgbClr val="E2E8F0"/>
            </a:solidFill>
            <a:prstDash val="solid"/>
          </a:ln>
        </p:spPr>
      </p:sp>
      <p:sp>
        <p:nvSpPr>
          <p:cNvPr id="42" name="Text 40"/>
          <p:cNvSpPr/>
          <p:nvPr/>
        </p:nvSpPr>
        <p:spPr>
          <a:xfrm>
            <a:off x="5303520" y="329184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Parcial</a:t>
            </a:r>
            <a:endParaRPr lang="en-US" sz="1000" dirty="0"/>
          </a:p>
        </p:txBody>
      </p:sp>
      <p:sp>
        <p:nvSpPr>
          <p:cNvPr id="43" name="Shape 41"/>
          <p:cNvSpPr/>
          <p:nvPr/>
        </p:nvSpPr>
        <p:spPr>
          <a:xfrm>
            <a:off x="7406640" y="3291840"/>
            <a:ext cx="2194560" cy="502920"/>
          </a:xfrm>
          <a:prstGeom prst="rect">
            <a:avLst/>
          </a:prstGeom>
          <a:solidFill>
            <a:srgbClr val="FFFFFF"/>
          </a:solidFill>
          <a:ln w="6350">
            <a:solidFill>
              <a:srgbClr val="E2E8F0"/>
            </a:solidFill>
            <a:prstDash val="solid"/>
          </a:ln>
        </p:spPr>
      </p:sp>
      <p:sp>
        <p:nvSpPr>
          <p:cNvPr id="44" name="Text 42"/>
          <p:cNvSpPr/>
          <p:nvPr/>
        </p:nvSpPr>
        <p:spPr>
          <a:xfrm>
            <a:off x="7498080" y="329184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a:t>
            </a:r>
            <a:endParaRPr lang="en-US" sz="1000" dirty="0"/>
          </a:p>
        </p:txBody>
      </p:sp>
      <p:sp>
        <p:nvSpPr>
          <p:cNvPr id="45" name="Shape 43"/>
          <p:cNvSpPr/>
          <p:nvPr/>
        </p:nvSpPr>
        <p:spPr>
          <a:xfrm>
            <a:off x="9601200" y="3291840"/>
            <a:ext cx="2194560" cy="502920"/>
          </a:xfrm>
          <a:prstGeom prst="rect">
            <a:avLst/>
          </a:prstGeom>
          <a:solidFill>
            <a:srgbClr val="FFFFFF"/>
          </a:solidFill>
          <a:ln w="6350">
            <a:solidFill>
              <a:srgbClr val="E2E8F0"/>
            </a:solidFill>
            <a:prstDash val="solid"/>
          </a:ln>
        </p:spPr>
      </p:sp>
      <p:sp>
        <p:nvSpPr>
          <p:cNvPr id="46" name="Text 44"/>
          <p:cNvSpPr/>
          <p:nvPr/>
        </p:nvSpPr>
        <p:spPr>
          <a:xfrm>
            <a:off x="9692640" y="329184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SHAP only</a:t>
            </a:r>
            <a:endParaRPr lang="en-US" sz="1000" dirty="0"/>
          </a:p>
        </p:txBody>
      </p:sp>
      <p:sp>
        <p:nvSpPr>
          <p:cNvPr id="47" name="Shape 45"/>
          <p:cNvSpPr/>
          <p:nvPr/>
        </p:nvSpPr>
        <p:spPr>
          <a:xfrm>
            <a:off x="457200" y="3794760"/>
            <a:ext cx="2377440" cy="502920"/>
          </a:xfrm>
          <a:prstGeom prst="rect">
            <a:avLst/>
          </a:prstGeom>
          <a:solidFill>
            <a:srgbClr val="F4F7FB"/>
          </a:solidFill>
          <a:ln w="6350">
            <a:solidFill>
              <a:srgbClr val="E2E8F0"/>
            </a:solidFill>
            <a:prstDash val="solid"/>
          </a:ln>
        </p:spPr>
      </p:sp>
      <p:sp>
        <p:nvSpPr>
          <p:cNvPr id="48" name="Text 46"/>
          <p:cNvSpPr/>
          <p:nvPr/>
        </p:nvSpPr>
        <p:spPr>
          <a:xfrm>
            <a:off x="548640" y="3794760"/>
            <a:ext cx="2286000" cy="502920"/>
          </a:xfrm>
          <a:prstGeom prst="rect">
            <a:avLst/>
          </a:prstGeom>
          <a:noFill/>
          <a:ln/>
        </p:spPr>
        <p:txBody>
          <a:bodyPr wrap="square" rtlCol="0" anchor="ctr"/>
          <a:lstStyle/>
          <a:p>
            <a:pPr algn="l" indent="0" marL="0">
              <a:buNone/>
            </a:pPr>
            <a:r>
              <a:rPr lang="en-US" sz="1000" b="1" dirty="0">
                <a:solidFill>
                  <a:srgbClr val="0A1628"/>
                </a:solidFill>
                <a:latin typeface="Calibri" pitchFamily="34" charset="0"/>
                <a:ea typeface="Calibri" pitchFamily="34" charset="-122"/>
                <a:cs typeface="Calibri" pitchFamily="34" charset="-120"/>
              </a:rPr>
              <a:t>Controles de acesso</a:t>
            </a:r>
            <a:endParaRPr lang="en-US" sz="1000" dirty="0"/>
          </a:p>
        </p:txBody>
      </p:sp>
      <p:sp>
        <p:nvSpPr>
          <p:cNvPr id="49" name="Shape 47"/>
          <p:cNvSpPr/>
          <p:nvPr/>
        </p:nvSpPr>
        <p:spPr>
          <a:xfrm>
            <a:off x="2834640" y="3794760"/>
            <a:ext cx="2377440" cy="502920"/>
          </a:xfrm>
          <a:prstGeom prst="rect">
            <a:avLst/>
          </a:prstGeom>
          <a:solidFill>
            <a:srgbClr val="FFE5E8"/>
          </a:solidFill>
          <a:ln w="6350">
            <a:solidFill>
              <a:srgbClr val="E2E8F0"/>
            </a:solidFill>
            <a:prstDash val="solid"/>
          </a:ln>
        </p:spPr>
      </p:sp>
      <p:sp>
        <p:nvSpPr>
          <p:cNvPr id="50" name="Text 48"/>
          <p:cNvSpPr/>
          <p:nvPr/>
        </p:nvSpPr>
        <p:spPr>
          <a:xfrm>
            <a:off x="2926080" y="3794760"/>
            <a:ext cx="2286000" cy="502920"/>
          </a:xfrm>
          <a:prstGeom prst="rect">
            <a:avLst/>
          </a:prstGeom>
          <a:noFill/>
          <a:ln/>
        </p:spPr>
        <p:txBody>
          <a:bodyPr wrap="square" rtlCol="0" anchor="ctr"/>
          <a:lstStyle/>
          <a:p>
            <a:pPr algn="ctr" indent="0" marL="0">
              <a:buNone/>
            </a:pPr>
            <a:r>
              <a:rPr lang="en-US" sz="1000" b="1" dirty="0">
                <a:solidFill>
                  <a:srgbClr val="E63946"/>
                </a:solidFill>
                <a:latin typeface="Calibri" pitchFamily="34" charset="0"/>
                <a:ea typeface="Calibri" pitchFamily="34" charset="-122"/>
                <a:cs typeface="Calibri" pitchFamily="34" charset="-120"/>
              </a:rPr>
              <a:t>✓ RLS + minimização</a:t>
            </a:r>
            <a:endParaRPr lang="en-US" sz="1000" dirty="0"/>
          </a:p>
        </p:txBody>
      </p:sp>
      <p:sp>
        <p:nvSpPr>
          <p:cNvPr id="51" name="Shape 49"/>
          <p:cNvSpPr/>
          <p:nvPr/>
        </p:nvSpPr>
        <p:spPr>
          <a:xfrm>
            <a:off x="5212080" y="3794760"/>
            <a:ext cx="2194560" cy="502920"/>
          </a:xfrm>
          <a:prstGeom prst="rect">
            <a:avLst/>
          </a:prstGeom>
          <a:solidFill>
            <a:srgbClr val="F4F7FB"/>
          </a:solidFill>
          <a:ln w="6350">
            <a:solidFill>
              <a:srgbClr val="E2E8F0"/>
            </a:solidFill>
            <a:prstDash val="solid"/>
          </a:ln>
        </p:spPr>
      </p:sp>
      <p:sp>
        <p:nvSpPr>
          <p:cNvPr id="52" name="Text 50"/>
          <p:cNvSpPr/>
          <p:nvPr/>
        </p:nvSpPr>
        <p:spPr>
          <a:xfrm>
            <a:off x="5303520" y="379476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a:t>
            </a:r>
            <a:endParaRPr lang="en-US" sz="1000" dirty="0"/>
          </a:p>
        </p:txBody>
      </p:sp>
      <p:sp>
        <p:nvSpPr>
          <p:cNvPr id="53" name="Shape 51"/>
          <p:cNvSpPr/>
          <p:nvPr/>
        </p:nvSpPr>
        <p:spPr>
          <a:xfrm>
            <a:off x="7406640" y="3794760"/>
            <a:ext cx="2194560" cy="502920"/>
          </a:xfrm>
          <a:prstGeom prst="rect">
            <a:avLst/>
          </a:prstGeom>
          <a:solidFill>
            <a:srgbClr val="F4F7FB"/>
          </a:solidFill>
          <a:ln w="6350">
            <a:solidFill>
              <a:srgbClr val="E2E8F0"/>
            </a:solidFill>
            <a:prstDash val="solid"/>
          </a:ln>
        </p:spPr>
      </p:sp>
      <p:sp>
        <p:nvSpPr>
          <p:cNvPr id="54" name="Text 52"/>
          <p:cNvSpPr/>
          <p:nvPr/>
        </p:nvSpPr>
        <p:spPr>
          <a:xfrm>
            <a:off x="7498080" y="379476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Parcial</a:t>
            </a:r>
            <a:endParaRPr lang="en-US" sz="1000" dirty="0"/>
          </a:p>
        </p:txBody>
      </p:sp>
      <p:sp>
        <p:nvSpPr>
          <p:cNvPr id="55" name="Shape 53"/>
          <p:cNvSpPr/>
          <p:nvPr/>
        </p:nvSpPr>
        <p:spPr>
          <a:xfrm>
            <a:off x="9601200" y="3794760"/>
            <a:ext cx="2194560" cy="502920"/>
          </a:xfrm>
          <a:prstGeom prst="rect">
            <a:avLst/>
          </a:prstGeom>
          <a:solidFill>
            <a:srgbClr val="F4F7FB"/>
          </a:solidFill>
          <a:ln w="6350">
            <a:solidFill>
              <a:srgbClr val="E2E8F0"/>
            </a:solidFill>
            <a:prstDash val="solid"/>
          </a:ln>
        </p:spPr>
      </p:sp>
      <p:sp>
        <p:nvSpPr>
          <p:cNvPr id="56" name="Text 54"/>
          <p:cNvSpPr/>
          <p:nvPr/>
        </p:nvSpPr>
        <p:spPr>
          <a:xfrm>
            <a:off x="9692640" y="379476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Parcial</a:t>
            </a:r>
            <a:endParaRPr lang="en-US" sz="1000" dirty="0"/>
          </a:p>
        </p:txBody>
      </p:sp>
      <p:sp>
        <p:nvSpPr>
          <p:cNvPr id="57" name="Shape 55"/>
          <p:cNvSpPr/>
          <p:nvPr/>
        </p:nvSpPr>
        <p:spPr>
          <a:xfrm>
            <a:off x="457200" y="4297680"/>
            <a:ext cx="2377440" cy="502920"/>
          </a:xfrm>
          <a:prstGeom prst="rect">
            <a:avLst/>
          </a:prstGeom>
          <a:solidFill>
            <a:srgbClr val="FFFFFF"/>
          </a:solidFill>
          <a:ln w="6350">
            <a:solidFill>
              <a:srgbClr val="E2E8F0"/>
            </a:solidFill>
            <a:prstDash val="solid"/>
          </a:ln>
        </p:spPr>
      </p:sp>
      <p:sp>
        <p:nvSpPr>
          <p:cNvPr id="58" name="Text 56"/>
          <p:cNvSpPr/>
          <p:nvPr/>
        </p:nvSpPr>
        <p:spPr>
          <a:xfrm>
            <a:off x="548640" y="4297680"/>
            <a:ext cx="2286000" cy="502920"/>
          </a:xfrm>
          <a:prstGeom prst="rect">
            <a:avLst/>
          </a:prstGeom>
          <a:noFill/>
          <a:ln/>
        </p:spPr>
        <p:txBody>
          <a:bodyPr wrap="square" rtlCol="0" anchor="ctr"/>
          <a:lstStyle/>
          <a:p>
            <a:pPr algn="l" indent="0" marL="0">
              <a:buNone/>
            </a:pPr>
            <a:r>
              <a:rPr lang="en-US" sz="1000" b="1" dirty="0">
                <a:solidFill>
                  <a:srgbClr val="0A1628"/>
                </a:solidFill>
                <a:latin typeface="Calibri" pitchFamily="34" charset="0"/>
                <a:ea typeface="Calibri" pitchFamily="34" charset="-122"/>
                <a:cs typeface="Calibri" pitchFamily="34" charset="-120"/>
              </a:rPr>
              <a:t>Arquitetura prod-ready</a:t>
            </a:r>
            <a:endParaRPr lang="en-US" sz="1000" dirty="0"/>
          </a:p>
        </p:txBody>
      </p:sp>
      <p:sp>
        <p:nvSpPr>
          <p:cNvPr id="59" name="Shape 57"/>
          <p:cNvSpPr/>
          <p:nvPr/>
        </p:nvSpPr>
        <p:spPr>
          <a:xfrm>
            <a:off x="2834640" y="4297680"/>
            <a:ext cx="2377440" cy="502920"/>
          </a:xfrm>
          <a:prstGeom prst="rect">
            <a:avLst/>
          </a:prstGeom>
          <a:solidFill>
            <a:srgbClr val="FFE5E8"/>
          </a:solidFill>
          <a:ln w="6350">
            <a:solidFill>
              <a:srgbClr val="E2E8F0"/>
            </a:solidFill>
            <a:prstDash val="solid"/>
          </a:ln>
        </p:spPr>
      </p:sp>
      <p:sp>
        <p:nvSpPr>
          <p:cNvPr id="60" name="Text 58"/>
          <p:cNvSpPr/>
          <p:nvPr/>
        </p:nvSpPr>
        <p:spPr>
          <a:xfrm>
            <a:off x="2926080" y="4297680"/>
            <a:ext cx="2286000" cy="502920"/>
          </a:xfrm>
          <a:prstGeom prst="rect">
            <a:avLst/>
          </a:prstGeom>
          <a:noFill/>
          <a:ln/>
        </p:spPr>
        <p:txBody>
          <a:bodyPr wrap="square" rtlCol="0" anchor="ctr"/>
          <a:lstStyle/>
          <a:p>
            <a:pPr algn="ctr" indent="0" marL="0">
              <a:buNone/>
            </a:pPr>
            <a:r>
              <a:rPr lang="en-US" sz="1000" b="1" dirty="0">
                <a:solidFill>
                  <a:srgbClr val="E63946"/>
                </a:solidFill>
                <a:latin typeface="Calibri" pitchFamily="34" charset="0"/>
                <a:ea typeface="Calibri" pitchFamily="34" charset="-122"/>
                <a:cs typeface="Calibri" pitchFamily="34" charset="-120"/>
              </a:rPr>
              <a:t>MVP funcional</a:t>
            </a:r>
            <a:endParaRPr lang="en-US" sz="1000" dirty="0"/>
          </a:p>
        </p:txBody>
      </p:sp>
      <p:sp>
        <p:nvSpPr>
          <p:cNvPr id="61" name="Shape 59"/>
          <p:cNvSpPr/>
          <p:nvPr/>
        </p:nvSpPr>
        <p:spPr>
          <a:xfrm>
            <a:off x="5212080" y="4297680"/>
            <a:ext cx="2194560" cy="502920"/>
          </a:xfrm>
          <a:prstGeom prst="rect">
            <a:avLst/>
          </a:prstGeom>
          <a:solidFill>
            <a:srgbClr val="FFFFFF"/>
          </a:solidFill>
          <a:ln w="6350">
            <a:solidFill>
              <a:srgbClr val="E2E8F0"/>
            </a:solidFill>
            <a:prstDash val="solid"/>
          </a:ln>
        </p:spPr>
      </p:sp>
      <p:sp>
        <p:nvSpPr>
          <p:cNvPr id="62" name="Text 60"/>
          <p:cNvSpPr/>
          <p:nvPr/>
        </p:nvSpPr>
        <p:spPr>
          <a:xfrm>
            <a:off x="5303520" y="429768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3-6 meses</a:t>
            </a:r>
            <a:endParaRPr lang="en-US" sz="1000" dirty="0"/>
          </a:p>
        </p:txBody>
      </p:sp>
      <p:sp>
        <p:nvSpPr>
          <p:cNvPr id="63" name="Shape 61"/>
          <p:cNvSpPr/>
          <p:nvPr/>
        </p:nvSpPr>
        <p:spPr>
          <a:xfrm>
            <a:off x="7406640" y="4297680"/>
            <a:ext cx="2194560" cy="502920"/>
          </a:xfrm>
          <a:prstGeom prst="rect">
            <a:avLst/>
          </a:prstGeom>
          <a:solidFill>
            <a:srgbClr val="FFFFFF"/>
          </a:solidFill>
          <a:ln w="6350">
            <a:solidFill>
              <a:srgbClr val="E2E8F0"/>
            </a:solidFill>
            <a:prstDash val="solid"/>
          </a:ln>
        </p:spPr>
      </p:sp>
      <p:sp>
        <p:nvSpPr>
          <p:cNvPr id="64" name="Text 62"/>
          <p:cNvSpPr/>
          <p:nvPr/>
        </p:nvSpPr>
        <p:spPr>
          <a:xfrm>
            <a:off x="7498080" y="429768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1-2 meses</a:t>
            </a:r>
            <a:endParaRPr lang="en-US" sz="1000" dirty="0"/>
          </a:p>
        </p:txBody>
      </p:sp>
      <p:sp>
        <p:nvSpPr>
          <p:cNvPr id="65" name="Shape 63"/>
          <p:cNvSpPr/>
          <p:nvPr/>
        </p:nvSpPr>
        <p:spPr>
          <a:xfrm>
            <a:off x="9601200" y="4297680"/>
            <a:ext cx="2194560" cy="502920"/>
          </a:xfrm>
          <a:prstGeom prst="rect">
            <a:avLst/>
          </a:prstGeom>
          <a:solidFill>
            <a:srgbClr val="FFFFFF"/>
          </a:solidFill>
          <a:ln w="6350">
            <a:solidFill>
              <a:srgbClr val="E2E8F0"/>
            </a:solidFill>
            <a:prstDash val="solid"/>
          </a:ln>
        </p:spPr>
      </p:sp>
      <p:sp>
        <p:nvSpPr>
          <p:cNvPr id="66" name="Text 64"/>
          <p:cNvSpPr/>
          <p:nvPr/>
        </p:nvSpPr>
        <p:spPr>
          <a:xfrm>
            <a:off x="9692640" y="429768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2-3 meses</a:t>
            </a:r>
            <a:endParaRPr lang="en-US" sz="1000" dirty="0"/>
          </a:p>
        </p:txBody>
      </p:sp>
      <p:sp>
        <p:nvSpPr>
          <p:cNvPr id="67" name="Shape 65"/>
          <p:cNvSpPr/>
          <p:nvPr/>
        </p:nvSpPr>
        <p:spPr>
          <a:xfrm>
            <a:off x="457200" y="4800600"/>
            <a:ext cx="2377440" cy="502920"/>
          </a:xfrm>
          <a:prstGeom prst="rect">
            <a:avLst/>
          </a:prstGeom>
          <a:solidFill>
            <a:srgbClr val="F4F7FB"/>
          </a:solidFill>
          <a:ln w="6350">
            <a:solidFill>
              <a:srgbClr val="E2E8F0"/>
            </a:solidFill>
            <a:prstDash val="solid"/>
          </a:ln>
        </p:spPr>
      </p:sp>
      <p:sp>
        <p:nvSpPr>
          <p:cNvPr id="68" name="Text 66"/>
          <p:cNvSpPr/>
          <p:nvPr/>
        </p:nvSpPr>
        <p:spPr>
          <a:xfrm>
            <a:off x="548640" y="4800600"/>
            <a:ext cx="2286000" cy="502920"/>
          </a:xfrm>
          <a:prstGeom prst="rect">
            <a:avLst/>
          </a:prstGeom>
          <a:noFill/>
          <a:ln/>
        </p:spPr>
        <p:txBody>
          <a:bodyPr wrap="square" rtlCol="0" anchor="ctr"/>
          <a:lstStyle/>
          <a:p>
            <a:pPr algn="l" indent="0" marL="0">
              <a:buNone/>
            </a:pPr>
            <a:r>
              <a:rPr lang="en-US" sz="1000" b="1" dirty="0">
                <a:solidFill>
                  <a:srgbClr val="0A1628"/>
                </a:solidFill>
                <a:latin typeface="Calibri" pitchFamily="34" charset="0"/>
                <a:ea typeface="Calibri" pitchFamily="34" charset="-122"/>
                <a:cs typeface="Calibri" pitchFamily="34" charset="-120"/>
              </a:rPr>
              <a:t>Integração FIPE</a:t>
            </a:r>
            <a:endParaRPr lang="en-US" sz="1000" dirty="0"/>
          </a:p>
        </p:txBody>
      </p:sp>
      <p:sp>
        <p:nvSpPr>
          <p:cNvPr id="69" name="Shape 67"/>
          <p:cNvSpPr/>
          <p:nvPr/>
        </p:nvSpPr>
        <p:spPr>
          <a:xfrm>
            <a:off x="2834640" y="4800600"/>
            <a:ext cx="2377440" cy="502920"/>
          </a:xfrm>
          <a:prstGeom prst="rect">
            <a:avLst/>
          </a:prstGeom>
          <a:solidFill>
            <a:srgbClr val="FFE5E8"/>
          </a:solidFill>
          <a:ln w="6350">
            <a:solidFill>
              <a:srgbClr val="E2E8F0"/>
            </a:solidFill>
            <a:prstDash val="solid"/>
          </a:ln>
        </p:spPr>
      </p:sp>
      <p:sp>
        <p:nvSpPr>
          <p:cNvPr id="70" name="Text 68"/>
          <p:cNvSpPr/>
          <p:nvPr/>
        </p:nvSpPr>
        <p:spPr>
          <a:xfrm>
            <a:off x="2926080" y="4800600"/>
            <a:ext cx="2286000" cy="502920"/>
          </a:xfrm>
          <a:prstGeom prst="rect">
            <a:avLst/>
          </a:prstGeom>
          <a:noFill/>
          <a:ln/>
        </p:spPr>
        <p:txBody>
          <a:bodyPr wrap="square" rtlCol="0" anchor="ctr"/>
          <a:lstStyle/>
          <a:p>
            <a:pPr algn="ctr" indent="0" marL="0">
              <a:buNone/>
            </a:pPr>
            <a:r>
              <a:rPr lang="en-US" sz="1000" b="1" dirty="0">
                <a:solidFill>
                  <a:srgbClr val="E63946"/>
                </a:solidFill>
                <a:latin typeface="Calibri" pitchFamily="34" charset="0"/>
                <a:ea typeface="Calibri" pitchFamily="34" charset="-122"/>
                <a:cs typeface="Calibri" pitchFamily="34" charset="-120"/>
              </a:rPr>
              <a:t>✓ Nativa</a:t>
            </a:r>
            <a:endParaRPr lang="en-US" sz="1000" dirty="0"/>
          </a:p>
        </p:txBody>
      </p:sp>
      <p:sp>
        <p:nvSpPr>
          <p:cNvPr id="71" name="Shape 69"/>
          <p:cNvSpPr/>
          <p:nvPr/>
        </p:nvSpPr>
        <p:spPr>
          <a:xfrm>
            <a:off x="5212080" y="4800600"/>
            <a:ext cx="2194560" cy="502920"/>
          </a:xfrm>
          <a:prstGeom prst="rect">
            <a:avLst/>
          </a:prstGeom>
          <a:solidFill>
            <a:srgbClr val="F4F7FB"/>
          </a:solidFill>
          <a:ln w="6350">
            <a:solidFill>
              <a:srgbClr val="E2E8F0"/>
            </a:solidFill>
            <a:prstDash val="solid"/>
          </a:ln>
        </p:spPr>
      </p:sp>
      <p:sp>
        <p:nvSpPr>
          <p:cNvPr id="72" name="Text 70"/>
          <p:cNvSpPr/>
          <p:nvPr/>
        </p:nvSpPr>
        <p:spPr>
          <a:xfrm>
            <a:off x="5303520" y="480060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a:t>
            </a:r>
            <a:endParaRPr lang="en-US" sz="1000" dirty="0"/>
          </a:p>
        </p:txBody>
      </p:sp>
      <p:sp>
        <p:nvSpPr>
          <p:cNvPr id="73" name="Shape 71"/>
          <p:cNvSpPr/>
          <p:nvPr/>
        </p:nvSpPr>
        <p:spPr>
          <a:xfrm>
            <a:off x="7406640" y="4800600"/>
            <a:ext cx="2194560" cy="502920"/>
          </a:xfrm>
          <a:prstGeom prst="rect">
            <a:avLst/>
          </a:prstGeom>
          <a:solidFill>
            <a:srgbClr val="F4F7FB"/>
          </a:solidFill>
          <a:ln w="6350">
            <a:solidFill>
              <a:srgbClr val="E2E8F0"/>
            </a:solidFill>
            <a:prstDash val="solid"/>
          </a:ln>
        </p:spPr>
      </p:sp>
      <p:sp>
        <p:nvSpPr>
          <p:cNvPr id="74" name="Text 72"/>
          <p:cNvSpPr/>
          <p:nvPr/>
        </p:nvSpPr>
        <p:spPr>
          <a:xfrm>
            <a:off x="7498080" y="480060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Parcial</a:t>
            </a:r>
            <a:endParaRPr lang="en-US" sz="1000" dirty="0"/>
          </a:p>
        </p:txBody>
      </p:sp>
      <p:sp>
        <p:nvSpPr>
          <p:cNvPr id="75" name="Shape 73"/>
          <p:cNvSpPr/>
          <p:nvPr/>
        </p:nvSpPr>
        <p:spPr>
          <a:xfrm>
            <a:off x="9601200" y="4800600"/>
            <a:ext cx="2194560" cy="502920"/>
          </a:xfrm>
          <a:prstGeom prst="rect">
            <a:avLst/>
          </a:prstGeom>
          <a:solidFill>
            <a:srgbClr val="F4F7FB"/>
          </a:solidFill>
          <a:ln w="6350">
            <a:solidFill>
              <a:srgbClr val="E2E8F0"/>
            </a:solidFill>
            <a:prstDash val="solid"/>
          </a:ln>
        </p:spPr>
      </p:sp>
      <p:sp>
        <p:nvSpPr>
          <p:cNvPr id="76" name="Text 74"/>
          <p:cNvSpPr/>
          <p:nvPr/>
        </p:nvSpPr>
        <p:spPr>
          <a:xfrm>
            <a:off x="9692640" y="4800600"/>
            <a:ext cx="2103120" cy="502920"/>
          </a:xfrm>
          <a:prstGeom prst="rect">
            <a:avLst/>
          </a:prstGeom>
          <a:noFill/>
          <a:ln/>
        </p:spPr>
        <p:txBody>
          <a:bodyPr wrap="square" rtlCol="0" anchor="ctr"/>
          <a:lstStyle/>
          <a:p>
            <a:pPr algn="ctr" indent="0" marL="0">
              <a:buNone/>
            </a:pPr>
            <a:r>
              <a:rPr lang="en-US" sz="1000" dirty="0">
                <a:solidFill>
                  <a:srgbClr val="0A1628"/>
                </a:solidFill>
                <a:latin typeface="Calibri" pitchFamily="34" charset="0"/>
                <a:ea typeface="Calibri" pitchFamily="34" charset="-122"/>
                <a:cs typeface="Calibri" pitchFamily="34" charset="-120"/>
              </a:rPr>
              <a:t>—</a:t>
            </a:r>
            <a:endParaRPr lang="en-US" sz="1000" dirty="0"/>
          </a:p>
        </p:txBody>
      </p:sp>
      <p:sp>
        <p:nvSpPr>
          <p:cNvPr id="77" name="Text 75"/>
          <p:cNvSpPr/>
          <p:nvPr/>
        </p:nvSpPr>
        <p:spPr>
          <a:xfrm>
            <a:off x="457200" y="5486400"/>
            <a:ext cx="11247120" cy="320040"/>
          </a:xfrm>
          <a:prstGeom prst="rect">
            <a:avLst/>
          </a:prstGeom>
          <a:noFill/>
          <a:ln/>
        </p:spPr>
        <p:txBody>
          <a:bodyPr wrap="square"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5 diferenciais que ninguém entrega em conjunto:</a:t>
            </a:r>
            <a:endParaRPr lang="en-US" sz="1200" dirty="0"/>
          </a:p>
        </p:txBody>
      </p:sp>
      <p:sp>
        <p:nvSpPr>
          <p:cNvPr id="78" name="Text 76"/>
          <p:cNvSpPr/>
          <p:nvPr/>
        </p:nvSpPr>
        <p:spPr>
          <a:xfrm>
            <a:off x="457200" y="5852160"/>
            <a:ext cx="11247120" cy="320040"/>
          </a:xfrm>
          <a:prstGeom prst="rect">
            <a:avLst/>
          </a:prstGeom>
          <a:noFill/>
          <a:ln/>
        </p:spPr>
        <p:txBody>
          <a:bodyPr wrap="square" rtlCol="0" anchor="ctr"/>
          <a:lstStyle/>
          <a:p>
            <a:pPr indent="0" marL="0">
              <a:buNone/>
            </a:pPr>
            <a:r>
              <a:rPr lang="en-US" sz="1100" i="1" dirty="0">
                <a:solidFill>
                  <a:srgbClr val="E63946"/>
                </a:solidFill>
                <a:latin typeface="Calibri" pitchFamily="34" charset="0"/>
                <a:ea typeface="Calibri" pitchFamily="34" charset="-122"/>
                <a:cs typeface="Calibri" pitchFamily="34" charset="-120"/>
              </a:rPr>
              <a:t>Stack brasileira · IA explicável · controles no app · deploy e adequação LGPD pendentes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rtlCol="0" anchor="ctr"/>
          <a:lstStyle/>
          <a:p>
            <a:pPr indent="0" marL="0">
              <a:buNone/>
            </a:pPr>
            <a:r>
              <a:rPr lang="en-US" sz="1000" b="1" spc="600" kern="0" dirty="0">
                <a:solidFill>
                  <a:srgbClr val="003478"/>
                </a:solidFill>
                <a:latin typeface="Calibri" pitchFamily="34" charset="0"/>
                <a:ea typeface="Calibri" pitchFamily="34" charset="-122"/>
                <a:cs typeface="Calibri" pitchFamily="34" charset="-120"/>
              </a:rPr>
              <a:t>PLANEJAMENTO</a:t>
            </a:r>
            <a:endParaRPr lang="en-US" sz="1000" dirty="0"/>
          </a:p>
        </p:txBody>
      </p:sp>
      <p:sp>
        <p:nvSpPr>
          <p:cNvPr id="3" name="Text 1"/>
          <p:cNvSpPr/>
          <p:nvPr/>
        </p:nvSpPr>
        <p:spPr>
          <a:xfrm>
            <a:off x="457200" y="685800"/>
            <a:ext cx="10972800" cy="914400"/>
          </a:xfrm>
          <a:prstGeom prst="rect">
            <a:avLst/>
          </a:prstGeom>
          <a:noFill/>
          <a:ln/>
        </p:spPr>
        <p:txBody>
          <a:bodyPr wrap="square" rtlCol="0" anchor="t"/>
          <a:lstStyle/>
          <a:p>
            <a:pPr indent="0" marL="0">
              <a:buNone/>
            </a:pPr>
            <a:r>
              <a:rPr lang="en-US" sz="3200" b="1" dirty="0">
                <a:solidFill>
                  <a:srgbClr val="0A1628"/>
                </a:solidFill>
                <a:latin typeface="Calibri" pitchFamily="34" charset="0"/>
                <a:ea typeface="Calibri" pitchFamily="34" charset="-122"/>
                <a:cs typeface="Calibri" pitchFamily="34" charset="-120"/>
              </a:rPr>
              <a:t>Roadmap, riscos e critérios de qualidade</a:t>
            </a:r>
            <a:endParaRPr lang="en-US" sz="3200" dirty="0"/>
          </a:p>
        </p:txBody>
      </p:sp>
      <p:sp>
        <p:nvSpPr>
          <p:cNvPr id="4" name="Shape 2"/>
          <p:cNvSpPr/>
          <p:nvPr/>
        </p:nvSpPr>
        <p:spPr>
          <a:xfrm>
            <a:off x="11155680" y="320040"/>
            <a:ext cx="594360" cy="411480"/>
          </a:xfrm>
          <a:prstGeom prst="roundRect">
            <a:avLst>
              <a:gd name="adj" fmla="val 17778"/>
            </a:avLst>
          </a:prstGeom>
          <a:solidFill>
            <a:srgbClr val="003478"/>
          </a:solidFill>
          <a:ln w="12700">
            <a:solidFill>
              <a:srgbClr val="003478"/>
            </a:solidFill>
            <a:prstDash val="solid"/>
          </a:ln>
        </p:spPr>
      </p:sp>
      <p:sp>
        <p:nvSpPr>
          <p:cNvPr id="5" name="Text 3"/>
          <p:cNvSpPr/>
          <p:nvPr/>
        </p:nvSpPr>
        <p:spPr>
          <a:xfrm>
            <a:off x="11155680" y="320040"/>
            <a:ext cx="59436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a:t>
            </a:r>
            <a:endParaRPr lang="en-US" sz="1400" dirty="0"/>
          </a:p>
        </p:txBody>
      </p:sp>
      <p:sp>
        <p:nvSpPr>
          <p:cNvPr id="6" name="Text 4"/>
          <p:cNvSpPr/>
          <p:nvPr/>
        </p:nvSpPr>
        <p:spPr>
          <a:xfrm>
            <a:off x="457200" y="6446520"/>
            <a:ext cx="11247120" cy="274320"/>
          </a:xfrm>
          <a:prstGeom prst="rect">
            <a:avLst/>
          </a:prstGeom>
          <a:noFill/>
          <a:ln/>
        </p:spPr>
        <p:txBody>
          <a:bodyPr wrap="square" rtlCol="0" anchor="ctr"/>
          <a:lstStyle/>
          <a:p>
            <a:pPr indent="0" marL="0">
              <a:buNone/>
            </a:pPr>
            <a:r>
              <a:rPr lang="en-US" sz="900" dirty="0">
                <a:solidFill>
                  <a:srgbClr val="4A5A6B"/>
                </a:solidFill>
                <a:latin typeface="Calibri" pitchFamily="34" charset="0"/>
                <a:ea typeface="Calibri" pitchFamily="34" charset="-122"/>
                <a:cs typeface="Calibri" pitchFamily="34" charset="-120"/>
              </a:rPr>
              <a:t>Faro AI · 13 / 14</a:t>
            </a:r>
            <a:endParaRPr lang="en-US" sz="900" dirty="0"/>
          </a:p>
        </p:txBody>
      </p:sp>
      <p:sp>
        <p:nvSpPr>
          <p:cNvPr id="7" name="Text 5"/>
          <p:cNvSpPr/>
          <p:nvPr/>
        </p:nvSpPr>
        <p:spPr>
          <a:xfrm>
            <a:off x="457200" y="1737360"/>
            <a:ext cx="10972800" cy="320040"/>
          </a:xfrm>
          <a:prstGeom prst="rect">
            <a:avLst/>
          </a:prstGeom>
          <a:noFill/>
          <a:ln/>
        </p:spPr>
        <p:txBody>
          <a:bodyPr wrap="square"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Roadmap</a:t>
            </a:r>
            <a:endParaRPr lang="en-US" sz="1400" dirty="0"/>
          </a:p>
        </p:txBody>
      </p:sp>
      <p:sp>
        <p:nvSpPr>
          <p:cNvPr id="8" name="Shape 6"/>
          <p:cNvSpPr/>
          <p:nvPr/>
        </p:nvSpPr>
        <p:spPr>
          <a:xfrm>
            <a:off x="457200" y="2103120"/>
            <a:ext cx="2697480" cy="1371600"/>
          </a:xfrm>
          <a:prstGeom prst="roundRect">
            <a:avLst>
              <a:gd name="adj" fmla="val 5333"/>
            </a:avLst>
          </a:prstGeom>
          <a:solidFill>
            <a:srgbClr val="F4F7FB"/>
          </a:solidFill>
          <a:ln w="12700">
            <a:solidFill>
              <a:srgbClr val="E2E8F0"/>
            </a:solidFill>
            <a:prstDash val="solid"/>
          </a:ln>
        </p:spPr>
      </p:sp>
      <p:sp>
        <p:nvSpPr>
          <p:cNvPr id="9" name="Shape 7"/>
          <p:cNvSpPr/>
          <p:nvPr/>
        </p:nvSpPr>
        <p:spPr>
          <a:xfrm>
            <a:off x="457200" y="2103120"/>
            <a:ext cx="2697480" cy="365760"/>
          </a:xfrm>
          <a:prstGeom prst="rect">
            <a:avLst/>
          </a:prstGeom>
          <a:solidFill>
            <a:srgbClr val="00A896"/>
          </a:solidFill>
          <a:ln w="12700">
            <a:solidFill>
              <a:srgbClr val="00A896"/>
            </a:solidFill>
            <a:prstDash val="solid"/>
          </a:ln>
        </p:spPr>
      </p:sp>
      <p:sp>
        <p:nvSpPr>
          <p:cNvPr id="10" name="Text 8"/>
          <p:cNvSpPr/>
          <p:nvPr/>
        </p:nvSpPr>
        <p:spPr>
          <a:xfrm>
            <a:off x="594360" y="2148840"/>
            <a:ext cx="2468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Sprint 1 ✓</a:t>
            </a:r>
            <a:endParaRPr lang="en-US" sz="1200" dirty="0"/>
          </a:p>
        </p:txBody>
      </p:sp>
      <p:sp>
        <p:nvSpPr>
          <p:cNvPr id="11" name="Text 9"/>
          <p:cNvSpPr/>
          <p:nvPr/>
        </p:nvSpPr>
        <p:spPr>
          <a:xfrm>
            <a:off x="594360" y="2560320"/>
            <a:ext cx="2468880" cy="868680"/>
          </a:xfrm>
          <a:prstGeom prst="rect">
            <a:avLst/>
          </a:prstGeom>
          <a:noFill/>
          <a:ln/>
        </p:spPr>
        <p:txBody>
          <a:bodyPr wrap="square" rtlCol="0" anchor="t"/>
          <a:lstStyle/>
          <a:p>
            <a:pPr indent="0" marL="0">
              <a:buNone/>
            </a:pPr>
            <a:r>
              <a:rPr lang="en-US" sz="1000" dirty="0">
                <a:solidFill>
                  <a:srgbClr val="2A3A4A"/>
                </a:solidFill>
                <a:latin typeface="Calibri" pitchFamily="34" charset="0"/>
                <a:ea typeface="Calibri" pitchFamily="34" charset="-122"/>
                <a:cs typeface="Calibri" pitchFamily="34" charset="-120"/>
              </a:rPr>
              <a:t>MVP entregue: D1 + D2, 175k VINs, 135k leads</a:t>
            </a:r>
            <a:endParaRPr lang="en-US" sz="1000" dirty="0"/>
          </a:p>
        </p:txBody>
      </p:sp>
      <p:sp>
        <p:nvSpPr>
          <p:cNvPr id="12" name="Shape 10"/>
          <p:cNvSpPr/>
          <p:nvPr/>
        </p:nvSpPr>
        <p:spPr>
          <a:xfrm>
            <a:off x="3291840" y="2103120"/>
            <a:ext cx="2697480" cy="1371600"/>
          </a:xfrm>
          <a:prstGeom prst="roundRect">
            <a:avLst>
              <a:gd name="adj" fmla="val 5333"/>
            </a:avLst>
          </a:prstGeom>
          <a:solidFill>
            <a:srgbClr val="F4F7FB"/>
          </a:solidFill>
          <a:ln w="12700">
            <a:solidFill>
              <a:srgbClr val="E2E8F0"/>
            </a:solidFill>
            <a:prstDash val="solid"/>
          </a:ln>
        </p:spPr>
      </p:sp>
      <p:sp>
        <p:nvSpPr>
          <p:cNvPr id="13" name="Shape 11"/>
          <p:cNvSpPr/>
          <p:nvPr/>
        </p:nvSpPr>
        <p:spPr>
          <a:xfrm>
            <a:off x="3291840" y="2103120"/>
            <a:ext cx="2697480" cy="365760"/>
          </a:xfrm>
          <a:prstGeom prst="rect">
            <a:avLst/>
          </a:prstGeom>
          <a:solidFill>
            <a:srgbClr val="003478"/>
          </a:solidFill>
          <a:ln w="12700">
            <a:solidFill>
              <a:srgbClr val="003478"/>
            </a:solidFill>
            <a:prstDash val="solid"/>
          </a:ln>
        </p:spPr>
      </p:sp>
      <p:sp>
        <p:nvSpPr>
          <p:cNvPr id="14" name="Text 12"/>
          <p:cNvSpPr/>
          <p:nvPr/>
        </p:nvSpPr>
        <p:spPr>
          <a:xfrm>
            <a:off x="3429000" y="2148840"/>
            <a:ext cx="2468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Sprint 2</a:t>
            </a:r>
            <a:endParaRPr lang="en-US" sz="1200" dirty="0"/>
          </a:p>
        </p:txBody>
      </p:sp>
      <p:sp>
        <p:nvSpPr>
          <p:cNvPr id="15" name="Text 13"/>
          <p:cNvSpPr/>
          <p:nvPr/>
        </p:nvSpPr>
        <p:spPr>
          <a:xfrm>
            <a:off x="3429000" y="2560320"/>
            <a:ext cx="2468880" cy="868680"/>
          </a:xfrm>
          <a:prstGeom prst="rect">
            <a:avLst/>
          </a:prstGeom>
          <a:noFill/>
          <a:ln/>
        </p:spPr>
        <p:txBody>
          <a:bodyPr wrap="square" rtlCol="0" anchor="t"/>
          <a:lstStyle/>
          <a:p>
            <a:pPr indent="0" marL="0">
              <a:buNone/>
            </a:pPr>
            <a:r>
              <a:rPr lang="en-US" sz="1000" dirty="0">
                <a:solidFill>
                  <a:srgbClr val="2A3A4A"/>
                </a:solidFill>
                <a:latin typeface="Calibri" pitchFamily="34" charset="0"/>
                <a:ea typeface="Calibri" pitchFamily="34" charset="-122"/>
                <a:cs typeface="Calibri" pitchFamily="34" charset="-120"/>
              </a:rPr>
              <a:t>Mobile responsivo · re-treino XGBoost · onboarding</a:t>
            </a:r>
            <a:endParaRPr lang="en-US" sz="1000" dirty="0"/>
          </a:p>
        </p:txBody>
      </p:sp>
      <p:sp>
        <p:nvSpPr>
          <p:cNvPr id="16" name="Shape 14"/>
          <p:cNvSpPr/>
          <p:nvPr/>
        </p:nvSpPr>
        <p:spPr>
          <a:xfrm>
            <a:off x="6126480" y="2103120"/>
            <a:ext cx="2697480" cy="1371600"/>
          </a:xfrm>
          <a:prstGeom prst="roundRect">
            <a:avLst>
              <a:gd name="adj" fmla="val 5333"/>
            </a:avLst>
          </a:prstGeom>
          <a:solidFill>
            <a:srgbClr val="F4F7FB"/>
          </a:solidFill>
          <a:ln w="12700">
            <a:solidFill>
              <a:srgbClr val="E2E8F0"/>
            </a:solidFill>
            <a:prstDash val="solid"/>
          </a:ln>
        </p:spPr>
      </p:sp>
      <p:sp>
        <p:nvSpPr>
          <p:cNvPr id="17" name="Shape 15"/>
          <p:cNvSpPr/>
          <p:nvPr/>
        </p:nvSpPr>
        <p:spPr>
          <a:xfrm>
            <a:off x="6126480" y="2103120"/>
            <a:ext cx="2697480" cy="365760"/>
          </a:xfrm>
          <a:prstGeom prst="rect">
            <a:avLst/>
          </a:prstGeom>
          <a:solidFill>
            <a:srgbClr val="F4A11A"/>
          </a:solidFill>
          <a:ln w="12700">
            <a:solidFill>
              <a:srgbClr val="F4A11A"/>
            </a:solidFill>
            <a:prstDash val="solid"/>
          </a:ln>
        </p:spPr>
      </p:sp>
      <p:sp>
        <p:nvSpPr>
          <p:cNvPr id="18" name="Text 16"/>
          <p:cNvSpPr/>
          <p:nvPr/>
        </p:nvSpPr>
        <p:spPr>
          <a:xfrm>
            <a:off x="6263640" y="2148840"/>
            <a:ext cx="2468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Sprint 3</a:t>
            </a:r>
            <a:endParaRPr lang="en-US" sz="1200" dirty="0"/>
          </a:p>
        </p:txBody>
      </p:sp>
      <p:sp>
        <p:nvSpPr>
          <p:cNvPr id="19" name="Text 17"/>
          <p:cNvSpPr/>
          <p:nvPr/>
        </p:nvSpPr>
        <p:spPr>
          <a:xfrm>
            <a:off x="6263640" y="2560320"/>
            <a:ext cx="2468880" cy="868680"/>
          </a:xfrm>
          <a:prstGeom prst="rect">
            <a:avLst/>
          </a:prstGeom>
          <a:noFill/>
          <a:ln/>
        </p:spPr>
        <p:txBody>
          <a:bodyPr wrap="square" rtlCol="0" anchor="t"/>
          <a:lstStyle/>
          <a:p>
            <a:pPr indent="0" marL="0">
              <a:buNone/>
            </a:pPr>
            <a:r>
              <a:rPr lang="en-US" sz="1000" dirty="0">
                <a:solidFill>
                  <a:srgbClr val="2A3A4A"/>
                </a:solidFill>
                <a:latin typeface="Calibri" pitchFamily="34" charset="0"/>
                <a:ea typeface="Calibri" pitchFamily="34" charset="-122"/>
                <a:cs typeface="Calibri" pitchFamily="34" charset="-120"/>
              </a:rPr>
              <a:t>DevSecOps · RBAC/RLS · HMAC anti-replay · SecureStore</a:t>
            </a:r>
            <a:endParaRPr lang="en-US" sz="1000" dirty="0"/>
          </a:p>
        </p:txBody>
      </p:sp>
      <p:sp>
        <p:nvSpPr>
          <p:cNvPr id="20" name="Shape 18"/>
          <p:cNvSpPr/>
          <p:nvPr/>
        </p:nvSpPr>
        <p:spPr>
          <a:xfrm>
            <a:off x="8961120" y="2103120"/>
            <a:ext cx="2697480" cy="1371600"/>
          </a:xfrm>
          <a:prstGeom prst="roundRect">
            <a:avLst>
              <a:gd name="adj" fmla="val 5333"/>
            </a:avLst>
          </a:prstGeom>
          <a:solidFill>
            <a:srgbClr val="F4F7FB"/>
          </a:solidFill>
          <a:ln w="12700">
            <a:solidFill>
              <a:srgbClr val="E2E8F0"/>
            </a:solidFill>
            <a:prstDash val="solid"/>
          </a:ln>
        </p:spPr>
      </p:sp>
      <p:sp>
        <p:nvSpPr>
          <p:cNvPr id="21" name="Shape 19"/>
          <p:cNvSpPr/>
          <p:nvPr/>
        </p:nvSpPr>
        <p:spPr>
          <a:xfrm>
            <a:off x="8961120" y="2103120"/>
            <a:ext cx="2697480" cy="365760"/>
          </a:xfrm>
          <a:prstGeom prst="rect">
            <a:avLst/>
          </a:prstGeom>
          <a:solidFill>
            <a:srgbClr val="E63946"/>
          </a:solidFill>
          <a:ln w="12700">
            <a:solidFill>
              <a:srgbClr val="E63946"/>
            </a:solidFill>
            <a:prstDash val="solid"/>
          </a:ln>
        </p:spPr>
      </p:sp>
      <p:sp>
        <p:nvSpPr>
          <p:cNvPr id="22" name="Text 20"/>
          <p:cNvSpPr/>
          <p:nvPr/>
        </p:nvSpPr>
        <p:spPr>
          <a:xfrm>
            <a:off x="9098280" y="2148840"/>
            <a:ext cx="2468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Sprint 4</a:t>
            </a:r>
            <a:endParaRPr lang="en-US" sz="1200" dirty="0"/>
          </a:p>
        </p:txBody>
      </p:sp>
      <p:sp>
        <p:nvSpPr>
          <p:cNvPr id="23" name="Text 21"/>
          <p:cNvSpPr/>
          <p:nvPr/>
        </p:nvSpPr>
        <p:spPr>
          <a:xfrm>
            <a:off x="9098280" y="2560320"/>
            <a:ext cx="2468880" cy="868680"/>
          </a:xfrm>
          <a:prstGeom prst="rect">
            <a:avLst/>
          </a:prstGeom>
          <a:noFill/>
          <a:ln/>
        </p:spPr>
        <p:txBody>
          <a:bodyPr wrap="square" rtlCol="0" anchor="t"/>
          <a:lstStyle/>
          <a:p>
            <a:pPr indent="0" marL="0">
              <a:buNone/>
            </a:pPr>
            <a:r>
              <a:rPr lang="en-US" sz="1000" dirty="0">
                <a:solidFill>
                  <a:srgbClr val="2A3A4A"/>
                </a:solidFill>
                <a:latin typeface="Calibri" pitchFamily="34" charset="0"/>
                <a:ea typeface="Calibri" pitchFamily="34" charset="-122"/>
                <a:cs typeface="Calibri" pitchFamily="34" charset="-120"/>
              </a:rPr>
              <a:t>Motor de campanhas A/B · API pública pro CRM Ford</a:t>
            </a:r>
            <a:endParaRPr lang="en-US" sz="1000" dirty="0"/>
          </a:p>
        </p:txBody>
      </p:sp>
      <p:sp>
        <p:nvSpPr>
          <p:cNvPr id="24" name="Shape 22"/>
          <p:cNvSpPr/>
          <p:nvPr/>
        </p:nvSpPr>
        <p:spPr>
          <a:xfrm>
            <a:off x="457200" y="3749040"/>
            <a:ext cx="5486400" cy="2286000"/>
          </a:xfrm>
          <a:prstGeom prst="roundRect">
            <a:avLst>
              <a:gd name="adj" fmla="val 4000"/>
            </a:avLst>
          </a:prstGeom>
          <a:solidFill>
            <a:srgbClr val="F4F7FB"/>
          </a:solidFill>
          <a:ln w="6350">
            <a:solidFill>
              <a:srgbClr val="E2E8F0"/>
            </a:solidFill>
            <a:prstDash val="solid"/>
          </a:ln>
        </p:spPr>
      </p:sp>
      <p:sp>
        <p:nvSpPr>
          <p:cNvPr id="25" name="Shape 23"/>
          <p:cNvSpPr/>
          <p:nvPr/>
        </p:nvSpPr>
        <p:spPr>
          <a:xfrm>
            <a:off x="457200" y="3749040"/>
            <a:ext cx="109728" cy="2286000"/>
          </a:xfrm>
          <a:prstGeom prst="rect">
            <a:avLst/>
          </a:prstGeom>
          <a:solidFill>
            <a:srgbClr val="E63946"/>
          </a:solidFill>
          <a:ln w="12700">
            <a:solidFill>
              <a:srgbClr val="E63946"/>
            </a:solidFill>
            <a:prstDash val="solid"/>
          </a:ln>
        </p:spPr>
      </p:sp>
      <p:sp>
        <p:nvSpPr>
          <p:cNvPr id="26" name="Text 24"/>
          <p:cNvSpPr/>
          <p:nvPr/>
        </p:nvSpPr>
        <p:spPr>
          <a:xfrm>
            <a:off x="685800" y="3886200"/>
            <a:ext cx="5166360" cy="274320"/>
          </a:xfrm>
          <a:prstGeom prst="rect">
            <a:avLst/>
          </a:prstGeom>
          <a:noFill/>
          <a:ln/>
        </p:spPr>
        <p:txBody>
          <a:bodyPr wrap="square" rtlCol="0" anchor="ctr"/>
          <a:lstStyle/>
          <a:p>
            <a:pPr indent="0" marL="0">
              <a:buNone/>
            </a:pPr>
            <a:r>
              <a:rPr lang="en-US" sz="900" b="1" spc="400" kern="0" dirty="0">
                <a:solidFill>
                  <a:srgbClr val="4A5A6B"/>
                </a:solidFill>
                <a:latin typeface="Calibri" pitchFamily="34" charset="0"/>
                <a:ea typeface="Calibri" pitchFamily="34" charset="-122"/>
                <a:cs typeface="Calibri" pitchFamily="34" charset="-120"/>
              </a:rPr>
              <a:t>PRINCIPAIS RISCOS</a:t>
            </a:r>
            <a:endParaRPr lang="en-US" sz="900" dirty="0"/>
          </a:p>
        </p:txBody>
      </p:sp>
      <p:sp>
        <p:nvSpPr>
          <p:cNvPr id="27" name="Text 25"/>
          <p:cNvSpPr/>
          <p:nvPr/>
        </p:nvSpPr>
        <p:spPr>
          <a:xfrm>
            <a:off x="685800" y="4160520"/>
            <a:ext cx="5166360" cy="1645920"/>
          </a:xfrm>
          <a:prstGeom prst="rect">
            <a:avLst/>
          </a:prstGeom>
          <a:noFill/>
          <a:ln/>
        </p:spPr>
        <p:txBody>
          <a:bodyPr wrap="square" rtlCol="0" anchor="t"/>
          <a:lstStyle/>
          <a:p>
            <a:pPr indent="0" marL="0">
              <a:buNone/>
            </a:pPr>
            <a:endParaRPr lang="en-US" sz="1100" dirty="0"/>
          </a:p>
        </p:txBody>
      </p:sp>
      <p:sp>
        <p:nvSpPr>
          <p:cNvPr id="28" name="Text 26"/>
          <p:cNvSpPr/>
          <p:nvPr/>
        </p:nvSpPr>
        <p:spPr>
          <a:xfrm>
            <a:off x="685800" y="4160520"/>
            <a:ext cx="5029200" cy="1828800"/>
          </a:xfrm>
          <a:prstGeom prst="rect">
            <a:avLst/>
          </a:prstGeom>
          <a:noFill/>
          <a:ln/>
        </p:spPr>
        <p:txBody>
          <a:bodyPr wrap="square" rtlCol="0" anchor="t"/>
          <a:lstStyle/>
          <a:p>
            <a:pPr indent="0" marL="0">
              <a:buNone/>
            </a:pPr>
            <a:r>
              <a:rPr lang="en-US" b="1" dirty="0">
                <a:solidFill>
                  <a:srgbClr val="E63946"/>
                </a:solidFill>
              </a:rPr>
              <a:t>▲ </a:t>
            </a:r>
            <a:pPr indent="0" marL="0">
              <a:buNone/>
            </a:pPr>
            <a:r>
              <a:rPr lang="en-US" sz="1000" dirty="0">
                <a:solidFill>
                  <a:srgbClr val="2A3A4A"/>
                </a:solidFill>
              </a:rPr>
              <a:t>Dependência de chaves IA pagas → fallback gracioso entre OpenAI/Anthropic/Gemini
</a:t>
            </a:r>
            <a:pPr indent="0" marL="0">
              <a:buNone/>
            </a:pPr>
            <a:r>
              <a:rPr lang="en-US" sz="1000" b="1" dirty="0">
                <a:solidFill>
                  <a:srgbClr val="E63946"/>
                </a:solidFill>
              </a:rPr>
              <a:t>▲ </a:t>
            </a:r>
            <a:pPr indent="0" marL="0">
              <a:buNone/>
            </a:pPr>
            <a:r>
              <a:rPr lang="en-US" sz="1000" dirty="0">
                <a:solidFill>
                  <a:srgbClr val="2A3A4A"/>
                </a:solidFill>
              </a:rPr>
              <a:t>Drift do modelo → re-treino mensal automatizado
</a:t>
            </a:r>
            <a:pPr indent="0" marL="0">
              <a:buNone/>
            </a:pPr>
            <a:r>
              <a:rPr lang="en-US" sz="1000" b="1" dirty="0">
                <a:solidFill>
                  <a:srgbClr val="E63946"/>
                </a:solidFill>
              </a:rPr>
              <a:t>▲ </a:t>
            </a:r>
            <a:pPr indent="0" marL="0">
              <a:buNone/>
            </a:pPr>
            <a:r>
              <a:rPr lang="en-US" sz="1000" dirty="0">
                <a:solidFill>
                  <a:srgbClr val="2A3A4A"/>
                </a:solidFill>
              </a:rPr>
              <a:t>Cliente sem e-mail → captura na UI no momento da venda
</a:t>
            </a:r>
            <a:pPr indent="0" marL="0">
              <a:buNone/>
            </a:pPr>
            <a:r>
              <a:rPr lang="en-US" sz="1000" b="1" dirty="0">
                <a:solidFill>
                  <a:srgbClr val="E63946"/>
                </a:solidFill>
              </a:rPr>
              <a:t>▲ </a:t>
            </a:r>
            <a:pPr indent="0" marL="0">
              <a:buNone/>
            </a:pPr>
            <a:r>
              <a:rPr lang="en-US" sz="1000" dirty="0">
                <a:solidFill>
                  <a:srgbClr val="2A3A4A"/>
                </a:solidFill>
              </a:rPr>
              <a:t>Custo de envio em escala → limite por tier + opt-in LGPD</a:t>
            </a:r>
            <a:endParaRPr lang="en-US" sz="1000" dirty="0"/>
          </a:p>
        </p:txBody>
      </p:sp>
      <p:sp>
        <p:nvSpPr>
          <p:cNvPr id="29" name="Shape 27"/>
          <p:cNvSpPr/>
          <p:nvPr/>
        </p:nvSpPr>
        <p:spPr>
          <a:xfrm>
            <a:off x="6217920" y="3749040"/>
            <a:ext cx="5486400" cy="2286000"/>
          </a:xfrm>
          <a:prstGeom prst="roundRect">
            <a:avLst>
              <a:gd name="adj" fmla="val 4000"/>
            </a:avLst>
          </a:prstGeom>
          <a:solidFill>
            <a:srgbClr val="F4F7FB"/>
          </a:solidFill>
          <a:ln w="6350">
            <a:solidFill>
              <a:srgbClr val="E2E8F0"/>
            </a:solidFill>
            <a:prstDash val="solid"/>
          </a:ln>
        </p:spPr>
      </p:sp>
      <p:sp>
        <p:nvSpPr>
          <p:cNvPr id="30" name="Shape 28"/>
          <p:cNvSpPr/>
          <p:nvPr/>
        </p:nvSpPr>
        <p:spPr>
          <a:xfrm>
            <a:off x="6217920" y="3749040"/>
            <a:ext cx="109728" cy="2286000"/>
          </a:xfrm>
          <a:prstGeom prst="rect">
            <a:avLst/>
          </a:prstGeom>
          <a:solidFill>
            <a:srgbClr val="00A896"/>
          </a:solidFill>
          <a:ln w="12700">
            <a:solidFill>
              <a:srgbClr val="00A896"/>
            </a:solidFill>
            <a:prstDash val="solid"/>
          </a:ln>
        </p:spPr>
      </p:sp>
      <p:sp>
        <p:nvSpPr>
          <p:cNvPr id="31" name="Text 29"/>
          <p:cNvSpPr/>
          <p:nvPr/>
        </p:nvSpPr>
        <p:spPr>
          <a:xfrm>
            <a:off x="6446520" y="3886200"/>
            <a:ext cx="5166360" cy="274320"/>
          </a:xfrm>
          <a:prstGeom prst="rect">
            <a:avLst/>
          </a:prstGeom>
          <a:noFill/>
          <a:ln/>
        </p:spPr>
        <p:txBody>
          <a:bodyPr wrap="square" rtlCol="0" anchor="ctr"/>
          <a:lstStyle/>
          <a:p>
            <a:pPr indent="0" marL="0">
              <a:buNone/>
            </a:pPr>
            <a:r>
              <a:rPr lang="en-US" sz="900" b="1" spc="400" kern="0" dirty="0">
                <a:solidFill>
                  <a:srgbClr val="4A5A6B"/>
                </a:solidFill>
                <a:latin typeface="Calibri" pitchFamily="34" charset="0"/>
                <a:ea typeface="Calibri" pitchFamily="34" charset="-122"/>
                <a:cs typeface="Calibri" pitchFamily="34" charset="-120"/>
              </a:rPr>
              <a:t>CRITÉRIOS DE QUALIDADE</a:t>
            </a:r>
            <a:endParaRPr lang="en-US" sz="900" dirty="0"/>
          </a:p>
        </p:txBody>
      </p:sp>
      <p:sp>
        <p:nvSpPr>
          <p:cNvPr id="32" name="Text 30"/>
          <p:cNvSpPr/>
          <p:nvPr/>
        </p:nvSpPr>
        <p:spPr>
          <a:xfrm>
            <a:off x="6446520" y="4160520"/>
            <a:ext cx="5166360" cy="1645920"/>
          </a:xfrm>
          <a:prstGeom prst="rect">
            <a:avLst/>
          </a:prstGeom>
          <a:noFill/>
          <a:ln/>
        </p:spPr>
        <p:txBody>
          <a:bodyPr wrap="square" rtlCol="0" anchor="t"/>
          <a:lstStyle/>
          <a:p>
            <a:pPr indent="0" marL="0">
              <a:buNone/>
            </a:pPr>
            <a:endParaRPr lang="en-US" sz="1100" dirty="0"/>
          </a:p>
        </p:txBody>
      </p:sp>
      <p:sp>
        <p:nvSpPr>
          <p:cNvPr id="33" name="Text 31"/>
          <p:cNvSpPr/>
          <p:nvPr/>
        </p:nvSpPr>
        <p:spPr>
          <a:xfrm>
            <a:off x="6446520" y="4160520"/>
            <a:ext cx="5029200" cy="1828800"/>
          </a:xfrm>
          <a:prstGeom prst="rect">
            <a:avLst/>
          </a:prstGeom>
          <a:noFill/>
          <a:ln/>
        </p:spPr>
        <p:txBody>
          <a:bodyPr wrap="square" rtlCol="0" anchor="t"/>
          <a:lstStyle/>
          <a:p>
            <a:pPr indent="0" marL="0">
              <a:buNone/>
            </a:pPr>
            <a:r>
              <a:rPr lang="en-US" b="1" dirty="0">
                <a:solidFill>
                  <a:srgbClr val="00A896"/>
                </a:solidFill>
              </a:rPr>
              <a:t>◆ </a:t>
            </a:r>
            <a:pPr indent="0" marL="0">
              <a:buNone/>
            </a:pPr>
            <a:r>
              <a:rPr lang="en-US" sz="1000" dirty="0">
                <a:solidFill>
                  <a:srgbClr val="2A3A4A"/>
                </a:solidFill>
              </a:rPr>
              <a:t>Performance: &lt;2s render · &lt;1s ranking 175k leads
</a:t>
            </a:r>
            <a:pPr indent="0" marL="0">
              <a:buNone/>
            </a:pPr>
            <a:r>
              <a:rPr lang="en-US" sz="1000" b="1" dirty="0">
                <a:solidFill>
                  <a:srgbClr val="00A896"/>
                </a:solidFill>
              </a:rPr>
              <a:t>◆ </a:t>
            </a:r>
            <a:pPr indent="0" marL="0">
              <a:buNone/>
            </a:pPr>
            <a:r>
              <a:rPr lang="en-US" sz="1000" dirty="0">
                <a:solidFill>
                  <a:srgbClr val="2A3A4A"/>
                </a:solidFill>
              </a:rPr>
              <a:t>Segurança: RBAC · RLS · HMAC · audit log; TLS e alertas pendentes no deploy
</a:t>
            </a:r>
            <a:pPr indent="0" marL="0">
              <a:buNone/>
            </a:pPr>
            <a:r>
              <a:rPr lang="en-US" sz="1000" b="1" dirty="0">
                <a:solidFill>
                  <a:srgbClr val="00A896"/>
                </a:solidFill>
              </a:rPr>
              <a:t>◆ </a:t>
            </a:r>
            <a:pPr indent="0" marL="0">
              <a:buNone/>
            </a:pPr>
            <a:r>
              <a:rPr lang="en-US" sz="1000" dirty="0">
                <a:solidFill>
                  <a:srgbClr val="2A3A4A"/>
                </a:solidFill>
              </a:rPr>
              <a:t>Usabilidade: ≤4 cliques pra ação · 100% PT-BR
</a:t>
            </a:r>
            <a:pPr indent="0" marL="0">
              <a:buNone/>
            </a:pPr>
            <a:r>
              <a:rPr lang="en-US" sz="1000" b="1" dirty="0">
                <a:solidFill>
                  <a:srgbClr val="00A896"/>
                </a:solidFill>
              </a:rPr>
              <a:t>◆ </a:t>
            </a:r>
            <a:pPr indent="0" marL="0">
              <a:buNone/>
            </a:pPr>
            <a:r>
              <a:rPr lang="en-US" sz="1000" dirty="0">
                <a:solidFill>
                  <a:srgbClr val="2A3A4A"/>
                </a:solidFill>
              </a:rPr>
              <a:t>Observabilidade: 100% das chamadas IA rastreadas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65760"/>
            <a:ext cx="3657600" cy="274320"/>
          </a:xfrm>
          <a:prstGeom prst="rect">
            <a:avLst/>
          </a:prstGeom>
          <a:noFill/>
          <a:ln/>
        </p:spPr>
        <p:txBody>
          <a:bodyPr wrap="square" rtlCol="0" anchor="ctr"/>
          <a:lstStyle/>
          <a:p>
            <a:pPr indent="0" marL="0">
              <a:buNone/>
            </a:pPr>
            <a:r>
              <a:rPr lang="en-US" sz="1000" b="1" spc="600" kern="0" dirty="0">
                <a:solidFill>
                  <a:srgbClr val="CADCFC"/>
                </a:solidFill>
                <a:latin typeface="Calibri" pitchFamily="34" charset="0"/>
                <a:ea typeface="Calibri" pitchFamily="34" charset="-122"/>
                <a:cs typeface="Calibri" pitchFamily="34" charset="-120"/>
              </a:rPr>
              <a:t>CONCLUSÃO · KPIS DE SUCESSO</a:t>
            </a:r>
            <a:endParaRPr lang="en-US" sz="1000" dirty="0"/>
          </a:p>
        </p:txBody>
      </p:sp>
      <p:sp>
        <p:nvSpPr>
          <p:cNvPr id="3" name="Text 1"/>
          <p:cNvSpPr/>
          <p:nvPr/>
        </p:nvSpPr>
        <p:spPr>
          <a:xfrm>
            <a:off x="457200" y="685800"/>
            <a:ext cx="10972800" cy="91440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Métricas que provam o impacto</a:t>
            </a:r>
            <a:endParaRPr lang="en-US" sz="3200" dirty="0"/>
          </a:p>
        </p:txBody>
      </p:sp>
      <p:sp>
        <p:nvSpPr>
          <p:cNvPr id="4" name="Shape 2"/>
          <p:cNvSpPr/>
          <p:nvPr/>
        </p:nvSpPr>
        <p:spPr>
          <a:xfrm>
            <a:off x="11155680" y="320040"/>
            <a:ext cx="594360" cy="411480"/>
          </a:xfrm>
          <a:prstGeom prst="roundRect">
            <a:avLst>
              <a:gd name="adj" fmla="val 17778"/>
            </a:avLst>
          </a:prstGeom>
          <a:solidFill>
            <a:srgbClr val="E63946"/>
          </a:solidFill>
          <a:ln w="12700">
            <a:solidFill>
              <a:srgbClr val="E63946"/>
            </a:solidFill>
            <a:prstDash val="solid"/>
          </a:ln>
        </p:spPr>
      </p:sp>
      <p:sp>
        <p:nvSpPr>
          <p:cNvPr id="5" name="Text 3"/>
          <p:cNvSpPr/>
          <p:nvPr/>
        </p:nvSpPr>
        <p:spPr>
          <a:xfrm>
            <a:off x="11155680" y="320040"/>
            <a:ext cx="59436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a:t>
            </a:r>
            <a:endParaRPr lang="en-US" sz="1400" dirty="0"/>
          </a:p>
        </p:txBody>
      </p:sp>
      <p:sp>
        <p:nvSpPr>
          <p:cNvPr id="6" name="Text 4"/>
          <p:cNvSpPr/>
          <p:nvPr/>
        </p:nvSpPr>
        <p:spPr>
          <a:xfrm>
            <a:off x="457200" y="6446520"/>
            <a:ext cx="11247120" cy="274320"/>
          </a:xfrm>
          <a:prstGeom prst="rect">
            <a:avLst/>
          </a:prstGeom>
          <a:noFill/>
          <a:ln/>
        </p:spPr>
        <p:txBody>
          <a:bodyPr wrap="square" rtlCol="0" anchor="ctr"/>
          <a:lstStyle/>
          <a:p>
            <a:pPr indent="0" marL="0">
              <a:buNone/>
            </a:pPr>
            <a:r>
              <a:rPr lang="en-US" sz="900" dirty="0">
                <a:solidFill>
                  <a:srgbClr val="8A9BAB"/>
                </a:solidFill>
                <a:latin typeface="Calibri" pitchFamily="34" charset="0"/>
                <a:ea typeface="Calibri" pitchFamily="34" charset="-122"/>
                <a:cs typeface="Calibri" pitchFamily="34" charset="-120"/>
              </a:rPr>
              <a:t>Faro AI · 14 / 14</a:t>
            </a:r>
            <a:endParaRPr lang="en-US" sz="900" dirty="0"/>
          </a:p>
        </p:txBody>
      </p:sp>
      <p:sp>
        <p:nvSpPr>
          <p:cNvPr id="7" name="Shape 5"/>
          <p:cNvSpPr/>
          <p:nvPr/>
        </p:nvSpPr>
        <p:spPr>
          <a:xfrm>
            <a:off x="457200" y="1828800"/>
            <a:ext cx="3657600" cy="1371600"/>
          </a:xfrm>
          <a:prstGeom prst="roundRect">
            <a:avLst>
              <a:gd name="adj" fmla="val 6667"/>
            </a:avLst>
          </a:prstGeom>
          <a:solidFill>
            <a:srgbClr val="152844"/>
          </a:solidFill>
          <a:ln w="12700">
            <a:solidFill>
              <a:srgbClr val="20354A"/>
            </a:solidFill>
            <a:prstDash val="solid"/>
          </a:ln>
        </p:spPr>
      </p:sp>
      <p:sp>
        <p:nvSpPr>
          <p:cNvPr id="8" name="Text 6"/>
          <p:cNvSpPr/>
          <p:nvPr/>
        </p:nvSpPr>
        <p:spPr>
          <a:xfrm>
            <a:off x="731520" y="1965960"/>
            <a:ext cx="3200400" cy="640080"/>
          </a:xfrm>
          <a:prstGeom prst="rect">
            <a:avLst/>
          </a:prstGeom>
          <a:noFill/>
          <a:ln/>
        </p:spPr>
        <p:txBody>
          <a:bodyPr wrap="square" rtlCol="0" anchor="ctr"/>
          <a:lstStyle/>
          <a:p>
            <a:pPr indent="0" marL="0">
              <a:buNone/>
            </a:pPr>
            <a:r>
              <a:rPr lang="en-US" sz="3200" b="1" dirty="0">
                <a:solidFill>
                  <a:srgbClr val="E63946"/>
                </a:solidFill>
                <a:latin typeface="Calibri" pitchFamily="34" charset="0"/>
                <a:ea typeface="Calibri" pitchFamily="34" charset="-122"/>
                <a:cs typeface="Calibri" pitchFamily="34" charset="-120"/>
              </a:rPr>
              <a:t>+3 pp</a:t>
            </a:r>
            <a:endParaRPr lang="en-US" sz="3200" dirty="0"/>
          </a:p>
        </p:txBody>
      </p:sp>
      <p:sp>
        <p:nvSpPr>
          <p:cNvPr id="9" name="Text 7"/>
          <p:cNvSpPr/>
          <p:nvPr/>
        </p:nvSpPr>
        <p:spPr>
          <a:xfrm>
            <a:off x="731520" y="2697480"/>
            <a:ext cx="3200400" cy="365760"/>
          </a:xfrm>
          <a:prstGeom prst="rect">
            <a:avLst/>
          </a:prstGeom>
          <a:noFill/>
          <a:ln/>
        </p:spPr>
        <p:txBody>
          <a:bodyPr wrap="square" rtlCol="0" anchor="ctr"/>
          <a:lstStyle/>
          <a:p>
            <a:pPr indent="0" marL="0">
              <a:buNone/>
            </a:pPr>
            <a:r>
              <a:rPr lang="en-US" sz="1000" b="1" spc="400" kern="0" dirty="0">
                <a:solidFill>
                  <a:srgbClr val="CADCFC"/>
                </a:solidFill>
                <a:latin typeface="Calibri" pitchFamily="34" charset="0"/>
                <a:ea typeface="Calibri" pitchFamily="34" charset="-122"/>
                <a:cs typeface="Calibri" pitchFamily="34" charset="-120"/>
              </a:rPr>
              <a:t>VIN SHARE EM 6 MESES</a:t>
            </a:r>
            <a:endParaRPr lang="en-US" sz="1000" dirty="0"/>
          </a:p>
        </p:txBody>
      </p:sp>
      <p:sp>
        <p:nvSpPr>
          <p:cNvPr id="10" name="Shape 8"/>
          <p:cNvSpPr/>
          <p:nvPr/>
        </p:nvSpPr>
        <p:spPr>
          <a:xfrm>
            <a:off x="4297680" y="1828800"/>
            <a:ext cx="3657600" cy="1371600"/>
          </a:xfrm>
          <a:prstGeom prst="roundRect">
            <a:avLst>
              <a:gd name="adj" fmla="val 6667"/>
            </a:avLst>
          </a:prstGeom>
          <a:solidFill>
            <a:srgbClr val="152844"/>
          </a:solidFill>
          <a:ln w="12700">
            <a:solidFill>
              <a:srgbClr val="20354A"/>
            </a:solidFill>
            <a:prstDash val="solid"/>
          </a:ln>
        </p:spPr>
      </p:sp>
      <p:sp>
        <p:nvSpPr>
          <p:cNvPr id="11" name="Text 9"/>
          <p:cNvSpPr/>
          <p:nvPr/>
        </p:nvSpPr>
        <p:spPr>
          <a:xfrm>
            <a:off x="4572000" y="1965960"/>
            <a:ext cx="3200400" cy="640080"/>
          </a:xfrm>
          <a:prstGeom prst="rect">
            <a:avLst/>
          </a:prstGeom>
          <a:noFill/>
          <a:ln/>
        </p:spPr>
        <p:txBody>
          <a:bodyPr wrap="square" rtlCol="0" anchor="ctr"/>
          <a:lstStyle/>
          <a:p>
            <a:pPr indent="0" marL="0">
              <a:buNone/>
            </a:pPr>
            <a:r>
              <a:rPr lang="en-US" sz="3200" b="1" dirty="0">
                <a:solidFill>
                  <a:srgbClr val="CADCFC"/>
                </a:solidFill>
                <a:latin typeface="Calibri" pitchFamily="34" charset="0"/>
                <a:ea typeface="Calibri" pitchFamily="34" charset="-122"/>
                <a:cs typeface="Calibri" pitchFamily="34" charset="-120"/>
              </a:rPr>
              <a:t>&gt;15%</a:t>
            </a:r>
            <a:endParaRPr lang="en-US" sz="3200" dirty="0"/>
          </a:p>
        </p:txBody>
      </p:sp>
      <p:sp>
        <p:nvSpPr>
          <p:cNvPr id="12" name="Text 10"/>
          <p:cNvSpPr/>
          <p:nvPr/>
        </p:nvSpPr>
        <p:spPr>
          <a:xfrm>
            <a:off x="4572000" y="2697480"/>
            <a:ext cx="3200400" cy="365760"/>
          </a:xfrm>
          <a:prstGeom prst="rect">
            <a:avLst/>
          </a:prstGeom>
          <a:noFill/>
          <a:ln/>
        </p:spPr>
        <p:txBody>
          <a:bodyPr wrap="square" rtlCol="0" anchor="ctr"/>
          <a:lstStyle/>
          <a:p>
            <a:pPr indent="0" marL="0">
              <a:buNone/>
            </a:pPr>
            <a:r>
              <a:rPr lang="en-US" sz="1000" b="1" spc="400" kern="0" dirty="0">
                <a:solidFill>
                  <a:srgbClr val="CADCFC"/>
                </a:solidFill>
                <a:latin typeface="Calibri" pitchFamily="34" charset="0"/>
                <a:ea typeface="Calibri" pitchFamily="34" charset="-122"/>
                <a:cs typeface="Calibri" pitchFamily="34" charset="-120"/>
              </a:rPr>
              <a:t>CONVERSÃO LEAD → REVISÃO</a:t>
            </a:r>
            <a:endParaRPr lang="en-US" sz="1000" dirty="0"/>
          </a:p>
        </p:txBody>
      </p:sp>
      <p:sp>
        <p:nvSpPr>
          <p:cNvPr id="13" name="Shape 11"/>
          <p:cNvSpPr/>
          <p:nvPr/>
        </p:nvSpPr>
        <p:spPr>
          <a:xfrm>
            <a:off x="8138160" y="1828800"/>
            <a:ext cx="3657600" cy="1371600"/>
          </a:xfrm>
          <a:prstGeom prst="roundRect">
            <a:avLst>
              <a:gd name="adj" fmla="val 6667"/>
            </a:avLst>
          </a:prstGeom>
          <a:solidFill>
            <a:srgbClr val="152844"/>
          </a:solidFill>
          <a:ln w="12700">
            <a:solidFill>
              <a:srgbClr val="20354A"/>
            </a:solidFill>
            <a:prstDash val="solid"/>
          </a:ln>
        </p:spPr>
      </p:sp>
      <p:sp>
        <p:nvSpPr>
          <p:cNvPr id="14" name="Text 12"/>
          <p:cNvSpPr/>
          <p:nvPr/>
        </p:nvSpPr>
        <p:spPr>
          <a:xfrm>
            <a:off x="8412480" y="1965960"/>
            <a:ext cx="3200400" cy="640080"/>
          </a:xfrm>
          <a:prstGeom prst="rect">
            <a:avLst/>
          </a:prstGeom>
          <a:noFill/>
          <a:ln/>
        </p:spPr>
        <p:txBody>
          <a:bodyPr wrap="square" rtlCol="0" anchor="ctr"/>
          <a:lstStyle/>
          <a:p>
            <a:pPr indent="0" marL="0">
              <a:buNone/>
            </a:pPr>
            <a:r>
              <a:rPr lang="en-US" sz="3200" b="1" dirty="0">
                <a:solidFill>
                  <a:srgbClr val="CADCFC"/>
                </a:solidFill>
                <a:latin typeface="Calibri" pitchFamily="34" charset="0"/>
                <a:ea typeface="Calibri" pitchFamily="34" charset="-122"/>
                <a:cs typeface="Calibri" pitchFamily="34" charset="-120"/>
              </a:rPr>
              <a:t>&lt;500ms</a:t>
            </a:r>
            <a:endParaRPr lang="en-US" sz="3200" dirty="0"/>
          </a:p>
        </p:txBody>
      </p:sp>
      <p:sp>
        <p:nvSpPr>
          <p:cNvPr id="15" name="Text 13"/>
          <p:cNvSpPr/>
          <p:nvPr/>
        </p:nvSpPr>
        <p:spPr>
          <a:xfrm>
            <a:off x="8412480" y="2697480"/>
            <a:ext cx="3200400" cy="365760"/>
          </a:xfrm>
          <a:prstGeom prst="rect">
            <a:avLst/>
          </a:prstGeom>
          <a:noFill/>
          <a:ln/>
        </p:spPr>
        <p:txBody>
          <a:bodyPr wrap="square" rtlCol="0" anchor="ctr"/>
          <a:lstStyle/>
          <a:p>
            <a:pPr indent="0" marL="0">
              <a:buNone/>
            </a:pPr>
            <a:r>
              <a:rPr lang="en-US" sz="1000" b="1" spc="400" kern="0" dirty="0">
                <a:solidFill>
                  <a:srgbClr val="CADCFC"/>
                </a:solidFill>
                <a:latin typeface="Calibri" pitchFamily="34" charset="0"/>
                <a:ea typeface="Calibri" pitchFamily="34" charset="-122"/>
                <a:cs typeface="Calibri" pitchFamily="34" charset="-120"/>
              </a:rPr>
              <a:t>LATÊNCIA API p95</a:t>
            </a:r>
            <a:endParaRPr lang="en-US" sz="1000" dirty="0"/>
          </a:p>
        </p:txBody>
      </p:sp>
      <p:sp>
        <p:nvSpPr>
          <p:cNvPr id="16" name="Shape 14"/>
          <p:cNvSpPr/>
          <p:nvPr/>
        </p:nvSpPr>
        <p:spPr>
          <a:xfrm>
            <a:off x="457200" y="3383280"/>
            <a:ext cx="3657600" cy="1371600"/>
          </a:xfrm>
          <a:prstGeom prst="roundRect">
            <a:avLst>
              <a:gd name="adj" fmla="val 6667"/>
            </a:avLst>
          </a:prstGeom>
          <a:solidFill>
            <a:srgbClr val="152844"/>
          </a:solidFill>
          <a:ln w="12700">
            <a:solidFill>
              <a:srgbClr val="20354A"/>
            </a:solidFill>
            <a:prstDash val="solid"/>
          </a:ln>
        </p:spPr>
      </p:sp>
      <p:sp>
        <p:nvSpPr>
          <p:cNvPr id="17" name="Text 15"/>
          <p:cNvSpPr/>
          <p:nvPr/>
        </p:nvSpPr>
        <p:spPr>
          <a:xfrm>
            <a:off x="731520" y="3520440"/>
            <a:ext cx="3200400" cy="640080"/>
          </a:xfrm>
          <a:prstGeom prst="rect">
            <a:avLst/>
          </a:prstGeom>
          <a:noFill/>
          <a:ln/>
        </p:spPr>
        <p:txBody>
          <a:bodyPr wrap="square" rtlCol="0" anchor="ctr"/>
          <a:lstStyle/>
          <a:p>
            <a:pPr indent="0" marL="0">
              <a:buNone/>
            </a:pPr>
            <a:r>
              <a:rPr lang="en-US" sz="3200" b="1" dirty="0">
                <a:solidFill>
                  <a:srgbClr val="00A896"/>
                </a:solidFill>
                <a:latin typeface="Calibri" pitchFamily="34" charset="0"/>
                <a:ea typeface="Calibri" pitchFamily="34" charset="-122"/>
                <a:cs typeface="Calibri" pitchFamily="34" charset="-120"/>
              </a:rPr>
              <a:t>99,5%</a:t>
            </a:r>
            <a:endParaRPr lang="en-US" sz="3200" dirty="0"/>
          </a:p>
        </p:txBody>
      </p:sp>
      <p:sp>
        <p:nvSpPr>
          <p:cNvPr id="18" name="Text 16"/>
          <p:cNvSpPr/>
          <p:nvPr/>
        </p:nvSpPr>
        <p:spPr>
          <a:xfrm>
            <a:off x="731520" y="4251960"/>
            <a:ext cx="3200400" cy="365760"/>
          </a:xfrm>
          <a:prstGeom prst="rect">
            <a:avLst/>
          </a:prstGeom>
          <a:noFill/>
          <a:ln/>
        </p:spPr>
        <p:txBody>
          <a:bodyPr wrap="square" rtlCol="0" anchor="ctr"/>
          <a:lstStyle/>
          <a:p>
            <a:pPr indent="0" marL="0">
              <a:buNone/>
            </a:pPr>
            <a:r>
              <a:rPr lang="en-US" sz="1000" b="1" spc="400" kern="0" dirty="0">
                <a:solidFill>
                  <a:srgbClr val="CADCFC"/>
                </a:solidFill>
                <a:latin typeface="Calibri" pitchFamily="34" charset="0"/>
                <a:ea typeface="Calibri" pitchFamily="34" charset="-122"/>
                <a:cs typeface="Calibri" pitchFamily="34" charset="-120"/>
              </a:rPr>
              <a:t>DISPONIBILIDADE</a:t>
            </a:r>
            <a:endParaRPr lang="en-US" sz="1000" dirty="0"/>
          </a:p>
        </p:txBody>
      </p:sp>
      <p:sp>
        <p:nvSpPr>
          <p:cNvPr id="19" name="Shape 17"/>
          <p:cNvSpPr/>
          <p:nvPr/>
        </p:nvSpPr>
        <p:spPr>
          <a:xfrm>
            <a:off x="4297680" y="3383280"/>
            <a:ext cx="3657600" cy="1371600"/>
          </a:xfrm>
          <a:prstGeom prst="roundRect">
            <a:avLst>
              <a:gd name="adj" fmla="val 6667"/>
            </a:avLst>
          </a:prstGeom>
          <a:solidFill>
            <a:srgbClr val="152844"/>
          </a:solidFill>
          <a:ln w="12700">
            <a:solidFill>
              <a:srgbClr val="20354A"/>
            </a:solidFill>
            <a:prstDash val="solid"/>
          </a:ln>
        </p:spPr>
      </p:sp>
      <p:sp>
        <p:nvSpPr>
          <p:cNvPr id="20" name="Text 18"/>
          <p:cNvSpPr/>
          <p:nvPr/>
        </p:nvSpPr>
        <p:spPr>
          <a:xfrm>
            <a:off x="4572000" y="3520440"/>
            <a:ext cx="3200400" cy="640080"/>
          </a:xfrm>
          <a:prstGeom prst="rect">
            <a:avLst/>
          </a:prstGeom>
          <a:noFill/>
          <a:ln/>
        </p:spPr>
        <p:txBody>
          <a:bodyPr wrap="square" rtlCol="0" anchor="ctr"/>
          <a:lstStyle/>
          <a:p>
            <a:pPr indent="0" marL="0">
              <a:buNone/>
            </a:pPr>
            <a:r>
              <a:rPr lang="en-US" sz="3200" b="1" dirty="0">
                <a:solidFill>
                  <a:srgbClr val="CADCFC"/>
                </a:solidFill>
                <a:latin typeface="Calibri" pitchFamily="34" charset="0"/>
                <a:ea typeface="Calibri" pitchFamily="34" charset="-122"/>
                <a:cs typeface="Calibri" pitchFamily="34" charset="-120"/>
              </a:rPr>
              <a:t>&gt;70</a:t>
            </a:r>
            <a:endParaRPr lang="en-US" sz="3200" dirty="0"/>
          </a:p>
        </p:txBody>
      </p:sp>
      <p:sp>
        <p:nvSpPr>
          <p:cNvPr id="21" name="Text 19"/>
          <p:cNvSpPr/>
          <p:nvPr/>
        </p:nvSpPr>
        <p:spPr>
          <a:xfrm>
            <a:off x="4572000" y="4251960"/>
            <a:ext cx="3200400" cy="365760"/>
          </a:xfrm>
          <a:prstGeom prst="rect">
            <a:avLst/>
          </a:prstGeom>
          <a:noFill/>
          <a:ln/>
        </p:spPr>
        <p:txBody>
          <a:bodyPr wrap="square" rtlCol="0" anchor="ctr"/>
          <a:lstStyle/>
          <a:p>
            <a:pPr indent="0" marL="0">
              <a:buNone/>
            </a:pPr>
            <a:r>
              <a:rPr lang="en-US" sz="1000" b="1" spc="400" kern="0" dirty="0">
                <a:solidFill>
                  <a:srgbClr val="CADCFC"/>
                </a:solidFill>
                <a:latin typeface="Calibri" pitchFamily="34" charset="0"/>
                <a:ea typeface="Calibri" pitchFamily="34" charset="-122"/>
                <a:cs typeface="Calibri" pitchFamily="34" charset="-120"/>
              </a:rPr>
              <a:t>NPS DO VENDEDOR</a:t>
            </a:r>
            <a:endParaRPr lang="en-US" sz="1000" dirty="0"/>
          </a:p>
        </p:txBody>
      </p:sp>
      <p:sp>
        <p:nvSpPr>
          <p:cNvPr id="22" name="Shape 20"/>
          <p:cNvSpPr/>
          <p:nvPr/>
        </p:nvSpPr>
        <p:spPr>
          <a:xfrm>
            <a:off x="8138160" y="3383280"/>
            <a:ext cx="3657600" cy="1371600"/>
          </a:xfrm>
          <a:prstGeom prst="roundRect">
            <a:avLst>
              <a:gd name="adj" fmla="val 6667"/>
            </a:avLst>
          </a:prstGeom>
          <a:solidFill>
            <a:srgbClr val="152844"/>
          </a:solidFill>
          <a:ln w="12700">
            <a:solidFill>
              <a:srgbClr val="20354A"/>
            </a:solidFill>
            <a:prstDash val="solid"/>
          </a:ln>
        </p:spPr>
      </p:sp>
      <p:sp>
        <p:nvSpPr>
          <p:cNvPr id="23" name="Text 21"/>
          <p:cNvSpPr/>
          <p:nvPr/>
        </p:nvSpPr>
        <p:spPr>
          <a:xfrm>
            <a:off x="8412480" y="3520440"/>
            <a:ext cx="3200400" cy="640080"/>
          </a:xfrm>
          <a:prstGeom prst="rect">
            <a:avLst/>
          </a:prstGeom>
          <a:noFill/>
          <a:ln/>
        </p:spPr>
        <p:txBody>
          <a:bodyPr wrap="square" rtlCol="0" anchor="ctr"/>
          <a:lstStyle/>
          <a:p>
            <a:pPr indent="0" marL="0">
              <a:buNone/>
            </a:pPr>
            <a:r>
              <a:rPr lang="en-US" sz="3200" b="1" dirty="0">
                <a:solidFill>
                  <a:srgbClr val="E63946"/>
                </a:solidFill>
                <a:latin typeface="Calibri" pitchFamily="34" charset="0"/>
                <a:ea typeface="Calibri" pitchFamily="34" charset="-122"/>
                <a:cs typeface="Calibri" pitchFamily="34" charset="-120"/>
              </a:rPr>
              <a:t>&lt; US$0,05</a:t>
            </a:r>
            <a:endParaRPr lang="en-US" sz="3200" dirty="0"/>
          </a:p>
        </p:txBody>
      </p:sp>
      <p:sp>
        <p:nvSpPr>
          <p:cNvPr id="24" name="Text 22"/>
          <p:cNvSpPr/>
          <p:nvPr/>
        </p:nvSpPr>
        <p:spPr>
          <a:xfrm>
            <a:off x="8412480" y="4251960"/>
            <a:ext cx="3200400" cy="365760"/>
          </a:xfrm>
          <a:prstGeom prst="rect">
            <a:avLst/>
          </a:prstGeom>
          <a:noFill/>
          <a:ln/>
        </p:spPr>
        <p:txBody>
          <a:bodyPr wrap="square" rtlCol="0" anchor="ctr"/>
          <a:lstStyle/>
          <a:p>
            <a:pPr indent="0" marL="0">
              <a:buNone/>
            </a:pPr>
            <a:r>
              <a:rPr lang="en-US" sz="1000" b="1" spc="400" kern="0" dirty="0">
                <a:solidFill>
                  <a:srgbClr val="CADCFC"/>
                </a:solidFill>
                <a:latin typeface="Calibri" pitchFamily="34" charset="0"/>
                <a:ea typeface="Calibri" pitchFamily="34" charset="-122"/>
                <a:cs typeface="Calibri" pitchFamily="34" charset="-120"/>
              </a:rPr>
              <a:t>CUSTO MÉDIO CLASSIFICAÇÃO IA</a:t>
            </a:r>
            <a:endParaRPr lang="en-US" sz="1000" dirty="0"/>
          </a:p>
        </p:txBody>
      </p:sp>
      <p:sp>
        <p:nvSpPr>
          <p:cNvPr id="25" name="Text 23"/>
          <p:cNvSpPr/>
          <p:nvPr/>
        </p:nvSpPr>
        <p:spPr>
          <a:xfrm>
            <a:off x="457200" y="5303520"/>
            <a:ext cx="11247120" cy="640080"/>
          </a:xfrm>
          <a:prstGeom prst="rect">
            <a:avLst/>
          </a:prstGeom>
          <a:noFill/>
          <a:ln/>
        </p:spPr>
        <p:txBody>
          <a:bodyPr wrap="square" rtlCol="0" anchor="ctr"/>
          <a:lstStyle/>
          <a:p>
            <a:pPr algn="ctr" indent="0" marL="0">
              <a:buNone/>
            </a:pPr>
            <a:r>
              <a:rPr lang="en-US" sz="3000" b="1" i="1" dirty="0">
                <a:solidFill>
                  <a:srgbClr val="FFFFFF"/>
                </a:solidFill>
                <a:latin typeface="Calibri" pitchFamily="34" charset="0"/>
                <a:ea typeface="Calibri" pitchFamily="34" charset="-122"/>
                <a:cs typeface="Calibri" pitchFamily="34" charset="-120"/>
              </a:rPr>
              <a:t>AI que tem faro pro cliente certo.</a:t>
            </a:r>
            <a:endParaRPr lang="en-US" sz="3000" dirty="0"/>
          </a:p>
        </p:txBody>
      </p:sp>
      <p:sp>
        <p:nvSpPr>
          <p:cNvPr id="26" name="Text 24"/>
          <p:cNvSpPr/>
          <p:nvPr/>
        </p:nvSpPr>
        <p:spPr>
          <a:xfrm>
            <a:off x="457200" y="6035040"/>
            <a:ext cx="11247120" cy="27432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Faro AI · Ford × FIAP Challenge 2026 · 24/05/2026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Faro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Faro AI — Ford × FIAP Challenge 2026</dc:title>
  <dc:subject>PptxGenJS Presentation</dc:subject>
  <dc:creator>Equipe Faro AI</dc:creator>
  <cp:lastModifiedBy>Equipe Faro AI</cp:lastModifiedBy>
  <cp:revision>1</cp:revision>
  <dcterms:created xsi:type="dcterms:W3CDTF">2026-09-27T03:33:48Z</dcterms:created>
  <dcterms:modified xsi:type="dcterms:W3CDTF">2026-09-27T03:33:48Z</dcterms:modified>
</cp:coreProperties>
</file>